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808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548640" lvl="0" indent="-41148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280" lvl="1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645920" lvl="2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743200" lvl="4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840" lvl="5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480" lvl="6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9120" lvl="7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760" lvl="8" indent="-41148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0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7232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/>
        </p:nvSpPr>
        <p:spPr>
          <a:xfrm>
            <a:off x="3992395" y="1535780"/>
            <a:ext cx="8229600" cy="121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" algn="ctr">
              <a:buClr>
                <a:srgbClr val="000000"/>
              </a:buClr>
              <a:buSzPts val="3800"/>
            </a:pPr>
            <a:endParaRPr sz="4560" b="1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1435287" y="5476977"/>
            <a:ext cx="6400800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">
              <a:buClr>
                <a:srgbClr val="000000"/>
              </a:buClr>
              <a:buSzPts val="2800"/>
            </a:pPr>
            <a:r>
              <a:rPr lang="es-ES" sz="3360" b="1" dirty="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Docente:</a:t>
            </a:r>
            <a:endParaRPr sz="16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">
              <a:buClr>
                <a:srgbClr val="000000"/>
              </a:buClr>
              <a:buSzPts val="2800"/>
            </a:pPr>
            <a:r>
              <a:rPr lang="es-ES" sz="336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Iván </a:t>
            </a:r>
            <a:r>
              <a:rPr lang="es-ES" sz="3360" b="1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Petrlik</a:t>
            </a:r>
            <a:r>
              <a:rPr lang="es-ES" sz="336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Azabache</a:t>
            </a:r>
            <a:endParaRPr sz="168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">
              <a:buClr>
                <a:srgbClr val="000000"/>
              </a:buClr>
              <a:buSzPts val="1800"/>
            </a:pPr>
            <a:r>
              <a:rPr lang="es-ES" sz="216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E-mail: </a:t>
            </a:r>
            <a:r>
              <a:rPr lang="es-ES" sz="2160" u="sng" dirty="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ipetrlika@unmsm.edu.pe</a:t>
            </a:r>
            <a:endParaRPr sz="2160" b="1" u="sng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" name="Google Shape;84;p12"/>
          <p:cNvSpPr/>
          <p:nvPr/>
        </p:nvSpPr>
        <p:spPr>
          <a:xfrm>
            <a:off x="5001758" y="4142651"/>
            <a:ext cx="4626883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15240" algn="ctr">
              <a:buClr>
                <a:srgbClr val="000000"/>
              </a:buClr>
              <a:buSzPts val="2800"/>
            </a:pPr>
            <a:r>
              <a:rPr lang="es-ES" sz="3360" b="1" dirty="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Sesión 03</a:t>
            </a:r>
            <a:endParaRPr sz="3360" b="1" dirty="0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886" y="1419240"/>
            <a:ext cx="1937766" cy="227152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/>
        </p:nvSpPr>
        <p:spPr>
          <a:xfrm>
            <a:off x="4206674" y="2555001"/>
            <a:ext cx="6719454" cy="147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15240" algn="ctr"/>
            <a:r>
              <a:rPr lang="es-ES" sz="336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TALLER DE CONSTRUCCIÓN DE SOFTWARE MÓVIL</a:t>
            </a:r>
            <a:endParaRPr sz="336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" algn="ctr">
              <a:buClr>
                <a:srgbClr val="000000"/>
              </a:buClr>
              <a:buSzPts val="2400"/>
            </a:pPr>
            <a:endParaRPr sz="216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445;p47">
            <a:extLst>
              <a:ext uri="{FF2B5EF4-FFF2-40B4-BE49-F238E27FC236}">
                <a16:creationId xmlns:a16="http://schemas.microsoft.com/office/drawing/2014/main" id="{B2CE8C1E-7305-7D63-7108-5952AE0AA3DB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3" name="Google Shape;446;p47">
              <a:extLst>
                <a:ext uri="{FF2B5EF4-FFF2-40B4-BE49-F238E27FC236}">
                  <a16:creationId xmlns:a16="http://schemas.microsoft.com/office/drawing/2014/main" id="{8B79EFD4-D37E-8928-30E8-B2075AA82F2A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447;p47">
              <a:extLst>
                <a:ext uri="{FF2B5EF4-FFF2-40B4-BE49-F238E27FC236}">
                  <a16:creationId xmlns:a16="http://schemas.microsoft.com/office/drawing/2014/main" id="{8EDD1A3F-41E5-6718-E752-31B8F59468CF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" name="Google Shape;448;p47">
              <a:extLst>
                <a:ext uri="{FF2B5EF4-FFF2-40B4-BE49-F238E27FC236}">
                  <a16:creationId xmlns:a16="http://schemas.microsoft.com/office/drawing/2014/main" id="{BC56310D-F865-AE13-460A-429690921EB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Google Shape;449;p47">
            <a:extLst>
              <a:ext uri="{FF2B5EF4-FFF2-40B4-BE49-F238E27FC236}">
                <a16:creationId xmlns:a16="http://schemas.microsoft.com/office/drawing/2014/main" id="{DAD2BBC5-1985-F4C0-A0E5-15D73CDE9B64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Planificación de Proyectos de Software Móvil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Framework Scrum: de la visión al sprint</a:t>
            </a:r>
            <a:endParaRPr lang="en-US" sz="1750" dirty="0"/>
          </a:p>
        </p:txBody>
      </p:sp>
      <p:grpSp>
        <p:nvGrpSpPr>
          <p:cNvPr id="5" name="Google Shape;445;p47">
            <a:extLst>
              <a:ext uri="{FF2B5EF4-FFF2-40B4-BE49-F238E27FC236}">
                <a16:creationId xmlns:a16="http://schemas.microsoft.com/office/drawing/2014/main" id="{718C9F63-0098-E969-3DAE-562B1F81052A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6" name="Google Shape;446;p47">
              <a:extLst>
                <a:ext uri="{FF2B5EF4-FFF2-40B4-BE49-F238E27FC236}">
                  <a16:creationId xmlns:a16="http://schemas.microsoft.com/office/drawing/2014/main" id="{0C354D75-7ED2-DC6B-7921-F780933C9389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447;p47">
              <a:extLst>
                <a:ext uri="{FF2B5EF4-FFF2-40B4-BE49-F238E27FC236}">
                  <a16:creationId xmlns:a16="http://schemas.microsoft.com/office/drawing/2014/main" id="{B755DAA9-3C3D-8A0E-04E2-FD81371B7C0F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" name="Google Shape;448;p47">
              <a:extLst>
                <a:ext uri="{FF2B5EF4-FFF2-40B4-BE49-F238E27FC236}">
                  <a16:creationId xmlns:a16="http://schemas.microsoft.com/office/drawing/2014/main" id="{6F42ACA0-C077-70F5-C010-98707560332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449;p47">
            <a:extLst>
              <a:ext uri="{FF2B5EF4-FFF2-40B4-BE49-F238E27FC236}">
                <a16:creationId xmlns:a16="http://schemas.microsoft.com/office/drawing/2014/main" id="{E4A48E80-A3D3-29BB-2EF2-E2EB451B95B4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9419"/>
            <a:ext cx="9586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Organización de Proyectos Móviles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9819"/>
            <a:ext cx="4205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 planificación de software móvil transforma una idea en objetivos, funcionalidades, recursos, tiempos y responsabilidades. Scrum, como metodología ágil, entrega valor incremental mediante sprints de 2-4 semanas.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04209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 entornos móviles cambiantes, esta planificación considera múltiples dispositivos, resoluciones, sistemas operativos, pruebas y mantenimiento continuo.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  <p:grpSp>
        <p:nvGrpSpPr>
          <p:cNvPr id="6" name="Google Shape;445;p47">
            <a:extLst>
              <a:ext uri="{FF2B5EF4-FFF2-40B4-BE49-F238E27FC236}">
                <a16:creationId xmlns:a16="http://schemas.microsoft.com/office/drawing/2014/main" id="{93C9F6DA-7B16-6F10-30EF-34C7206D3E9D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7" name="Google Shape;446;p47">
              <a:extLst>
                <a:ext uri="{FF2B5EF4-FFF2-40B4-BE49-F238E27FC236}">
                  <a16:creationId xmlns:a16="http://schemas.microsoft.com/office/drawing/2014/main" id="{C426E3D0-C06C-C508-C4E1-74E3F4875B32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47;p47">
              <a:extLst>
                <a:ext uri="{FF2B5EF4-FFF2-40B4-BE49-F238E27FC236}">
                  <a16:creationId xmlns:a16="http://schemas.microsoft.com/office/drawing/2014/main" id="{CC5CF3B1-9EC8-0A56-317D-8811040E8090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" name="Google Shape;448;p47">
              <a:extLst>
                <a:ext uri="{FF2B5EF4-FFF2-40B4-BE49-F238E27FC236}">
                  <a16:creationId xmlns:a16="http://schemas.microsoft.com/office/drawing/2014/main" id="{3EF2F1C8-6892-5DB5-30FF-D99F2EC8D18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449;p47">
            <a:extLst>
              <a:ext uri="{FF2B5EF4-FFF2-40B4-BE49-F238E27FC236}">
                <a16:creationId xmlns:a16="http://schemas.microsoft.com/office/drawing/2014/main" id="{9AB74ED8-AB49-3E9E-9FF8-87F0BAC5EB92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7FC5898-E06F-F466-C98B-BB2F28FD64A9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6958"/>
            <a:ext cx="122993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Scrum: Entrega Incremental y Adaptabilidad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93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94409"/>
            <a:ext cx="6407944" cy="3048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68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Visión del Producto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591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Definición de objetivos y formación del equipo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5393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94409"/>
            <a:ext cx="6408063" cy="3048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068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Backlog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591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Listado de características deseadas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3188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73918"/>
            <a:ext cx="6407944" cy="3048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848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Sprint Planning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33864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Selección de elementos priorizados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31887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673918"/>
            <a:ext cx="6408063" cy="3048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848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Revisión y Ajuste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33864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Feedback y adaptación continua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1267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Scrum favorece la adaptabilidad y revisión continua del trabajo, permitiendo ajustar el rumbo según aprendizaje y feedback obtenido.</a:t>
            </a:r>
            <a:endParaRPr lang="en-US" sz="1750" dirty="0"/>
          </a:p>
        </p:txBody>
      </p:sp>
      <p:grpSp>
        <p:nvGrpSpPr>
          <p:cNvPr id="20" name="Google Shape;445;p47">
            <a:extLst>
              <a:ext uri="{FF2B5EF4-FFF2-40B4-BE49-F238E27FC236}">
                <a16:creationId xmlns:a16="http://schemas.microsoft.com/office/drawing/2014/main" id="{9910F055-1649-0333-196A-8F2AD9AFD8C4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21" name="Google Shape;446;p47">
              <a:extLst>
                <a:ext uri="{FF2B5EF4-FFF2-40B4-BE49-F238E27FC236}">
                  <a16:creationId xmlns:a16="http://schemas.microsoft.com/office/drawing/2014/main" id="{D483512B-B10E-8A90-AD0A-F8EB3F6C3ECD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447;p47">
              <a:extLst>
                <a:ext uri="{FF2B5EF4-FFF2-40B4-BE49-F238E27FC236}">
                  <a16:creationId xmlns:a16="http://schemas.microsoft.com/office/drawing/2014/main" id="{82AA43CD-0667-DCC8-333E-3625BB8C101E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" name="Google Shape;448;p47">
              <a:extLst>
                <a:ext uri="{FF2B5EF4-FFF2-40B4-BE49-F238E27FC236}">
                  <a16:creationId xmlns:a16="http://schemas.microsoft.com/office/drawing/2014/main" id="{2282ADC3-8D89-F682-3146-454EABE08EB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449;p47">
            <a:extLst>
              <a:ext uri="{FF2B5EF4-FFF2-40B4-BE49-F238E27FC236}">
                <a16:creationId xmlns:a16="http://schemas.microsoft.com/office/drawing/2014/main" id="{71ECA6E0-53E5-3157-F79C-C078B001D6C4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B06AE18-5D62-0DEA-EBD4-9CDA35451A88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0784" y="1018022"/>
            <a:ext cx="7191256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Planificación de Alto Nivel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0784" y="1664613"/>
            <a:ext cx="3676888" cy="2552938"/>
          </a:xfrm>
          <a:prstGeom prst="roundRect">
            <a:avLst>
              <a:gd name="adj" fmla="val 3687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502479" y="1896308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E6DED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7383" y="2081093"/>
            <a:ext cx="302538" cy="3025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2479" y="2790111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Definir Objetivo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02479" y="3273147"/>
            <a:ext cx="3213497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Qué se construirá y para quién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69128" y="1664613"/>
            <a:ext cx="3676888" cy="2552938"/>
          </a:xfrm>
          <a:prstGeom prst="roundRect">
            <a:avLst>
              <a:gd name="adj" fmla="val 3687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0400824" y="1896308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E6DED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5728" y="2081093"/>
            <a:ext cx="302538" cy="3025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00824" y="2790111"/>
            <a:ext cx="2968466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Reunión con Usuarios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400824" y="3273147"/>
            <a:ext cx="3213497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Funcionalidades esperadas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70784" y="4439007"/>
            <a:ext cx="7575233" cy="2196584"/>
          </a:xfrm>
          <a:prstGeom prst="roundRect">
            <a:avLst>
              <a:gd name="adj" fmla="val 4286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502479" y="4670703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E6DED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7383" y="4855488"/>
            <a:ext cx="302538" cy="3025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02479" y="556450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Formar Equipo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502479" y="6047542"/>
            <a:ext cx="7111841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Roles y responsabilidades Scrum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270784" y="6884670"/>
            <a:ext cx="7575233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Establece el marco estratégico: visión, objetivos, funcionalidades generales y organización del trabajo.</a:t>
            </a:r>
            <a:endParaRPr lang="en-US" sz="1750" dirty="0"/>
          </a:p>
        </p:txBody>
      </p:sp>
      <p:grpSp>
        <p:nvGrpSpPr>
          <p:cNvPr id="25" name="Google Shape;445;p47">
            <a:extLst>
              <a:ext uri="{FF2B5EF4-FFF2-40B4-BE49-F238E27FC236}">
                <a16:creationId xmlns:a16="http://schemas.microsoft.com/office/drawing/2014/main" id="{1F2C0EAC-33A2-D6E8-7A37-67D9149D0BC9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26" name="Google Shape;446;p47">
              <a:extLst>
                <a:ext uri="{FF2B5EF4-FFF2-40B4-BE49-F238E27FC236}">
                  <a16:creationId xmlns:a16="http://schemas.microsoft.com/office/drawing/2014/main" id="{D1D3F602-72FB-1F9B-D732-5BC450BBF809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447;p47">
              <a:extLst>
                <a:ext uri="{FF2B5EF4-FFF2-40B4-BE49-F238E27FC236}">
                  <a16:creationId xmlns:a16="http://schemas.microsoft.com/office/drawing/2014/main" id="{E2B6D678-71CA-B62D-764F-657362270B2F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" name="Google Shape;448;p47">
              <a:extLst>
                <a:ext uri="{FF2B5EF4-FFF2-40B4-BE49-F238E27FC236}">
                  <a16:creationId xmlns:a16="http://schemas.microsoft.com/office/drawing/2014/main" id="{779DB70C-BB8F-9347-10D2-A177BC2FACB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449;p47">
            <a:extLst>
              <a:ext uri="{FF2B5EF4-FFF2-40B4-BE49-F238E27FC236}">
                <a16:creationId xmlns:a16="http://schemas.microsoft.com/office/drawing/2014/main" id="{E2E4EACA-5EB2-9D27-B27D-6804930C83F7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BA17DAA-18C1-A8B1-23F6-40A10DEA34D7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10D8627-7025-2426-ED13-A18A100CC54F}"/>
              </a:ext>
            </a:extLst>
          </p:cNvPr>
          <p:cNvSpPr/>
          <p:nvPr/>
        </p:nvSpPr>
        <p:spPr>
          <a:xfrm>
            <a:off x="12933452" y="78991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1152463"/>
            <a:ext cx="8800624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Backlog: Repositorio Vivo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6049" y="2892504"/>
            <a:ext cx="346721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Características del Backlog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536049" y="3429714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Listado ordenado de funcionalidades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Repositorio vivo que evoluciona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Base para priorización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Universo de trabajo posible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536049" y="5178147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Función Estratégica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536049" y="5715357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Puente entre visión del producto y ejecución del sprint. Organiza el valor según relevancia, urgencia y aporte al cliente.</a:t>
            </a:r>
            <a:endParaRPr lang="en-US" sz="1650" dirty="0"/>
          </a:p>
        </p:txBody>
      </p:sp>
      <p:grpSp>
        <p:nvGrpSpPr>
          <p:cNvPr id="8" name="Google Shape;445;p47">
            <a:extLst>
              <a:ext uri="{FF2B5EF4-FFF2-40B4-BE49-F238E27FC236}">
                <a16:creationId xmlns:a16="http://schemas.microsoft.com/office/drawing/2014/main" id="{E5E1A449-9012-5B95-05A6-C54292DDCEAC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9" name="Google Shape;446;p47">
              <a:extLst>
                <a:ext uri="{FF2B5EF4-FFF2-40B4-BE49-F238E27FC236}">
                  <a16:creationId xmlns:a16="http://schemas.microsoft.com/office/drawing/2014/main" id="{21F2D9C0-6B79-91DB-134E-F54B8661844D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447;p47">
              <a:extLst>
                <a:ext uri="{FF2B5EF4-FFF2-40B4-BE49-F238E27FC236}">
                  <a16:creationId xmlns:a16="http://schemas.microsoft.com/office/drawing/2014/main" id="{6096D72C-08D3-0BEA-811C-3E9D8D5D94FF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448;p47">
              <a:extLst>
                <a:ext uri="{FF2B5EF4-FFF2-40B4-BE49-F238E27FC236}">
                  <a16:creationId xmlns:a16="http://schemas.microsoft.com/office/drawing/2014/main" id="{349E2E4C-F4B1-052E-EB5F-6EBFD545791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449;p47">
            <a:extLst>
              <a:ext uri="{FF2B5EF4-FFF2-40B4-BE49-F238E27FC236}">
                <a16:creationId xmlns:a16="http://schemas.microsoft.com/office/drawing/2014/main" id="{7F006131-07C6-B7E4-2557-B62D6D7D57EF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B2BCAD8-386D-E061-6EE7-927EE31B0D84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25E6D24-EF42-F273-D759-46A688D4EDF1}"/>
              </a:ext>
            </a:extLst>
          </p:cNvPr>
          <p:cNvSpPr/>
          <p:nvPr/>
        </p:nvSpPr>
        <p:spPr>
          <a:xfrm>
            <a:off x="12933452" y="78991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26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Historias de Usuario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10897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544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Backlog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035385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Características deseadas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410897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544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Historias de Usuario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035385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Funcionalidades desde perspectiva del usuario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410897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544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Tareas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035385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Actividades operativas de ejecución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469969"/>
            <a:ext cx="35591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Unidades de Planificación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93790" y="60511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Historias estimadas en puntos (velocidad del equipo). Tareas descompuestas en 2, 4, 6 u 8 horas.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599521" y="5469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Orientación al Valor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99521" y="60511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Expresan necesidades desde uso real, no implementación técnica.</a:t>
            </a:r>
            <a:endParaRPr lang="en-US" sz="1750" dirty="0"/>
          </a:p>
        </p:txBody>
      </p:sp>
      <p:grpSp>
        <p:nvGrpSpPr>
          <p:cNvPr id="16" name="Google Shape;445;p47">
            <a:extLst>
              <a:ext uri="{FF2B5EF4-FFF2-40B4-BE49-F238E27FC236}">
                <a16:creationId xmlns:a16="http://schemas.microsoft.com/office/drawing/2014/main" id="{C5DCB1D5-B0AF-CCB3-D2F4-B3974E66DEB4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17" name="Google Shape;446;p47">
              <a:extLst>
                <a:ext uri="{FF2B5EF4-FFF2-40B4-BE49-F238E27FC236}">
                  <a16:creationId xmlns:a16="http://schemas.microsoft.com/office/drawing/2014/main" id="{46840FAC-DD85-2334-1F5B-F42E8CD37324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447;p47">
              <a:extLst>
                <a:ext uri="{FF2B5EF4-FFF2-40B4-BE49-F238E27FC236}">
                  <a16:creationId xmlns:a16="http://schemas.microsoft.com/office/drawing/2014/main" id="{84E049FB-8D5D-6E8B-193A-AAA4F5B9EEF3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" name="Google Shape;448;p47">
              <a:extLst>
                <a:ext uri="{FF2B5EF4-FFF2-40B4-BE49-F238E27FC236}">
                  <a16:creationId xmlns:a16="http://schemas.microsoft.com/office/drawing/2014/main" id="{B4940AEA-4406-1A98-CDC4-A02E11A865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449;p47">
            <a:extLst>
              <a:ext uri="{FF2B5EF4-FFF2-40B4-BE49-F238E27FC236}">
                <a16:creationId xmlns:a16="http://schemas.microsoft.com/office/drawing/2014/main" id="{771AFAAC-7834-864A-089A-4EC6341A31AF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ECBF7F0-A56F-3A0D-26D5-10B83464624D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665" y="1028521"/>
            <a:ext cx="7626667" cy="1354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Priorización de Requerimientos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8666" y="2627352"/>
            <a:ext cx="3709749" cy="1930598"/>
          </a:xfrm>
          <a:prstGeom prst="roundRect">
            <a:avLst>
              <a:gd name="adj" fmla="val 7578"/>
            </a:avLst>
          </a:prstGeom>
          <a:solidFill>
            <a:srgbClr val="FDFBF7"/>
          </a:solidFill>
          <a:ln/>
          <a:effectLst>
            <a:outerShdw dist="279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58666" y="2596872"/>
            <a:ext cx="3709749" cy="121920"/>
          </a:xfrm>
          <a:prstGeom prst="roundRect">
            <a:avLst>
              <a:gd name="adj" fmla="val 74682"/>
            </a:avLst>
          </a:prstGeom>
          <a:solidFill>
            <a:srgbClr val="E6DED2"/>
          </a:solidFill>
          <a:ln/>
        </p:spPr>
      </p:sp>
      <p:sp>
        <p:nvSpPr>
          <p:cNvPr id="6" name="Shape 3"/>
          <p:cNvSpPr/>
          <p:nvPr/>
        </p:nvSpPr>
        <p:spPr>
          <a:xfrm>
            <a:off x="2288381" y="2302193"/>
            <a:ext cx="650319" cy="650319"/>
          </a:xfrm>
          <a:prstGeom prst="roundRect">
            <a:avLst>
              <a:gd name="adj" fmla="val 140608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83525" y="2464713"/>
            <a:ext cx="26003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169325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Valor del Producto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3632359"/>
            <a:ext cx="3215402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Características de mayor impacto al cliente final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675584" y="2627352"/>
            <a:ext cx="3709749" cy="1930598"/>
          </a:xfrm>
          <a:prstGeom prst="roundRect">
            <a:avLst>
              <a:gd name="adj" fmla="val 7578"/>
            </a:avLst>
          </a:prstGeom>
          <a:solidFill>
            <a:srgbClr val="FDFBF7"/>
          </a:solidFill>
          <a:ln/>
          <a:effectLst>
            <a:outerShdw dist="279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5584" y="2596872"/>
            <a:ext cx="3709749" cy="121920"/>
          </a:xfrm>
          <a:prstGeom prst="roundRect">
            <a:avLst>
              <a:gd name="adj" fmla="val 74682"/>
            </a:avLst>
          </a:prstGeom>
          <a:solidFill>
            <a:srgbClr val="E6DED2"/>
          </a:solidFill>
          <a:ln/>
        </p:spPr>
      </p:sp>
      <p:sp>
        <p:nvSpPr>
          <p:cNvPr id="12" name="Shape 9"/>
          <p:cNvSpPr/>
          <p:nvPr/>
        </p:nvSpPr>
        <p:spPr>
          <a:xfrm>
            <a:off x="6205299" y="2302193"/>
            <a:ext cx="650319" cy="650319"/>
          </a:xfrm>
          <a:prstGeom prst="roundRect">
            <a:avLst>
              <a:gd name="adj" fmla="val 140608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00443" y="2464713"/>
            <a:ext cx="26003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22758" y="3169325"/>
            <a:ext cx="284357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Capacidad del Equipo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922758" y="3632359"/>
            <a:ext cx="3215402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Velocidad del sprint (ej: 26 puntos)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58666" y="5090279"/>
            <a:ext cx="7626667" cy="1591389"/>
          </a:xfrm>
          <a:prstGeom prst="roundRect">
            <a:avLst>
              <a:gd name="adj" fmla="val 9193"/>
            </a:avLst>
          </a:prstGeom>
          <a:solidFill>
            <a:srgbClr val="FDFBF7"/>
          </a:solidFill>
          <a:ln/>
          <a:effectLst>
            <a:outerShdw dist="279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666" y="5059799"/>
            <a:ext cx="7626667" cy="121920"/>
          </a:xfrm>
          <a:prstGeom prst="roundRect">
            <a:avLst>
              <a:gd name="adj" fmla="val 74682"/>
            </a:avLst>
          </a:prstGeom>
          <a:solidFill>
            <a:srgbClr val="E6DED2"/>
          </a:solidFill>
          <a:ln/>
        </p:spPr>
      </p:sp>
      <p:sp>
        <p:nvSpPr>
          <p:cNvPr id="18" name="Shape 15"/>
          <p:cNvSpPr/>
          <p:nvPr/>
        </p:nvSpPr>
        <p:spPr>
          <a:xfrm>
            <a:off x="4246840" y="4765119"/>
            <a:ext cx="650319" cy="650319"/>
          </a:xfrm>
          <a:prstGeom prst="roundRect">
            <a:avLst>
              <a:gd name="adj" fmla="val 140608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441984" y="4927640"/>
            <a:ext cx="26003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5632252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Dependencias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005840" y="6095286"/>
            <a:ext cx="7132320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Orden lógico entre tareas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58666" y="6914674"/>
            <a:ext cx="7626667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Proceso continuo de revisión y ajuste según valor, capacidad y dependencias.</a:t>
            </a:r>
            <a:endParaRPr lang="en-US" sz="1700" dirty="0"/>
          </a:p>
        </p:txBody>
      </p:sp>
      <p:grpSp>
        <p:nvGrpSpPr>
          <p:cNvPr id="23" name="Google Shape;445;p47">
            <a:extLst>
              <a:ext uri="{FF2B5EF4-FFF2-40B4-BE49-F238E27FC236}">
                <a16:creationId xmlns:a16="http://schemas.microsoft.com/office/drawing/2014/main" id="{3DC4D539-B92F-847E-A9E9-FCF6F2D6EDD9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24" name="Google Shape;446;p47">
              <a:extLst>
                <a:ext uri="{FF2B5EF4-FFF2-40B4-BE49-F238E27FC236}">
                  <a16:creationId xmlns:a16="http://schemas.microsoft.com/office/drawing/2014/main" id="{665B77FB-C79B-56FA-EB13-6B99EC37D404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447;p47">
              <a:extLst>
                <a:ext uri="{FF2B5EF4-FFF2-40B4-BE49-F238E27FC236}">
                  <a16:creationId xmlns:a16="http://schemas.microsoft.com/office/drawing/2014/main" id="{14552929-F310-7F85-C836-79B215256C74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" name="Google Shape;448;p47">
              <a:extLst>
                <a:ext uri="{FF2B5EF4-FFF2-40B4-BE49-F238E27FC236}">
                  <a16:creationId xmlns:a16="http://schemas.microsoft.com/office/drawing/2014/main" id="{E22B9D3C-BFE3-8F6A-1F1B-AA9D4D66795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" name="Google Shape;449;p47">
            <a:extLst>
              <a:ext uri="{FF2B5EF4-FFF2-40B4-BE49-F238E27FC236}">
                <a16:creationId xmlns:a16="http://schemas.microsoft.com/office/drawing/2014/main" id="{CF889C0B-0E64-7CB9-BFF0-57FB9DD2EBB0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9048"/>
            <a:ext cx="68728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Recursos Fundamentales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07145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Tiempo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561874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Planificación de sprints, daily scrum, monitoreo, revisión y retrospectiva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07145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Personal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561874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 Owner, Scrum Master y equipo de desarrollo (desarrolladores, diseñadores UI/UX, testers)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104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Herramientas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59462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Plataformas de colaboración, IDE, integración y despliegue continuo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104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Presupuesto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594628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Enfoque flexible basado en valor, adaptado a cambios</a:t>
            </a:r>
            <a:endParaRPr lang="en-US" sz="1750" dirty="0"/>
          </a:p>
        </p:txBody>
      </p:sp>
      <p:grpSp>
        <p:nvGrpSpPr>
          <p:cNvPr id="15" name="Google Shape;445;p47">
            <a:extLst>
              <a:ext uri="{FF2B5EF4-FFF2-40B4-BE49-F238E27FC236}">
                <a16:creationId xmlns:a16="http://schemas.microsoft.com/office/drawing/2014/main" id="{FC96A26F-396C-4371-BE8B-65F76FF4D6A1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16" name="Google Shape;446;p47">
              <a:extLst>
                <a:ext uri="{FF2B5EF4-FFF2-40B4-BE49-F238E27FC236}">
                  <a16:creationId xmlns:a16="http://schemas.microsoft.com/office/drawing/2014/main" id="{A0A33884-31BB-4D48-A8C2-706B73288EB0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447;p47">
              <a:extLst>
                <a:ext uri="{FF2B5EF4-FFF2-40B4-BE49-F238E27FC236}">
                  <a16:creationId xmlns:a16="http://schemas.microsoft.com/office/drawing/2014/main" id="{241748E5-A47E-044F-84E3-23C90DD735F7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448;p47">
              <a:extLst>
                <a:ext uri="{FF2B5EF4-FFF2-40B4-BE49-F238E27FC236}">
                  <a16:creationId xmlns:a16="http://schemas.microsoft.com/office/drawing/2014/main" id="{C2C8C3DC-DB80-9099-8A6B-D2B08B2009A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449;p47">
            <a:extLst>
              <a:ext uri="{FF2B5EF4-FFF2-40B4-BE49-F238E27FC236}">
                <a16:creationId xmlns:a16="http://schemas.microsoft.com/office/drawing/2014/main" id="{5034E876-86F6-2C75-24C4-A1F28E64833F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D8B9BB-4648-DAEB-81EB-3266AA2AB98F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B75F9D6-CD31-B37B-317A-F12FFF0833D2}"/>
              </a:ext>
            </a:extLst>
          </p:cNvPr>
          <p:cNvSpPr/>
          <p:nvPr/>
        </p:nvSpPr>
        <p:spPr>
          <a:xfrm>
            <a:off x="12933452" y="78991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871" y="1459884"/>
            <a:ext cx="92553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Beneficios de la Planificación Ágil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3458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Ventajas Clave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927032"/>
            <a:ext cx="420516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Generación de valor temprano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Retroalimentación continua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Reducción de riesgos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Adaptación a cambios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Claridad compartida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285542"/>
            <a:ext cx="3705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Impacto en Software Móvil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866686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Gestión efectiva de complejidad en múltiples dispositivos, sistemas operativos y entornos de prueba.</a:t>
            </a:r>
            <a:endParaRPr lang="en-US" sz="1750" dirty="0"/>
          </a:p>
        </p:txBody>
      </p:sp>
      <p:grpSp>
        <p:nvGrpSpPr>
          <p:cNvPr id="8" name="Google Shape;445;p47">
            <a:extLst>
              <a:ext uri="{FF2B5EF4-FFF2-40B4-BE49-F238E27FC236}">
                <a16:creationId xmlns:a16="http://schemas.microsoft.com/office/drawing/2014/main" id="{ACA894DD-1872-AB92-3BC9-32D207FA68FB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9" name="Google Shape;446;p47">
              <a:extLst>
                <a:ext uri="{FF2B5EF4-FFF2-40B4-BE49-F238E27FC236}">
                  <a16:creationId xmlns:a16="http://schemas.microsoft.com/office/drawing/2014/main" id="{392DA73B-9CD0-46B5-3A72-EEC9F8877B48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447;p47">
              <a:extLst>
                <a:ext uri="{FF2B5EF4-FFF2-40B4-BE49-F238E27FC236}">
                  <a16:creationId xmlns:a16="http://schemas.microsoft.com/office/drawing/2014/main" id="{7AC1C8EC-EECE-3853-2670-0C8E58AC2D4B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448;p47">
              <a:extLst>
                <a:ext uri="{FF2B5EF4-FFF2-40B4-BE49-F238E27FC236}">
                  <a16:creationId xmlns:a16="http://schemas.microsoft.com/office/drawing/2014/main" id="{8D02268A-CFCE-A9BC-2988-2399ADA53AB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449;p47">
            <a:extLst>
              <a:ext uri="{FF2B5EF4-FFF2-40B4-BE49-F238E27FC236}">
                <a16:creationId xmlns:a16="http://schemas.microsoft.com/office/drawing/2014/main" id="{6BCB5212-2559-483E-5004-98E02298BD5A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B07B45-1634-59F2-A553-DFB849361850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49971E-DD9C-EACE-03AF-BA8B4CB1E269}"/>
              </a:ext>
            </a:extLst>
          </p:cNvPr>
          <p:cNvSpPr/>
          <p:nvPr/>
        </p:nvSpPr>
        <p:spPr>
          <a:xfrm>
            <a:off x="12781052" y="7657672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857" y="1085049"/>
            <a:ext cx="5579864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Secuencia de Planificación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03651" y="1644491"/>
            <a:ext cx="22860" cy="4971931"/>
          </a:xfrm>
          <a:prstGeom prst="roundRect">
            <a:avLst>
              <a:gd name="adj" fmla="val 31853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22852" y="1828086"/>
            <a:ext cx="520065" cy="22860"/>
          </a:xfrm>
          <a:prstGeom prst="roundRect">
            <a:avLst>
              <a:gd name="adj" fmla="val 318530"/>
            </a:avLst>
          </a:prstGeom>
          <a:solidFill>
            <a:srgbClr val="CCC4B8"/>
          </a:solidFill>
          <a:ln/>
        </p:spPr>
      </p:sp>
      <p:sp>
        <p:nvSpPr>
          <p:cNvPr id="5" name="Shape 3"/>
          <p:cNvSpPr/>
          <p:nvPr/>
        </p:nvSpPr>
        <p:spPr>
          <a:xfrm>
            <a:off x="7120057" y="1644491"/>
            <a:ext cx="390049" cy="390049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85065" y="1676995"/>
            <a:ext cx="26003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7604" y="1704023"/>
            <a:ext cx="2760702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Organización del Proyecto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33857" y="2054304"/>
            <a:ext cx="511444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Visión, objetivos y equipo Scrum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87245" y="2786420"/>
            <a:ext cx="520065" cy="22860"/>
          </a:xfrm>
          <a:prstGeom prst="roundRect">
            <a:avLst>
              <a:gd name="adj" fmla="val 318530"/>
            </a:avLst>
          </a:prstGeom>
          <a:solidFill>
            <a:srgbClr val="CCC4B8"/>
          </a:solidFill>
          <a:ln/>
        </p:spPr>
      </p:sp>
      <p:sp>
        <p:nvSpPr>
          <p:cNvPr id="10" name="Shape 8"/>
          <p:cNvSpPr/>
          <p:nvPr/>
        </p:nvSpPr>
        <p:spPr>
          <a:xfrm>
            <a:off x="7120057" y="2602825"/>
            <a:ext cx="390049" cy="390049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85065" y="2635329"/>
            <a:ext cx="26003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81856" y="2662357"/>
            <a:ext cx="2781776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Planificación de Alto Nivel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1856" y="3012638"/>
            <a:ext cx="511456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Visión estratégica y funcionalidades generales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2852" y="3642122"/>
            <a:ext cx="520065" cy="22860"/>
          </a:xfrm>
          <a:prstGeom prst="roundRect">
            <a:avLst>
              <a:gd name="adj" fmla="val 318530"/>
            </a:avLst>
          </a:prstGeom>
          <a:solidFill>
            <a:srgbClr val="CCC4B8"/>
          </a:solidFill>
          <a:ln/>
        </p:spPr>
      </p:sp>
      <p:sp>
        <p:nvSpPr>
          <p:cNvPr id="15" name="Shape 13"/>
          <p:cNvSpPr/>
          <p:nvPr/>
        </p:nvSpPr>
        <p:spPr>
          <a:xfrm>
            <a:off x="7120057" y="3458528"/>
            <a:ext cx="390049" cy="390049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85065" y="3491032"/>
            <a:ext cx="26003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81249" y="3518059"/>
            <a:ext cx="2167057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Backlog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33857" y="3868341"/>
            <a:ext cx="511444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Listado ordenado de características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87245" y="4497824"/>
            <a:ext cx="520065" cy="22860"/>
          </a:xfrm>
          <a:prstGeom prst="roundRect">
            <a:avLst>
              <a:gd name="adj" fmla="val 318530"/>
            </a:avLst>
          </a:prstGeom>
          <a:solidFill>
            <a:srgbClr val="CCC4B8"/>
          </a:solidFill>
          <a:ln/>
        </p:spPr>
      </p:sp>
      <p:sp>
        <p:nvSpPr>
          <p:cNvPr id="20" name="Shape 18"/>
          <p:cNvSpPr/>
          <p:nvPr/>
        </p:nvSpPr>
        <p:spPr>
          <a:xfrm>
            <a:off x="7120057" y="4314230"/>
            <a:ext cx="390049" cy="390049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85065" y="4346734"/>
            <a:ext cx="26003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81856" y="4373761"/>
            <a:ext cx="2167057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Historias de Usuario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81856" y="4724043"/>
            <a:ext cx="511456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Funcionalidades desde perspectiva del usuario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22852" y="5353526"/>
            <a:ext cx="520065" cy="22860"/>
          </a:xfrm>
          <a:prstGeom prst="roundRect">
            <a:avLst>
              <a:gd name="adj" fmla="val 318530"/>
            </a:avLst>
          </a:prstGeom>
          <a:solidFill>
            <a:srgbClr val="CCC4B8"/>
          </a:solidFill>
          <a:ln/>
        </p:spPr>
      </p:sp>
      <p:sp>
        <p:nvSpPr>
          <p:cNvPr id="25" name="Shape 23"/>
          <p:cNvSpPr/>
          <p:nvPr/>
        </p:nvSpPr>
        <p:spPr>
          <a:xfrm>
            <a:off x="7120057" y="5169932"/>
            <a:ext cx="390049" cy="390049"/>
          </a:xfrm>
          <a:prstGeom prst="roundRect">
            <a:avLst>
              <a:gd name="adj" fmla="val 1866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85065" y="5202436"/>
            <a:ext cx="26003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281249" y="5229463"/>
            <a:ext cx="2167057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Priorización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33857" y="5579745"/>
            <a:ext cx="511444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Selección según valor, capacidad y dependencias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333857" y="6765488"/>
            <a:ext cx="11962567" cy="626269"/>
          </a:xfrm>
          <a:prstGeom prst="roundRect">
            <a:avLst>
              <a:gd name="adj" fmla="val 11627"/>
            </a:avLst>
          </a:prstGeom>
          <a:solidFill>
            <a:srgbClr val="DDDAD4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212" y="7013377"/>
            <a:ext cx="216694" cy="17335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897261" y="6941225"/>
            <a:ext cx="1122580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 planificación ágil es una actividad continua que se renueva en cada sprint, permitiendo adaptabilidad y mejora constante.</a:t>
            </a:r>
            <a:endParaRPr lang="en-US" sz="1350" dirty="0"/>
          </a:p>
        </p:txBody>
      </p:sp>
      <p:grpSp>
        <p:nvGrpSpPr>
          <p:cNvPr id="32" name="Google Shape;445;p47">
            <a:extLst>
              <a:ext uri="{FF2B5EF4-FFF2-40B4-BE49-F238E27FC236}">
                <a16:creationId xmlns:a16="http://schemas.microsoft.com/office/drawing/2014/main" id="{B66F5942-CFCD-75A8-5712-0BE37EF3FB48}"/>
              </a:ext>
            </a:extLst>
          </p:cNvPr>
          <p:cNvGrpSpPr/>
          <p:nvPr/>
        </p:nvGrpSpPr>
        <p:grpSpPr>
          <a:xfrm>
            <a:off x="0" y="915"/>
            <a:ext cx="14630400" cy="1108710"/>
            <a:chOff x="762" y="762"/>
            <a:chExt cx="9144000" cy="923925"/>
          </a:xfrm>
        </p:grpSpPr>
        <p:sp>
          <p:nvSpPr>
            <p:cNvPr id="33" name="Google Shape;446;p47">
              <a:extLst>
                <a:ext uri="{FF2B5EF4-FFF2-40B4-BE49-F238E27FC236}">
                  <a16:creationId xmlns:a16="http://schemas.microsoft.com/office/drawing/2014/main" id="{EED2C9DB-4510-0D33-761A-6EEA4F600749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447;p47">
              <a:extLst>
                <a:ext uri="{FF2B5EF4-FFF2-40B4-BE49-F238E27FC236}">
                  <a16:creationId xmlns:a16="http://schemas.microsoft.com/office/drawing/2014/main" id="{8BBD3D03-949A-BF4A-9870-6ACF7FFC74AF}"/>
                </a:ext>
              </a:extLst>
            </p:cNvPr>
            <p:cNvSpPr/>
            <p:nvPr/>
          </p:nvSpPr>
          <p:spPr>
            <a:xfrm>
              <a:off x="762" y="762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 extrusionOk="0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noFill/>
            <a:ln w="25400" cap="flat" cmpd="sng">
              <a:solidFill>
                <a:srgbClr val="4170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448;p47">
              <a:extLst>
                <a:ext uri="{FF2B5EF4-FFF2-40B4-BE49-F238E27FC236}">
                  <a16:creationId xmlns:a16="http://schemas.microsoft.com/office/drawing/2014/main" id="{5CE216E2-1786-7A2F-F9DC-7B9A48876A7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49051" y="45719"/>
              <a:ext cx="742538" cy="832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449;p47">
            <a:extLst>
              <a:ext uri="{FF2B5EF4-FFF2-40B4-BE49-F238E27FC236}">
                <a16:creationId xmlns:a16="http://schemas.microsoft.com/office/drawing/2014/main" id="{753DDD9B-4E06-6FFE-88E7-F8820E610CDA}"/>
              </a:ext>
            </a:extLst>
          </p:cNvPr>
          <p:cNvSpPr txBox="1"/>
          <p:nvPr/>
        </p:nvSpPr>
        <p:spPr>
          <a:xfrm>
            <a:off x="565077" y="250709"/>
            <a:ext cx="10119549" cy="48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DE CONSTRUCCIÓN  DE  SOFTWARE MÓVIL</a:t>
            </a:r>
            <a:endParaRPr sz="192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FF8A01D-C344-EC83-BF21-CE39D0CEBD77}"/>
              </a:ext>
            </a:extLst>
          </p:cNvPr>
          <p:cNvSpPr/>
          <p:nvPr/>
        </p:nvSpPr>
        <p:spPr>
          <a:xfrm>
            <a:off x="12781052" y="7746715"/>
            <a:ext cx="1849348" cy="4828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583</Words>
  <Application>Microsoft Office PowerPoint</Application>
  <PresentationFormat>Personalizado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Corbel</vt:lpstr>
      <vt:lpstr>Noto Serif</vt:lpstr>
      <vt:lpstr>Noto Serif Light</vt:lpstr>
      <vt:lpstr>Noto Serif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IVAN</dc:creator>
  <cp:lastModifiedBy>IVAN</cp:lastModifiedBy>
  <cp:revision>4</cp:revision>
  <dcterms:created xsi:type="dcterms:W3CDTF">2026-03-23T02:39:49Z</dcterms:created>
  <dcterms:modified xsi:type="dcterms:W3CDTF">2026-04-19T01:32:24Z</dcterms:modified>
</cp:coreProperties>
</file>
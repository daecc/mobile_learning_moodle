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88df37451d42f7" /><Relationship Type="http://schemas.openxmlformats.org/officeDocument/2006/relationships/extended-properties" Target="/docProps/app.xml" Id="Rd99df7995c674fed" /><Relationship Type="http://schemas.openxmlformats.org/officeDocument/2006/relationships/officeDocument" Target="/ppt/presentation.xml" Id="R281c5f4c25fb4976" /></Relationships>
</file>

<file path=ppt/presentation.xml><?xml version="1.0" encoding="utf-8"?>
<p:presentation xmlns:p="http://schemas.openxmlformats.org/presentationml/2006/main">
  <p:sldMasterIdLst>
    <p:sldMasterId xmlns:r="http://schemas.openxmlformats.org/officeDocument/2006/relationships" id="2147483648" r:id="R6fed3af51bf24a2b"/>
  </p:sldMasterIdLst>
  <p:notesMasterIdLst>
    <p:notesMasterId xmlns:r="http://schemas.openxmlformats.org/officeDocument/2006/relationships" r:id="Rf1c9cea45b954516"/>
  </p:notesMasterIdLst>
  <p:sldIdLst>
    <p:sldId xmlns:r="http://schemas.openxmlformats.org/officeDocument/2006/relationships" id="256" r:id="Rbea79a76fbda4fdf"/>
    <p:sldId xmlns:r="http://schemas.openxmlformats.org/officeDocument/2006/relationships" id="257" r:id="R99b9776eb5bd4e49"/>
    <p:sldId xmlns:r="http://schemas.openxmlformats.org/officeDocument/2006/relationships" id="258" r:id="R059ccfb1cba64935"/>
    <p:sldId xmlns:r="http://schemas.openxmlformats.org/officeDocument/2006/relationships" id="259" r:id="Rcb011316db3c492f"/>
    <p:sldId xmlns:r="http://schemas.openxmlformats.org/officeDocument/2006/relationships" id="260" r:id="Rf098771e2bf247eb"/>
    <p:sldId xmlns:r="http://schemas.openxmlformats.org/officeDocument/2006/relationships" id="261" r:id="Rb1f948a802b74375"/>
    <p:sldId xmlns:r="http://schemas.openxmlformats.org/officeDocument/2006/relationships" id="262" r:id="R256ff9b93bc2460b"/>
    <p:sldId xmlns:r="http://schemas.openxmlformats.org/officeDocument/2006/relationships" id="263" r:id="R3e4d75cbfd9e4a13"/>
    <p:sldId xmlns:r="http://schemas.openxmlformats.org/officeDocument/2006/relationships" id="264" r:id="Rec3964a9ebd3482a"/>
    <p:sldId xmlns:r="http://schemas.openxmlformats.org/officeDocument/2006/relationships" id="265" r:id="R054e9533ba2e4287"/>
    <p:sldId xmlns:r="http://schemas.openxmlformats.org/officeDocument/2006/relationships" id="266" r:id="Rfbd9ffc5328545a0"/>
    <p:sldId xmlns:r="http://schemas.openxmlformats.org/officeDocument/2006/relationships" id="267" r:id="Rf028959f93414168"/>
    <p:sldId xmlns:r="http://schemas.openxmlformats.org/officeDocument/2006/relationships" id="268" r:id="Rc078d3f417a546a9"/>
    <p:sldId xmlns:r="http://schemas.openxmlformats.org/officeDocument/2006/relationships" id="269" r:id="R0dc8072b9f2a4c21"/>
    <p:sldId xmlns:r="http://schemas.openxmlformats.org/officeDocument/2006/relationships" id="270" r:id="R9f535ae2d2814e65"/>
    <p:sldId xmlns:r="http://schemas.openxmlformats.org/officeDocument/2006/relationships" id="271" r:id="R1280a5ac6b5f447e"/>
    <p:sldId xmlns:r="http://schemas.openxmlformats.org/officeDocument/2006/relationships" id="272" r:id="R9ff60c27bc4e42e3"/>
    <p:sldId xmlns:r="http://schemas.openxmlformats.org/officeDocument/2006/relationships" id="273" r:id="Recdb45421b3d4b20"/>
    <p:sldId xmlns:r="http://schemas.openxmlformats.org/officeDocument/2006/relationships" id="274" r:id="R64be052764994b97"/>
    <p:sldId xmlns:r="http://schemas.openxmlformats.org/officeDocument/2006/relationships" id="275" r:id="R50f811a90e1f426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e7f3f0815840f2" /><Relationship Type="http://schemas.openxmlformats.org/officeDocument/2006/relationships/slideMaster" Target="/ppt/slideMasters/slideMaster1.xml" Id="R6fed3af51bf24a2b" /><Relationship Type="http://schemas.openxmlformats.org/officeDocument/2006/relationships/notesMaster" Target="/ppt/notesMasters/notesMaster1.xml" Id="Rf1c9cea45b954516" /><Relationship Type="http://schemas.openxmlformats.org/officeDocument/2006/relationships/presProps" Target="/ppt/presProps.xml" Id="R84dc86c1129e4453" /><Relationship Type="http://schemas.openxmlformats.org/officeDocument/2006/relationships/tableStyles" Target="/ppt/tableStyles.xml" Id="R3e09af2468394eba" /><Relationship Type="http://schemas.openxmlformats.org/officeDocument/2006/relationships/slide" Target="/ppt/slides/slide1.xml" Id="Rbea79a76fbda4fdf" /><Relationship Type="http://schemas.openxmlformats.org/officeDocument/2006/relationships/slide" Target="/ppt/slides/slide2.xml" Id="R99b9776eb5bd4e49" /><Relationship Type="http://schemas.openxmlformats.org/officeDocument/2006/relationships/slide" Target="/ppt/slides/slide3.xml" Id="R059ccfb1cba64935" /><Relationship Type="http://schemas.openxmlformats.org/officeDocument/2006/relationships/slide" Target="/ppt/slides/slide4.xml" Id="Rcb011316db3c492f" /><Relationship Type="http://schemas.openxmlformats.org/officeDocument/2006/relationships/slide" Target="/ppt/slides/slide5.xml" Id="Rf098771e2bf247eb" /><Relationship Type="http://schemas.openxmlformats.org/officeDocument/2006/relationships/slide" Target="/ppt/slides/slide6.xml" Id="Rb1f948a802b74375" /><Relationship Type="http://schemas.openxmlformats.org/officeDocument/2006/relationships/slide" Target="/ppt/slides/slide7.xml" Id="R256ff9b93bc2460b" /><Relationship Type="http://schemas.openxmlformats.org/officeDocument/2006/relationships/slide" Target="/ppt/slides/slide8.xml" Id="R3e4d75cbfd9e4a13" /><Relationship Type="http://schemas.openxmlformats.org/officeDocument/2006/relationships/slide" Target="/ppt/slides/slide9.xml" Id="Rec3964a9ebd3482a" /><Relationship Type="http://schemas.openxmlformats.org/officeDocument/2006/relationships/slide" Target="/ppt/slides/slide10.xml" Id="R054e9533ba2e4287" /><Relationship Type="http://schemas.openxmlformats.org/officeDocument/2006/relationships/slide" Target="/ppt/slides/slide11.xml" Id="Rfbd9ffc5328545a0" /><Relationship Type="http://schemas.openxmlformats.org/officeDocument/2006/relationships/slide" Target="/ppt/slides/slide12.xml" Id="Rf028959f93414168" /><Relationship Type="http://schemas.openxmlformats.org/officeDocument/2006/relationships/slide" Target="/ppt/slides/slide13.xml" Id="Rc078d3f417a546a9" /><Relationship Type="http://schemas.openxmlformats.org/officeDocument/2006/relationships/slide" Target="/ppt/slides/slide14.xml" Id="R0dc8072b9f2a4c21" /><Relationship Type="http://schemas.openxmlformats.org/officeDocument/2006/relationships/slide" Target="/ppt/slides/slide15.xml" Id="R9f535ae2d2814e65" /><Relationship Type="http://schemas.openxmlformats.org/officeDocument/2006/relationships/slide" Target="/ppt/slides/slide16.xml" Id="R1280a5ac6b5f447e" /><Relationship Type="http://schemas.openxmlformats.org/officeDocument/2006/relationships/slide" Target="/ppt/slides/slide17.xml" Id="R9ff60c27bc4e42e3" /><Relationship Type="http://schemas.openxmlformats.org/officeDocument/2006/relationships/slide" Target="/ppt/slides/slide18.xml" Id="Recdb45421b3d4b20" /><Relationship Type="http://schemas.openxmlformats.org/officeDocument/2006/relationships/slide" Target="/ppt/slides/slide19.xml" Id="R64be052764994b97" /><Relationship Type="http://schemas.openxmlformats.org/officeDocument/2006/relationships/slide" Target="/ppt/slides/slide20.xml" Id="R50f811a90e1f42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a73c20e5e641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5686e0948142a9" /><Relationship Type="http://schemas.openxmlformats.org/officeDocument/2006/relationships/notesMaster" Target="/ppt/notesMasters/notesMaster1.xml" Id="R245684df920042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396d3354f44a0b" /><Relationship Type="http://schemas.openxmlformats.org/officeDocument/2006/relationships/notesMaster" Target="/ppt/notesMasters/notesMaster1.xml" Id="R34b26fd2eacf49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2e8af16e53417e" /><Relationship Type="http://schemas.openxmlformats.org/officeDocument/2006/relationships/notesMaster" Target="/ppt/notesMasters/notesMaster1.xml" Id="R84be6af33d1246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042adee879407b" /><Relationship Type="http://schemas.openxmlformats.org/officeDocument/2006/relationships/notesMaster" Target="/ppt/notesMasters/notesMaster1.xml" Id="R6fad823ed2554d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de42deecae4561" /><Relationship Type="http://schemas.openxmlformats.org/officeDocument/2006/relationships/notesMaster" Target="/ppt/notesMasters/notesMaster1.xml" Id="R8b7bdbc6414f45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6ff2f7f5304fc9" /><Relationship Type="http://schemas.openxmlformats.org/officeDocument/2006/relationships/notesMaster" Target="/ppt/notesMasters/notesMaster1.xml" Id="R58ecc3c68f564f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85288a298a47a6" /><Relationship Type="http://schemas.openxmlformats.org/officeDocument/2006/relationships/notesMaster" Target="/ppt/notesMasters/notesMaster1.xml" Id="R48db638c4fcc4c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0e70b932f04618" /><Relationship Type="http://schemas.openxmlformats.org/officeDocument/2006/relationships/notesMaster" Target="/ppt/notesMasters/notesMaster1.xml" Id="R1d7509b3dc4749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6f22d9fa62427e" /><Relationship Type="http://schemas.openxmlformats.org/officeDocument/2006/relationships/notesMaster" Target="/ppt/notesMasters/notesMaster1.xml" Id="Rc3f16382aa9c41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f85946431c4191" /><Relationship Type="http://schemas.openxmlformats.org/officeDocument/2006/relationships/notesMaster" Target="/ppt/notesMasters/notesMaster1.xml" Id="Re51b5ced4ea2442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03fe0d92234487" /><Relationship Type="http://schemas.openxmlformats.org/officeDocument/2006/relationships/notesMaster" Target="/ppt/notesMasters/notesMaster1.xml" Id="Rc274361db60145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f4f2be4bad49a5" /><Relationship Type="http://schemas.openxmlformats.org/officeDocument/2006/relationships/notesMaster" Target="/ppt/notesMasters/notesMaster1.xml" Id="Rdc8e66a85bc74f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9570c1e319c4ed3" /><Relationship Type="http://schemas.openxmlformats.org/officeDocument/2006/relationships/notesMaster" Target="/ppt/notesMasters/notesMaster1.xml" Id="Ra2c9b413529148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85529946cc491b" /><Relationship Type="http://schemas.openxmlformats.org/officeDocument/2006/relationships/notesMaster" Target="/ppt/notesMasters/notesMaster1.xml" Id="Rd46577f719984c1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e19204c1824c4e" /><Relationship Type="http://schemas.openxmlformats.org/officeDocument/2006/relationships/notesMaster" Target="/ppt/notesMasters/notesMaster1.xml" Id="Re5c244fcc59a481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2d244e935c4435" /><Relationship Type="http://schemas.openxmlformats.org/officeDocument/2006/relationships/notesMaster" Target="/ppt/notesMasters/notesMaster1.xml" Id="R40248d399f43427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7521a3f08cc454f" /><Relationship Type="http://schemas.openxmlformats.org/officeDocument/2006/relationships/notesMaster" Target="/ppt/notesMasters/notesMaster1.xml" Id="Rf14d94fa4a6b4ef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ef1c79ed91b4b2b" /><Relationship Type="http://schemas.openxmlformats.org/officeDocument/2006/relationships/notesMaster" Target="/ppt/notesMasters/notesMaster1.xml" Id="R159a69e3f56443e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40928fbeb14680" /><Relationship Type="http://schemas.openxmlformats.org/officeDocument/2006/relationships/notesMaster" Target="/ppt/notesMasters/notesMaster1.xml" Id="R55497d9206ae41c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8b31eeed93c45a2" /><Relationship Type="http://schemas.openxmlformats.org/officeDocument/2006/relationships/notesMaster" Target="/ppt/notesMasters/notesMaster1.xml" Id="R903de758127848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Presentación para una sesión universitaria de Diseño de software móvil I. Los ejemplos se desarrollan con Android como plataforma de referencia. Los principios de separación de responsabilidades, contratos y persistencia también se pueden aplicar en otros entornos. CampusTareas es un caso didáctico ficticio, sin resultados empíricos atribuidos a una institución.</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Portada. Fotografía editorial de producto: un teléfono moderno en posición vertical sobre una mesa de desarrollo, pantalla con una lista académica sencilla de tres tareas y círculos de completar, al fondo una laptop desenfocada con editor de código. Sin personas. El smartphone y la interfaz son claros, iluminación de estudio cálida.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alcance inicial corresponde a la agenda personal de un estudiante autenticado. Las tareas colaborativas, los archivos adjuntos y los calendarios institucionales quedan fuera de este ejemplo. La sincronización requiere un contrato explícito y metadatos adicionales al esquema mínimo mostrado. El logro es una propuesta docente para esta presentación. Base conceptual: https://developer.android.com/topic/architecture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Caso guía CampusTareas. Estudiante universitario latinoamericano revisando en su teléfono una aplicación de tareas académicas en una mesa de biblioteca. En la pantalla se distinguen dos tareas y una confirmación breve que dice exactamente «Guardado local». El estudiante está mirando el teléfono, ambiente realista y tranquilo.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disponibilidad de la interfaz no garantiza disponibilidad de red. En el diseño propuesto, leer y guardar tareas son funciones críticas que deben continuar sin conexión. No toda operación de una aplicación puede funcionar de esta forma. La persistencia local protege los cambios ya confirmados al usuario. Fuentes: https://developer.android.com/topic/architecture ; https://developer.android.com/topic/architecture/data-layer/offline-first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Restricciones móviles. Primer plano de una estudiante usando un teléfono en transporte público, sentada dentro de un tren, una lista de tareas permanece visible aunque un pequeño símbolo de conexión indica ausencia de wifi. Un indicador de batería normal, nada de hologramas. La pantalla y el contexto de movilidad resultan comprensibles.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tabla combina los componentes del cliente móvil con el backend remoto para ubicar sus límites. El backend conserva su propia arquitectura. Android recomienda capas de UI y datos, con dominio opcional según la necesidad. Esta clasificación no exige un módulo físico por cada fila. Fuente: https://developer.android.com/topic/architecture/recommendations ; https://developer.android.com/topic/architecture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Separación de responsabilidades. Fotografía editorial de un equipo de dos desarrolladores trabajando en una app móvil, un teléfono con lista de tareas en primer plano y al fondo un monitor de desarrollo con distintas secciones del proyecto legibles como carpetas genéricas, sin diagramas ni texto técnico importante. La organización del trabajo comunica modularidad.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MVVM significa Model, View y ViewModel. El patrón describe responsabilidades y relaciones, no una obligación de usar una biblioteca concreta. En Android moderno, ViewModel se integra con un flujo unidireccional de estado y acciones. La vista conserva las decisiones que requieren tipos de UI. Fuentes: https://learn.microsoft.com/en-us/dotnet/architecture/maui/mvvm ; https://developer.android.com/topic/libraries/architecture/viewmodel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Frontend MVVM. Fotografía de estudio de una mano sosteniendo un smartphone con lista de tareas académicas, a su lado un cuaderno del desarrollador y una laptop con un editor de código desenfocado. Pantalla limpia, título exacto «Mis tareas», tres filas y una selección marcada. La imagen se centra en la interfaz que representa datos.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Observer describe la relación de notificación entre un productor y quienes observan sus cambios. El flujo unidireccional organiza además el recorrido de acciones y estado. No son términos intercambiables. La UI observa un StateFlow expuesto de forma inmutable y envía acciones mediante métodos. Fuentes: https://developer.android.com/topic/architecture/ui-layer ; https://developer.android.com/topic/architecture/recommendations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Observer y cambios de estado. Ilustración editorial realista de dos vistas del mismo teléfono sobre fondo marfil, una mano pulsa un círculo sin marcar en el teléfono izquierdo, el teléfono derecho muestra la misma tarea marcada con un check y el texto breve «Completada». Es una comparación visual de una interacción, no un diagrama técnico. Sin flechas.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ViewModel por sí solo no sobrevive a la terminación del proceso. SavedStateHandle está sujeto a las condiciones del mecanismo de estado guardado y no reemplaza una base de datos ni garantiza conservar todo tras cualquier forma de cierre. Para borradores que deban sobrevivir siempre, se necesita persistencia explícita. Fuentes: https://developer.android.com/topic/libraries/architecture/viewmodel ; https://developer.android.com/topic/libraries/architecture/saving-states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Ciclo de vida y recuperación. Fotografía editorial de dos teléfonos sobre una mesa, uno en vertical y otro horizontal, ambos muestran el mismo formulario sencillo de una tarea con el título «Revisar informe» conservado. Una libreta junto a ellos muestra un pequeño icono de guardar. Debe resultar claro que cambiar la orientación conserva el contenido. Sin flechas ni números.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la arquitectura Android, los repositorios exponen datos de la aplicación y gestionan las fuentes. En patrones empresariales, Repository tiene una formulación más específica vinculada al acceso a objetos del dominio. Conviene entender el contexto antes de tratar ambas formulaciones como idénticas. Fuentes: https://developer.android.com/topic/architecture/data-layer ; https://martinfowler.com/eaaCatalog/repository.html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Repositorio y adaptación de datos. Fotografía conceptual de producto con un smartphone que muestra una lista de tareas, una pequeña unidad de almacenamiento física sobre la mesa y una laptop con datos de servicio desenfocados. Sin conexiones dibujadas ni diagramas. Composición organizada que representa acceso a distintas fuentes de datos, con el teléfono como protagonista.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tabla es una propuesta de arquitectura para CampusTareas, no una estructura obligatoria para todos los servicios. Service Layer delimita las operaciones de la aplicación y coordina su respuesta. Repository encapsula acceso a objetos persistentes. El controlador atiende el protocolo HTTP. Fuentes: https://martinfowler.com/eaaCatalog/serviceLayer.html ; https://martinfowler.com/eaaCatalog/repository.html ; https://learn.microsoft.com/en-us/azure/architecture/best-practices/api-design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Backend y servicio de aplicación. Fotografía profesional de un ingeniero de software en una estación de trabajo, monitor con un panel de solicitudes genérico desenfocado y un teléfono de pruebas al frente con una tarea académica. Ambiente de desarrollo backend realista, sin servidores gigantes innecesarios ni gráficas técnicas.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inyección manual por constructor puede ser suficiente en un ejemplo pequeño. Un contenedor o una biblioteca puede ayudar cuando el grafo de objetos crece. Ninguna herramienta elimina la necesidad de definir responsabilidades y contratos claros. El fallo de espacio es un escenario hipotético de prueba, no un resultado medido. Fuente: https://developer.android.com/training/dependency-injection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Inyección de dependencias y pruebas. Fotografía editorial de un portátil de desarrollador y un teléfono sobre un escritorio, en el portátil una pantalla de pruebas con varios checks verdes claramente visibles y el título corto «Pruebas», el teléfono muestra una lista de tareas. Un pequeño cable de conexión desconectado sobre la mesa sugiere que se puede probar sin red. Sin código legible.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DTO es una representación de transferencia y no debe exponerse automáticamente como una entidad interna completa. El contrato del caso debe definir qué campos puede escribir cada usuario. Las restricciones de UI pueden omitirse en una petición externa, por eso la operación necesita validación en backend. Fuentes: https://martinfowler.com/eaaCatalog/dataTransferObject.html ; https://learn.microsoft.com/en-us/azure/architecture/best-practices/api-design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DTO y contrato de la API. Fotografía de producto de un teléfono mostrando un formulario simple de tarea con «Título» y «Curso», junto a una laptop que presenta un pequeño documento JSON con claves grandes «id», «titulo», «curso_id». El resto de texto no es importante, sin flechas ni diagrama de flujo. Imagen clara de intercambio de datos.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ejemplo puede usar PUT /tareas/{id} con una representación completa y creación permitida por contrato. PUT exige semántica idempotente, aunque el servidor debe implementarla correctamente. La sincronización real añade versiones, operaciones pendientes y política de conflictos. El esquema de dos tablas mostrado más adelante se limita a datos y un indicador didáctico. Fuentes: https://developer.android.com/topic/architecture/data-layer/offline-first ; https://learn.microsoft.com/en-us/azure/architecture/best-practices/api-design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Sincronización. Dos teléfonos iguales frente a frente sobre un fondo de estudio claro. El de la izquierda muestra una tarea con un pequeño reloj y la leyenda exacta «Pendiente de sincronizar». El de la derecha muestra la misma tarea con un check y la leyenda exacta «Sincronizada». Sin flechas. Un pequeño símbolo wifi en el segundo ilustra conexión recuperada. Es un ejemplo conceptual de estado de interfaz.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Room es una biblioteca de persistencia sobre SQLite, no otro motor de base de datos. SQLite tiene clases de almacenamiento NULL, INTEGER, REAL, TEXT y BLOB. Sus tablas ordinarias utilizan afinidad de tipos, con reglas distintas de motores estrictos. Los ejemplos usan SQL directo para hacer visibles las decisiones del modelo. Fuentes: https://www.sqlite.org/about.html ; https://www.sqlite.org/datatype3.html ; https://developer.android.com/training/data-storage/room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SQLite en el dispositivo. Fotografía editorial muy nítida de un smartphone con lista de tareas y, a su lado, una pequeña tarjeta física de almacenamiento, sobre mesa clara. En el teléfono una leyenda breve exacta «Datos en este dispositivo». Sensación de persistencia local y privacidad cotidiana, sin nube ni diagramas.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modelo físico contiene únicamente curso y tarea. La relación es de uno a muchos. El identificador del ejemplo se representa como TEXT para permitir un valor estable generado en el cliente. El diseño no afirma que todos los modelos de tareas necesiten esta misma estructura. Fuentes: https://www.sqlite.org/lang_createtable.html ; https://www.sqlite.org/foreignkeys.html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Modelo relacional. Fotografía cenital profesional de una mesa con una carpeta azul titulada «Curso» y tres fichas de tareas agrupadas al lado, lápiz y un teléfono. Las fichas solo llevan «Tarea 1», «Tarea 2», «Tarea 3». Organización visual de un curso y sus tareas, sin líneas, flechas ni diagrama entidad relación.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de SQL para SQLite. El pragma se ejecuta al configurar cada conexión y fuera de una transacción activa. La aplicación debe comprobar su valor. Los identificadores son TEXT PRIMARY KEY NOT NULL de forma explícita. El CHECK de título rechaza una cadena vacía tras trim, que por defecto trata espacios ordinarios. La aplicación puede exigir validación Unicode más amplia. El esquema de sincronización es deliberadamente mínimo y no incluye versiones ni cola durable. Fuentes: https://www.sqlite.org/lang_createtable.html ; https://www.sqlite.org/foreignkeys.html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Esquema SQL. Fotografía de una laptop con un editor SQL desenfocado en un escritorio profesional y al lado un teléfono con lista de tareas. En el monitor solamente la palabra grande «SQLite» es legible. La imagen es una escena de programación, no contiene código que deba leerse ni un diagrama. Composición sobria con luz lateral.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signos ? son parámetros que la biblioteca debe enlazar con valores, no fragmentos de SQL para sustituir manualmente como texto. El ejemplo de DELETE corresponde a una agenda solo local. En una aplicación sincronizada, borrar suele requerir una marca de eliminación y una operación pendiente para informar al servidor. El resultado de UPDATE y DELETE debe verificar las filas afectadas. Fuente: https://developer.android.com/training/data-storage/sqlite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Consultas parametrizadas. Fotografía de producto en primer plano de un teléfono con un campo de título de tarea que contiene exactamente «Informe de O'Brien». Un dedo está cerca del botón «Guardar». Laptop al fondo desenfocada. El apóstrofo debe ser visible y natural como parte del dato del usuario. Interfaz profesional y clara.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violación de restricción no garantiza por sí sola que SQLite revierta toda la transacción en todos los modos. El código del caso captura el error y ejecuta ROLLBACK de forma explícita. Las conexiones deben activar y comprobar foreign_keys antes de iniciar la transacción. La operación de red no debe mantener abierta una larga transacción local. Fuentes: https://www.sqlite.org/lang_transaction.html ; https://www.sqlite.org/foreignkeys.html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Transacciones e integridad. Fotografía conceptual profesional de una mesa de trabajo con dos fichas de datos académicos sujetas por un mismo clip metálico grande, a un lado un teléfono con confirmación breve «Guardado». No texto adicional en las fichas. Una sola composición que sugiere guardar cambios relacionados como una unidad, sin diagramas ni números.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Índice sugerido: CREATE INDEX idx_tarea_curso_estado ON tarea(curso_id, completada). Su utilidad depende de consultas, distribución de datos y coste de escritura. Ejemplo de migración: ALTER TABLE tarea ADD COLUMN prioridad INTEGER NOT NULL DEFAULT 0 CHECK(prioridad BETWEEN 0 AND 2). Room requiere que el esquema esperado coincida con la entidad actualizada. Evitar recreación destructiva cuando los datos deban conservarse. Fuentes: https://www.sqlite.org/queryplanner.html ; https://developer.android.com/training/data-storage/room/migrating-db-versions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Índices y migraciones. Fotografía profesional de desarrollador revisando en laptop dos versiones de una aplicación de tareas en teléfonos de prueba, pantallas muestran la misma lista existente y el segundo añade un pequeño campo «Prioridad». Etiquetas físicas discretas «v1» y «v2» al pie de cada teléfono. Datos conservados entre versiones, sin líneas o diagramas.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caso es un escenario propuesto, no una implementación entregada ni una mejora medida. Una prueba de sincronización debe incluir respuesta perdida, reintento y cambios concurrentes según el alcance. Para la sustentación, el estudiante debe explicar dónde observa el resultado y qué criterio define una ejecución correcta. Fuentes metodológicas: https://developer.android.com/topic/architecture/recommendations ; https://developer.android.com/topic/architecture/data-layer/offline-first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Caso integrador. Fotografía editorial de una estudiante en campus usando una aplicación de tareas en un smartphone, pantalla claramente muestra «Prototipo móvil» con un check y el estado breve «Sincronizada». Mesa con un cuaderno de pruebas abierto. Contexto de evaluación práctica de una app, sin mostrar resultados numéricos.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consultadas el 16 de octubre de 2026. Android Developers: https://developer.android.com/topic/architecture ; https://developer.android.com/topic/architecture/recommendations ; https://developer.android.com/topic/architecture/ui-layer ; https://developer.android.com/topic/architecture/data-layer ; https://developer.android.com/topic/libraries/architecture/viewmodel ; https://developer.android.com/topic/libraries/architecture/saving-states ; https://developer.android.com/training/dependency-injection ; https://developer.android.com/topic/architecture/data-layer/offline-first ; https://developer.android.com/training/data-storage/room ; https://developer.android.com/training/data-storage/sqlite ; https://developer.android.com/training/data-storage/room/migrating-db-versions . Microsoft Learn: https://learn.microsoft.com/en-us/dotnet/architecture/maui/mvvm ; https://learn.microsoft.com/en-us/azure/architecture/best-practices/api-design . Fowler: https://martinfowler.com/eaaCatalog/serviceLayer.html ; https://martinfowler.com/eaaCatalog/repository.html ; https://martinfowler.com/eaaCatalog/dataTransferObject.html . SQLite: https://www.sqlite.org/about.html ; https://www.sqlite.org/datatype3.html ; https://www.sqlite.org/lang_createtable.html ; https://www.sqlite.org/foreignkeys.html ; https://www.sqlite.org/lang_transaction.html ; https://www.sqlite.org/queryplanner.html .</a:t>
            </a:r>
          </a:p>
          <a:p xmlns:a="http://schemas.openxmlformats.org/drawingml/2006/main">
            <a:r>
              <a:t/>
            </a:r>
          </a:p>
          <a:p xmlns:a="http://schemas.openxmlformats.org/drawingml/2006/main">
            <a:r>
              <a:t>Imagen: escena o interfaz conceptual generada con ImageGen para ilustrar el tema. No es una captura oficial ni evidencia de una implementación real. Concepto visual: Fuentes. Fotografía editorial de una mesa de biblioteca de ingeniería con libros de programación sin marcas inventadas, una laptop cerrada y una tablet con el título corto «Documentación». Tarjetas pequeñas que dicen «Android Developers» y «SQLite». Luz natural, escena profesional académica sin logos.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99ddc778934a9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448be0782b0471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7bf5a65cff4e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ccb2328a2954e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39f24a9e3940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595268c48e45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F36825-4E6B-4418-AF13-7D8FB736979A}"/>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ACE6C4A-C583-4BE7-A1AC-B290F3F3F0EA}"/>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D2643A-807A-4CA9-BE3F-11D7B8AA614D}"/>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23DCA2-31D2-4729-81AC-DBF1C1125D3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E5D7CE0-24D2-4504-8F94-51D04A8BAF81}"/>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6EEC19-34AD-4A33-905C-62B61E0B2BE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E8BDBD-C3EC-497B-A797-83341229C3D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B232B1-2D7F-4796-83FD-24A42E1588DA}"/>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465C45-D5E6-4C45-9298-022757DBF05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1EDDBA-772C-4C83-8F76-331EFF863B4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ef64cef7524c39" /><Relationship Type="http://schemas.openxmlformats.org/officeDocument/2006/relationships/slideLayout" Target="/ppt/slideLayouts/slideLayout1.xml" Id="Rc5602624ae3a4de6" /><Relationship Type="http://schemas.openxmlformats.org/officeDocument/2006/relationships/slideLayout" Target="/ppt/slideLayouts/slideLayout2.xml" Id="Rc412d6547a424f03" /><Relationship Type="http://schemas.openxmlformats.org/officeDocument/2006/relationships/slideLayout" Target="/ppt/slideLayouts/slideLayout3.xml" Id="Re005d176293c4fd7" /><Relationship Type="http://schemas.openxmlformats.org/officeDocument/2006/relationships/slideLayout" Target="/ppt/slideLayouts/slideLayout4.xml" Id="R9f22d9007d0e491f" /><Relationship Type="http://schemas.openxmlformats.org/officeDocument/2006/relationships/slideLayout" Target="/ppt/slideLayouts/slideLayout5.xml" Id="R228ed3af35ee4ea0" /><Relationship Type="http://schemas.openxmlformats.org/officeDocument/2006/relationships/slideLayout" Target="/ppt/slideLayouts/slideLayout6.xml" Id="R237e9cf5937940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602624ae3a4de6"/>
    <p:sldLayoutId xmlns:r="http://schemas.openxmlformats.org/officeDocument/2006/relationships" id="2147483650" r:id="Rc412d6547a424f03"/>
    <p:sldLayoutId xmlns:r="http://schemas.openxmlformats.org/officeDocument/2006/relationships" id="2147483651" r:id="Re005d176293c4fd7"/>
    <p:sldLayoutId xmlns:r="http://schemas.openxmlformats.org/officeDocument/2006/relationships" id="2147483652" r:id="R9f22d9007d0e491f"/>
    <p:sldLayoutId xmlns:r="http://schemas.openxmlformats.org/officeDocument/2006/relationships" id="2147483653" r:id="R228ed3af35ee4ea0"/>
    <p:sldLayoutId xmlns:r="http://schemas.openxmlformats.org/officeDocument/2006/relationships" id="2147483654" r:id="R237e9cf5937940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91d32e7242e4e17" /><Relationship Type="http://schemas.openxmlformats.org/officeDocument/2006/relationships/image" Target="/ppt/media/image.jpeg" Id="R8bad6142408d47c1" /><Relationship Type="http://schemas.openxmlformats.org/officeDocument/2006/relationships/notesSlide" Target="/ppt/notesSlides/notesSlide1.xml" Id="Rfc577cea585f40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e75814e11fa4c39" /><Relationship Type="http://schemas.openxmlformats.org/officeDocument/2006/relationships/image" Target="/ppt/media/image2.jpeg" Id="R608074f1ce444d6d" /><Relationship Type="http://schemas.openxmlformats.org/officeDocument/2006/relationships/notesSlide" Target="/ppt/notesSlides/notesSlide2.xml" Id="R3db4300148074f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804ac148f474881" /><Relationship Type="http://schemas.openxmlformats.org/officeDocument/2006/relationships/image" Target="/ppt/media/image3.jpeg" Id="Rf4253f8398b84d33" /><Relationship Type="http://schemas.openxmlformats.org/officeDocument/2006/relationships/notesSlide" Target="/ppt/notesSlides/notesSlide3.xml" Id="R34813488396142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43f052713ad4856" /><Relationship Type="http://schemas.openxmlformats.org/officeDocument/2006/relationships/image" Target="/ppt/media/image4.jpeg" Id="Rb4ea0a85c20e4cdb" /><Relationship Type="http://schemas.openxmlformats.org/officeDocument/2006/relationships/notesSlide" Target="/ppt/notesSlides/notesSlide4.xml" Id="R7c4ab8453d8944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70b4dbe3baf4030" /><Relationship Type="http://schemas.openxmlformats.org/officeDocument/2006/relationships/image" Target="/ppt/media/image5.jpeg" Id="Rf753c1e43ae448d4" /><Relationship Type="http://schemas.openxmlformats.org/officeDocument/2006/relationships/notesSlide" Target="/ppt/notesSlides/notesSlide5.xml" Id="R4c9386b03f2d42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8f833452a7142f3" /><Relationship Type="http://schemas.openxmlformats.org/officeDocument/2006/relationships/image" Target="/ppt/media/image6.jpeg" Id="R1b679f9981224f0e" /><Relationship Type="http://schemas.openxmlformats.org/officeDocument/2006/relationships/notesSlide" Target="/ppt/notesSlides/notesSlide6.xml" Id="Rac4fa0aa9a2e40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53418746dfd41f9" /><Relationship Type="http://schemas.openxmlformats.org/officeDocument/2006/relationships/image" Target="/ppt/media/image7.jpeg" Id="Rddcb1d4eba6c4055" /><Relationship Type="http://schemas.openxmlformats.org/officeDocument/2006/relationships/notesSlide" Target="/ppt/notesSlides/notesSlide7.xml" Id="Rcdd64ce7380c42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ed202bc9202459b" /><Relationship Type="http://schemas.openxmlformats.org/officeDocument/2006/relationships/image" Target="/ppt/media/image8.jpeg" Id="Rae1ee7f07b5b4189" /><Relationship Type="http://schemas.openxmlformats.org/officeDocument/2006/relationships/notesSlide" Target="/ppt/notesSlides/notesSlide8.xml" Id="R1c6ae99b4bda43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db104b4faf14486" /><Relationship Type="http://schemas.openxmlformats.org/officeDocument/2006/relationships/image" Target="/ppt/media/image9.jpeg" Id="R2e87d2c857ad4cf9" /><Relationship Type="http://schemas.openxmlformats.org/officeDocument/2006/relationships/notesSlide" Target="/ppt/notesSlides/notesSlide9.xml" Id="Rcdc2f94d68dd413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c65023dc6a743c4" /><Relationship Type="http://schemas.openxmlformats.org/officeDocument/2006/relationships/image" Target="/ppt/media/image10.jpeg" Id="Rf0af5c8499394f24" /><Relationship Type="http://schemas.openxmlformats.org/officeDocument/2006/relationships/notesSlide" Target="/ppt/notesSlides/notesSlide10.xml" Id="R1a56f49fbe334d2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9806c4ca03a4659" /><Relationship Type="http://schemas.openxmlformats.org/officeDocument/2006/relationships/image" Target="/ppt/media/image11.jpeg" Id="Ra75002b1d1ad4d62" /><Relationship Type="http://schemas.openxmlformats.org/officeDocument/2006/relationships/notesSlide" Target="/ppt/notesSlides/notesSlide11.xml" Id="R82caaf77a1f947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553e1cbdb8a41cc" /><Relationship Type="http://schemas.openxmlformats.org/officeDocument/2006/relationships/image" Target="/ppt/media/image12.jpeg" Id="R4af6095f66c6485f" /><Relationship Type="http://schemas.openxmlformats.org/officeDocument/2006/relationships/notesSlide" Target="/ppt/notesSlides/notesSlide12.xml" Id="R1f57891bd59f4e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5d31140e4bf42a8" /><Relationship Type="http://schemas.openxmlformats.org/officeDocument/2006/relationships/image" Target="/ppt/media/image13.jpeg" Id="Ra0e8a88e143e4849" /><Relationship Type="http://schemas.openxmlformats.org/officeDocument/2006/relationships/notesSlide" Target="/ppt/notesSlides/notesSlide13.xml" Id="R36eebc330de64f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7af360a127c409d" /><Relationship Type="http://schemas.openxmlformats.org/officeDocument/2006/relationships/image" Target="/ppt/media/image14.jpeg" Id="R197818b1a2b3427b" /><Relationship Type="http://schemas.openxmlformats.org/officeDocument/2006/relationships/notesSlide" Target="/ppt/notesSlides/notesSlide14.xml" Id="R5b586e10c7f944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e92ff22ca164f3b" /><Relationship Type="http://schemas.openxmlformats.org/officeDocument/2006/relationships/image" Target="/ppt/media/image15.jpeg" Id="R80f604038ffd4e08" /><Relationship Type="http://schemas.openxmlformats.org/officeDocument/2006/relationships/notesSlide" Target="/ppt/notesSlides/notesSlide15.xml" Id="R6d01b681777b4b4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4351668dc964630" /><Relationship Type="http://schemas.openxmlformats.org/officeDocument/2006/relationships/image" Target="/ppt/media/image16.jpeg" Id="R5f7f440bb45548e4" /><Relationship Type="http://schemas.openxmlformats.org/officeDocument/2006/relationships/notesSlide" Target="/ppt/notesSlides/notesSlide16.xml" Id="Rb359180707ca4c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37ae8727ba34d59" /><Relationship Type="http://schemas.openxmlformats.org/officeDocument/2006/relationships/image" Target="/ppt/media/image17.jpeg" Id="R0a882e92d69a412d" /><Relationship Type="http://schemas.openxmlformats.org/officeDocument/2006/relationships/notesSlide" Target="/ppt/notesSlides/notesSlide17.xml" Id="R04333dd5a3e9408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ff0f6c5af4f4302" /><Relationship Type="http://schemas.openxmlformats.org/officeDocument/2006/relationships/image" Target="/ppt/media/image18.jpeg" Id="R9db31bf16af445b9" /><Relationship Type="http://schemas.openxmlformats.org/officeDocument/2006/relationships/notesSlide" Target="/ppt/notesSlides/notesSlide18.xml" Id="R0a3b54e3727949c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c2c095ddefc4ff5" /><Relationship Type="http://schemas.openxmlformats.org/officeDocument/2006/relationships/image" Target="/ppt/media/image19.jpeg" Id="R64f01be825ca46c7" /><Relationship Type="http://schemas.openxmlformats.org/officeDocument/2006/relationships/notesSlide" Target="/ppt/notesSlides/notesSlide19.xml" Id="Rfe4fc7eda39d459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48f3bc9320e484b" /><Relationship Type="http://schemas.openxmlformats.org/officeDocument/2006/relationships/image" Target="/ppt/media/image20.jpeg" Id="Rd9d27b7fece74743" /><Relationship Type="http://schemas.openxmlformats.org/officeDocument/2006/relationships/hyperlink" Target="https://developer.android.com/topic/architecture" TargetMode="External" Id="R272a516e435f49eb" /><Relationship Type="http://schemas.openxmlformats.org/officeDocument/2006/relationships/hyperlink" Target="https://developer.android.com/training/dependency-injection" TargetMode="External" Id="R192df5d0845b4820" /><Relationship Type="http://schemas.openxmlformats.org/officeDocument/2006/relationships/hyperlink" Target="https://learn.microsoft.com/en-us/dotnet/architecture/maui/mvvm" TargetMode="External" Id="Rc9c4c62b2f064477" /><Relationship Type="http://schemas.openxmlformats.org/officeDocument/2006/relationships/hyperlink" Target="https://martinfowler.com/eaaCatalog/" TargetMode="External" Id="R7d355f477a9244e9" /><Relationship Type="http://schemas.openxmlformats.org/officeDocument/2006/relationships/hyperlink" Target="https://www.sqlite.org/docs.html" TargetMode="External" Id="Rf68e1749ccd1498e" /><Relationship Type="http://schemas.openxmlformats.org/officeDocument/2006/relationships/hyperlink" Target="https://developer.android.com/training/data-storage/room" TargetMode="External" Id="Rb11cdf20d1e843d7" /><Relationship Type="http://schemas.openxmlformats.org/officeDocument/2006/relationships/notesSlide" Target="/ppt/notesSlides/notesSlide20.xml" Id="Reba82cc268584f0a" /></Relationships>
</file>

<file path=ppt/slides/slide1.xml><?xml version="1.0" encoding="utf-8"?>
<p:sld xmlns:p="http://schemas.openxmlformats.org/presentationml/2006/main">
  <p:cSld>
    <p:bg>
      <p:bgPr>
        <a:solidFill xmlns:a="http://schemas.openxmlformats.org/drawingml/2006/main">
          <a:srgbClr val="102D3C"/>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22718D1-415A-4DB7-A6A5-AFC4C1C31DEF}"/>
              </a:ext>
            </a:extLst>
          </p:cNvPr>
          <p:cNvPicPr>
            <a:picLocks xmlns:a="http://schemas.openxmlformats.org/drawingml/2006/main" noChangeAspect="1"/>
          </p:cNvPicPr>
          <p:nvPr/>
        </p:nvPicPr>
        <p:blipFill>
          <a:blip xmlns:r="http://schemas.openxmlformats.org/officeDocument/2006/relationships" xmlns:a="http://schemas.openxmlformats.org/drawingml/2006/main" r:embed="R8bad6142408d47c1"/>
          <a:srcRect xmlns:a="http://schemas.openxmlformats.org/drawingml/2006/main" l="2922" t="0" r="2922" b="0"/>
          <a:stretch xmlns:a="http://schemas.openxmlformats.org/drawingml/2006/main">
            <a:fillRect l="0" t="0" r="0" b="0"/>
          </a:stretch>
        </p:blipFill>
        <p:spPr>
          <a:xfrm xmlns:a="http://schemas.openxmlformats.org/drawingml/2006/main">
            <a:off x="11334750" y="800100"/>
            <a:ext cx="6115050" cy="81153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CB1461EA-351A-47D5-BDBC-829B5F0C05B5}"/>
              </a:ext>
            </a:extLst>
          </p:cNvPr>
          <p:cNvSpPr>
            <a:spLocks xmlns:a="http://schemas.openxmlformats.org/drawingml/2006/main" noGrp="1"/>
          </p:cNvSpPr>
          <p:nvPr/>
        </p:nvSpPr>
        <p:spPr>
          <a:xfrm xmlns:a="http://schemas.openxmlformats.org/drawingml/2006/main">
            <a:off x="11334750" y="912495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BDD1D8"/>
                </a:solidFill>
                <a:latin typeface="Nimbus Sans"/>
                <a:ea typeface="Nimbus Sans"/>
                <a:cs typeface="Nimbus Sans"/>
              </a:defRPr>
            </a:defPPr>
          </a:lstStyle>
          <a:p xmlns:a="http://schemas.openxmlformats.org/drawingml/2006/main">
            <a:pPr algn="l">
              <a:defRPr sz="1800" b="0">
                <a:solidFill>
                  <a:srgbClr val="BDD1D8"/>
                </a:solidFill>
                <a:latin typeface="Nimbus Sans"/>
                <a:ea typeface="Nimbus Sans"/>
                <a:cs typeface="Nimbus Sans"/>
              </a:defRPr>
            </a:pPr>
            <a:r>
              <a:rPr sz="1800" b="0">
                <a:solidFill>
                  <a:srgbClr val="BDD1D8"/>
                </a:solidFill>
                <a:latin typeface="Nimbus Sans"/>
                <a:ea typeface="Nimbus Sans"/>
                <a:cs typeface="Nimbus Sans"/>
              </a:rPr>
              <a:t>Una aplicación móvil combina interfaz, lógica y persistencia.</a:t>
            </a:r>
          </a:p>
        </p:txBody>
      </p:sp>
      <p:sp>
        <p:nvSpPr>
          <p:cNvPr id="3" name="folio">
            <a:extLst xmlns:a="http://schemas.openxmlformats.org/drawingml/2006/main">
              <a:ext uri="{FF2B5EF4-FFF2-40B4-BE49-F238E27FC236}">
                <a16:creationId xmlns:a16="http://schemas.microsoft.com/office/drawing/2014/main" id="{CFF4C2B9-7B31-4F8F-BA9B-98FD4ECB8EE0}"/>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C7D6DC"/>
                </a:solidFill>
                <a:latin typeface="Nimbus Sans"/>
                <a:ea typeface="Nimbus Sans"/>
                <a:cs typeface="Nimbus Sans"/>
              </a:defRPr>
            </a:defPPr>
          </a:lstStyle>
          <a:p xmlns:a="http://schemas.openxmlformats.org/drawingml/2006/main">
            <a:pPr algn="l">
              <a:defRPr sz="1875" b="1">
                <a:solidFill>
                  <a:srgbClr val="C7D6DC"/>
                </a:solidFill>
                <a:latin typeface="Nimbus Sans"/>
                <a:ea typeface="Nimbus Sans"/>
                <a:cs typeface="Nimbus Sans"/>
              </a:defRPr>
            </a:pPr>
            <a:r>
              <a:rPr sz="1875" b="1">
                <a:solidFill>
                  <a:srgbClr val="C7D6DC"/>
                </a:solidFill>
                <a:latin typeface="Nimbus Sans"/>
                <a:ea typeface="Nimbus Sans"/>
                <a:cs typeface="Nimbus Sans"/>
              </a:rPr>
              <a:t>1</a:t>
            </a:r>
          </a:p>
        </p:txBody>
      </p:sp>
      <p:sp>
        <p:nvSpPr>
          <p:cNvPr id="4" name="unit">
            <a:extLst xmlns:a="http://schemas.openxmlformats.org/drawingml/2006/main">
              <a:ext uri="{FF2B5EF4-FFF2-40B4-BE49-F238E27FC236}">
                <a16:creationId xmlns:a16="http://schemas.microsoft.com/office/drawing/2014/main" id="{906F7D76-AF14-47FF-95AD-2B7F560C2A22}"/>
              </a:ext>
            </a:extLst>
          </p:cNvPr>
          <p:cNvSpPr>
            <a:spLocks xmlns:a="http://schemas.openxmlformats.org/drawingml/2006/main" noGrp="1"/>
          </p:cNvSpPr>
          <p:nvPr/>
        </p:nvSpPr>
        <p:spPr>
          <a:xfrm xmlns:a="http://schemas.openxmlformats.org/drawingml/2006/main">
            <a:off x="838200" y="1123950"/>
            <a:ext cx="1000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5DD1CB"/>
                </a:solidFill>
                <a:latin typeface="Nimbus Sans"/>
                <a:ea typeface="Nimbus Sans"/>
                <a:cs typeface="Nimbus Sans"/>
              </a:defRPr>
            </a:defPPr>
          </a:lstStyle>
          <a:p xmlns:a="http://schemas.openxmlformats.org/drawingml/2006/main">
            <a:pPr algn="l">
              <a:defRPr sz="2325" b="1">
                <a:solidFill>
                  <a:srgbClr val="5DD1CB"/>
                </a:solidFill>
                <a:latin typeface="Nimbus Sans"/>
                <a:ea typeface="Nimbus Sans"/>
                <a:cs typeface="Nimbus Sans"/>
              </a:defRPr>
            </a:pPr>
            <a:r>
              <a:rPr sz="2325" b="1">
                <a:solidFill>
                  <a:srgbClr val="5DD1CB"/>
                </a:solidFill>
                <a:latin typeface="Nimbus Sans"/>
                <a:ea typeface="Nimbus Sans"/>
                <a:cs typeface="Nimbus Sans"/>
              </a:rPr>
              <a:t>TALLER DE SOFTWARE MÓVIL</a:t>
            </a:r>
          </a:p>
        </p:txBody>
      </p:sp>
      <p:sp>
        <p:nvSpPr>
          <p:cNvPr id="5" name="cover-title">
            <a:extLst xmlns:a="http://schemas.openxmlformats.org/drawingml/2006/main">
              <a:ext uri="{FF2B5EF4-FFF2-40B4-BE49-F238E27FC236}">
                <a16:creationId xmlns:a16="http://schemas.microsoft.com/office/drawing/2014/main" id="{840FEA5D-89D2-4082-907F-EA30F54CDA7A}"/>
              </a:ext>
            </a:extLst>
          </p:cNvPr>
          <p:cNvSpPr>
            <a:spLocks xmlns:a="http://schemas.openxmlformats.org/drawingml/2006/main" noGrp="1"/>
          </p:cNvSpPr>
          <p:nvPr/>
        </p:nvSpPr>
        <p:spPr>
          <a:xfrm xmlns:a="http://schemas.openxmlformats.org/drawingml/2006/main">
            <a:off x="838200" y="2714625"/>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900" b="1">
                <a:solidFill>
                  <a:srgbClr val="FFFFFF"/>
                </a:solidFill>
                <a:latin typeface="Nimbus Sans"/>
                <a:ea typeface="Nimbus Sans"/>
                <a:cs typeface="Nimbus Sans"/>
              </a:defRPr>
            </a:defPPr>
          </a:lstStyle>
          <a:p xmlns:a="http://schemas.openxmlformats.org/drawingml/2006/main">
            <a:pPr algn="l">
              <a:defRPr sz="6900" b="1">
                <a:solidFill>
                  <a:srgbClr val="FFFFFF"/>
                </a:solidFill>
                <a:latin typeface="Nimbus Sans"/>
                <a:ea typeface="Nimbus Sans"/>
                <a:cs typeface="Nimbus Sans"/>
              </a:defRPr>
            </a:pPr>
            <a:r>
              <a:rPr sz="6900" b="1">
                <a:solidFill>
                  <a:srgbClr val="FFFFFF"/>
                </a:solidFill>
                <a:latin typeface="Nimbus Sans"/>
                <a:ea typeface="Nimbus Sans"/>
                <a:cs typeface="Nimbus Sans"/>
              </a:rPr>
              <a:t>Diseño de</a:t>
            </a:r>
          </a:p>
          <a:p xmlns:a="http://schemas.openxmlformats.org/drawingml/2006/main">
            <a:pPr algn="l">
              <a:defRPr sz="6900" b="1">
                <a:solidFill>
                  <a:srgbClr val="FFFFFF"/>
                </a:solidFill>
                <a:latin typeface="Nimbus Sans"/>
                <a:ea typeface="Nimbus Sans"/>
                <a:cs typeface="Nimbus Sans"/>
              </a:defRPr>
            </a:pPr>
            <a:r>
              <a:rPr sz="6900" b="1">
                <a:solidFill>
                  <a:srgbClr val="FFFFFF"/>
                </a:solidFill>
                <a:latin typeface="Nimbus Sans"/>
                <a:ea typeface="Nimbus Sans"/>
                <a:cs typeface="Nimbus Sans"/>
              </a:rPr>
              <a:t>software móvil I</a:t>
            </a:r>
          </a:p>
        </p:txBody>
      </p:sp>
      <p:sp>
        <p:nvSpPr>
          <p:cNvPr id="6" name="cover-subtitle">
            <a:extLst xmlns:a="http://schemas.openxmlformats.org/drawingml/2006/main">
              <a:ext uri="{FF2B5EF4-FFF2-40B4-BE49-F238E27FC236}">
                <a16:creationId xmlns:a16="http://schemas.microsoft.com/office/drawing/2014/main" id="{0E826694-86AC-4A81-9E0F-A8CC191ED8B2}"/>
              </a:ext>
            </a:extLst>
          </p:cNvPr>
          <p:cNvSpPr>
            <a:spLocks xmlns:a="http://schemas.openxmlformats.org/drawingml/2006/main" noGrp="1"/>
          </p:cNvSpPr>
          <p:nvPr/>
        </p:nvSpPr>
        <p:spPr>
          <a:xfrm xmlns:a="http://schemas.openxmlformats.org/drawingml/2006/main">
            <a:off x="838200" y="5857875"/>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0">
                <a:solidFill>
                  <a:srgbClr val="D5E2E5"/>
                </a:solidFill>
                <a:latin typeface="Nimbus Sans"/>
                <a:ea typeface="Nimbus Sans"/>
                <a:cs typeface="Nimbus Sans"/>
              </a:defRPr>
            </a:defPPr>
          </a:lstStyle>
          <a:p xmlns:a="http://schemas.openxmlformats.org/drawingml/2006/main">
            <a:pPr algn="l">
              <a:defRPr sz="3150" b="0">
                <a:solidFill>
                  <a:srgbClr val="D5E2E5"/>
                </a:solidFill>
                <a:latin typeface="Nimbus Sans"/>
                <a:ea typeface="Nimbus Sans"/>
                <a:cs typeface="Nimbus Sans"/>
              </a:defRPr>
            </a:pPr>
            <a:r>
              <a:rPr sz="3150" b="0">
                <a:solidFill>
                  <a:srgbClr val="D5E2E5"/>
                </a:solidFill>
                <a:latin typeface="Nimbus Sans"/>
                <a:ea typeface="Nimbus Sans"/>
                <a:cs typeface="Nimbus Sans"/>
              </a:rPr>
              <a:t>Arquitectura del software móvil</a:t>
            </a:r>
          </a:p>
          <a:p xmlns:a="http://schemas.openxmlformats.org/drawingml/2006/main">
            <a:pPr algn="l">
              <a:defRPr sz="3150" b="0">
                <a:solidFill>
                  <a:srgbClr val="D5E2E5"/>
                </a:solidFill>
                <a:latin typeface="Nimbus Sans"/>
                <a:ea typeface="Nimbus Sans"/>
                <a:cs typeface="Nimbus Sans"/>
              </a:defRPr>
            </a:pPr>
            <a:r>
              <a:rPr sz="3150" b="0">
                <a:solidFill>
                  <a:srgbClr val="D5E2E5"/>
                </a:solidFill>
                <a:latin typeface="Nimbus Sans"/>
                <a:ea typeface="Nimbus Sans"/>
                <a:cs typeface="Nimbus Sans"/>
              </a:rPr>
              <a:t>Patrones de frontend y backend</a:t>
            </a:r>
          </a:p>
          <a:p xmlns:a="http://schemas.openxmlformats.org/drawingml/2006/main">
            <a:pPr algn="l">
              <a:defRPr sz="3150" b="0">
                <a:solidFill>
                  <a:srgbClr val="D5E2E5"/>
                </a:solidFill>
                <a:latin typeface="Nimbus Sans"/>
                <a:ea typeface="Nimbus Sans"/>
                <a:cs typeface="Nimbus Sans"/>
              </a:defRPr>
            </a:pPr>
            <a:r>
              <a:rPr sz="3150" b="0">
                <a:solidFill>
                  <a:srgbClr val="D5E2E5"/>
                </a:solidFill>
                <a:latin typeface="Nimbus Sans"/>
                <a:ea typeface="Nimbus Sans"/>
                <a:cs typeface="Nimbus Sans"/>
              </a:rPr>
              <a:t>Bases de datos con SQLite</a:t>
            </a:r>
          </a:p>
        </p:txBody>
      </p:sp>
      <p:sp>
        <p:nvSpPr>
          <p:cNvPr id="7" name="course">
            <a:extLst xmlns:a="http://schemas.openxmlformats.org/drawingml/2006/main">
              <a:ext uri="{FF2B5EF4-FFF2-40B4-BE49-F238E27FC236}">
                <a16:creationId xmlns:a16="http://schemas.microsoft.com/office/drawing/2014/main" id="{42CB6673-D9B0-4143-A514-752BD1283B65}"/>
              </a:ext>
            </a:extLst>
          </p:cNvPr>
          <p:cNvSpPr>
            <a:spLocks xmlns:a="http://schemas.openxmlformats.org/drawingml/2006/main" noGrp="1"/>
          </p:cNvSpPr>
          <p:nvPr/>
        </p:nvSpPr>
        <p:spPr>
          <a:xfrm xmlns:a="http://schemas.openxmlformats.org/drawingml/2006/main">
            <a:off x="838200" y="88963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FFFFFF"/>
                </a:solidFill>
                <a:latin typeface="Nimbus Sans"/>
                <a:ea typeface="Nimbus Sans"/>
                <a:cs typeface="Nimbus Sans"/>
              </a:defRPr>
            </a:defPPr>
          </a:lstStyle>
          <a:p xmlns:a="http://schemas.openxmlformats.org/drawingml/2006/main">
            <a:pPr algn="l">
              <a:defRPr sz="2475" b="0">
                <a:solidFill>
                  <a:srgbClr val="FFFFFF"/>
                </a:solidFill>
                <a:latin typeface="Nimbus Sans"/>
                <a:ea typeface="Nimbus Sans"/>
                <a:cs typeface="Nimbus Sans"/>
              </a:defRPr>
            </a:pPr>
            <a:r>
              <a:rPr sz="2475" b="0">
                <a:solidFill>
                  <a:srgbClr val="FFFFFF"/>
                </a:solidFill>
                <a:latin typeface="Nimbus Sans"/>
                <a:ea typeface="Nimbus Sans"/>
                <a:cs typeface="Nimbus Sans"/>
              </a:rPr>
              <a:t>Taller de software móvil</a:t>
            </a:r>
          </a:p>
        </p:txBody>
      </p:sp>
    </p:spTree>
    <p:extLst>
      <p:ext uri="{BB962C8B-B14F-4D97-AF65-F5344CB8AC3E}">
        <p14:creationId xmlns:p14="http://schemas.microsoft.com/office/powerpoint/2010/main" val="1720608311"/>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D57BEFE-A640-4438-8D83-771E5BAAAB2D}"/>
              </a:ext>
            </a:extLst>
          </p:cNvPr>
          <p:cNvPicPr>
            <a:picLocks xmlns:a="http://schemas.openxmlformats.org/drawingml/2006/main" noChangeAspect="1"/>
          </p:cNvPicPr>
          <p:nvPr/>
        </p:nvPicPr>
        <p:blipFill>
          <a:blip xmlns:r="http://schemas.openxmlformats.org/officeDocument/2006/relationships" xmlns:a="http://schemas.openxmlformats.org/drawingml/2006/main" r:embed="R608074f1ce444d6d"/>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C9C0E807-5475-4786-8D00-EBAF66D193C7}"/>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CampusTareas permite relacionar todos los temas con el</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mismo problema.</a:t>
            </a:r>
          </a:p>
        </p:txBody>
      </p:sp>
      <p:sp>
        <p:nvSpPr>
          <p:cNvPr id="3" name="folio">
            <a:extLst xmlns:a="http://schemas.openxmlformats.org/drawingml/2006/main">
              <a:ext uri="{FF2B5EF4-FFF2-40B4-BE49-F238E27FC236}">
                <a16:creationId xmlns:a16="http://schemas.microsoft.com/office/drawing/2014/main" id="{F8A26A61-0CC9-49DB-9D75-03D8A5732C3F}"/>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2</a:t>
            </a:r>
          </a:p>
        </p:txBody>
      </p:sp>
      <p:sp>
        <p:nvSpPr>
          <p:cNvPr id="4" name="unit">
            <a:extLst xmlns:a="http://schemas.openxmlformats.org/drawingml/2006/main">
              <a:ext uri="{FF2B5EF4-FFF2-40B4-BE49-F238E27FC236}">
                <a16:creationId xmlns:a16="http://schemas.microsoft.com/office/drawing/2014/main" id="{8B5D9279-984C-4F30-B1F8-BA43C9E68E9A}"/>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14B0B023-5AD0-480C-80A6-63CD1CF8AF54}"/>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Propósito y caso guía</a:t>
            </a:r>
          </a:p>
        </p:txBody>
      </p:sp>
      <p:sp>
        <p:nvSpPr>
          <p:cNvPr id="6" name="source">
            <a:extLst xmlns:a="http://schemas.openxmlformats.org/drawingml/2006/main">
              <a:ext uri="{FF2B5EF4-FFF2-40B4-BE49-F238E27FC236}">
                <a16:creationId xmlns:a16="http://schemas.microsoft.com/office/drawing/2014/main" id="{EAE3F89F-1A13-49B5-9614-EA3A4E98065E}"/>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Caso ficticio propuesto para la sesión</a:t>
            </a:r>
          </a:p>
        </p:txBody>
      </p:sp>
      <p:sp>
        <p:nvSpPr>
          <p:cNvPr id="7" name="label-0">
            <a:extLst xmlns:a="http://schemas.openxmlformats.org/drawingml/2006/main">
              <a:ext uri="{FF2B5EF4-FFF2-40B4-BE49-F238E27FC236}">
                <a16:creationId xmlns:a16="http://schemas.microsoft.com/office/drawing/2014/main" id="{A0B1DA71-B040-4B07-BED1-78780308B6DB}"/>
              </a:ext>
            </a:extLst>
          </p:cNvPr>
          <p:cNvSpPr>
            <a:spLocks xmlns:a="http://schemas.openxmlformats.org/drawingml/2006/main" noGrp="1"/>
          </p:cNvSpPr>
          <p:nvPr/>
        </p:nvSpPr>
        <p:spPr>
          <a:xfrm xmlns:a="http://schemas.openxmlformats.org/drawingml/2006/main">
            <a:off x="838200" y="2667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Logro de la sesión</a:t>
            </a:r>
          </a:p>
        </p:txBody>
      </p:sp>
      <p:sp>
        <p:nvSpPr>
          <p:cNvPr id="8" name="body-0">
            <a:extLst xmlns:a="http://schemas.openxmlformats.org/drawingml/2006/main">
              <a:ext uri="{FF2B5EF4-FFF2-40B4-BE49-F238E27FC236}">
                <a16:creationId xmlns:a16="http://schemas.microsoft.com/office/drawing/2014/main" id="{3113D8B2-6F54-4797-8239-ED4A76A9FB54}"/>
              </a:ext>
            </a:extLst>
          </p:cNvPr>
          <p:cNvSpPr>
            <a:spLocks xmlns:a="http://schemas.openxmlformats.org/drawingml/2006/main" noGrp="1"/>
          </p:cNvSpPr>
          <p:nvPr/>
        </p:nvSpPr>
        <p:spPr>
          <a:xfrm xmlns:a="http://schemas.openxmlformats.org/drawingml/2006/main">
            <a:off x="838200" y="31242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Al finalizar, el estudiante propone una arquitectura móvil, justifica los</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patrones que emplea y diseña una base de datos SQLite con</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relaciones y restricciones coherentes con los requisitos.</a:t>
            </a:r>
          </a:p>
        </p:txBody>
      </p:sp>
      <p:sp>
        <p:nvSpPr>
          <p:cNvPr id="9" name="label-1">
            <a:extLst xmlns:a="http://schemas.openxmlformats.org/drawingml/2006/main">
              <a:ext uri="{FF2B5EF4-FFF2-40B4-BE49-F238E27FC236}">
                <a16:creationId xmlns:a16="http://schemas.microsoft.com/office/drawing/2014/main" id="{5850A3B8-26E7-495F-98BD-A16740797F0F}"/>
              </a:ext>
            </a:extLst>
          </p:cNvPr>
          <p:cNvSpPr>
            <a:spLocks xmlns:a="http://schemas.openxmlformats.org/drawingml/2006/main" noGrp="1"/>
          </p:cNvSpPr>
          <p:nvPr/>
        </p:nvSpPr>
        <p:spPr>
          <a:xfrm xmlns:a="http://schemas.openxmlformats.org/drawingml/2006/main">
            <a:off x="838200" y="45910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Caso didáctico: CampusTareas</a:t>
            </a:r>
          </a:p>
        </p:txBody>
      </p:sp>
      <p:sp>
        <p:nvSpPr>
          <p:cNvPr id="10" name="body-1">
            <a:extLst xmlns:a="http://schemas.openxmlformats.org/drawingml/2006/main">
              <a:ext uri="{FF2B5EF4-FFF2-40B4-BE49-F238E27FC236}">
                <a16:creationId xmlns:a16="http://schemas.microsoft.com/office/drawing/2014/main" id="{25FC9133-8D67-44D5-9A66-A4AD6E6E2288}"/>
              </a:ext>
            </a:extLst>
          </p:cNvPr>
          <p:cNvSpPr>
            <a:spLocks xmlns:a="http://schemas.openxmlformats.org/drawingml/2006/main" noGrp="1"/>
          </p:cNvSpPr>
          <p:nvPr/>
        </p:nvSpPr>
        <p:spPr>
          <a:xfrm xmlns:a="http://schemas.openxmlformats.org/drawingml/2006/main">
            <a:off x="838200" y="5048250"/>
            <a:ext cx="990600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Un estudiante registra cursos y tareas, consulta sus pendientes y</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marca actividades completadas. La aplicación debe guardar los</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cambios sin conexión y comunicar cuándo logra sincronizarlos con el</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servidor.</a:t>
            </a:r>
          </a:p>
        </p:txBody>
      </p:sp>
      <p:sp>
        <p:nvSpPr>
          <p:cNvPr id="11" name="label-2">
            <a:extLst xmlns:a="http://schemas.openxmlformats.org/drawingml/2006/main">
              <a:ext uri="{FF2B5EF4-FFF2-40B4-BE49-F238E27FC236}">
                <a16:creationId xmlns:a16="http://schemas.microsoft.com/office/drawing/2014/main" id="{B19D4B3D-A15E-4E54-A61C-4EE41B0A6D9C}"/>
              </a:ext>
            </a:extLst>
          </p:cNvPr>
          <p:cNvSpPr>
            <a:spLocks xmlns:a="http://schemas.openxmlformats.org/drawingml/2006/main" noGrp="1"/>
          </p:cNvSpPr>
          <p:nvPr/>
        </p:nvSpPr>
        <p:spPr>
          <a:xfrm xmlns:a="http://schemas.openxmlformats.org/drawingml/2006/main">
            <a:off x="838200" y="6905625"/>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Decisiones que se justificarán</a:t>
            </a:r>
          </a:p>
        </p:txBody>
      </p:sp>
      <p:sp>
        <p:nvSpPr>
          <p:cNvPr id="12" name="body-2">
            <a:extLst xmlns:a="http://schemas.openxmlformats.org/drawingml/2006/main">
              <a:ext uri="{FF2B5EF4-FFF2-40B4-BE49-F238E27FC236}">
                <a16:creationId xmlns:a16="http://schemas.microsoft.com/office/drawing/2014/main" id="{B56B9371-78F1-4673-B5E9-5709C329CBA9}"/>
              </a:ext>
            </a:extLst>
          </p:cNvPr>
          <p:cNvSpPr>
            <a:spLocks xmlns:a="http://schemas.openxmlformats.org/drawingml/2006/main" noGrp="1"/>
          </p:cNvSpPr>
          <p:nvPr/>
        </p:nvSpPr>
        <p:spPr>
          <a:xfrm xmlns:a="http://schemas.openxmlformats.org/drawingml/2006/main">
            <a:off x="838200" y="7362825"/>
            <a:ext cx="990600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El equipo explicará dónde coloca cada responsabilidad, cómo</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conserva los datos y qué ocurre si falla una operación. La evaluación</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revisará el comportamiento de la solución mediante escenarios</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concretos.</a:t>
            </a:r>
          </a:p>
        </p:txBody>
      </p:sp>
    </p:spTree>
    <p:extLst>
      <p:ext uri="{BB962C8B-B14F-4D97-AF65-F5344CB8AC3E}">
        <p14:creationId xmlns:p14="http://schemas.microsoft.com/office/powerpoint/2010/main" val="1276882972"/>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36285F8-9B42-442F-8D5B-123FA4E4C5E0}"/>
              </a:ext>
            </a:extLst>
          </p:cNvPr>
          <p:cNvPicPr>
            <a:picLocks xmlns:a="http://schemas.openxmlformats.org/drawingml/2006/main" noChangeAspect="1"/>
          </p:cNvPicPr>
          <p:nvPr/>
        </p:nvPicPr>
        <p:blipFill>
          <a:blip xmlns:r="http://schemas.openxmlformats.org/officeDocument/2006/relationships" xmlns:a="http://schemas.openxmlformats.org/drawingml/2006/main" r:embed="Rf4253f8398b84d33"/>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80BF5785-42DA-430C-B013-76295EFBD130}"/>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La movilidad exige conservar el trabajo ante interrupciones</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de red.</a:t>
            </a:r>
          </a:p>
        </p:txBody>
      </p:sp>
      <p:sp>
        <p:nvSpPr>
          <p:cNvPr id="3" name="folio">
            <a:extLst xmlns:a="http://schemas.openxmlformats.org/drawingml/2006/main">
              <a:ext uri="{FF2B5EF4-FFF2-40B4-BE49-F238E27FC236}">
                <a16:creationId xmlns:a16="http://schemas.microsoft.com/office/drawing/2014/main" id="{71AD65CF-83D9-4645-A496-F9189760CD15}"/>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3</a:t>
            </a:r>
          </a:p>
        </p:txBody>
      </p:sp>
      <p:sp>
        <p:nvSpPr>
          <p:cNvPr id="4" name="unit">
            <a:extLst xmlns:a="http://schemas.openxmlformats.org/drawingml/2006/main">
              <a:ext uri="{FF2B5EF4-FFF2-40B4-BE49-F238E27FC236}">
                <a16:creationId xmlns:a16="http://schemas.microsoft.com/office/drawing/2014/main" id="{ED31EC44-FE79-4BAB-B606-41677999497A}"/>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CEC57916-4296-4DB0-BA30-3F8FE5D20B15}"/>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Condiciones del entorno móvil</a:t>
            </a:r>
          </a:p>
        </p:txBody>
      </p:sp>
      <p:sp>
        <p:nvSpPr>
          <p:cNvPr id="6" name="source">
            <a:extLst xmlns:a="http://schemas.openxmlformats.org/drawingml/2006/main">
              <a:ext uri="{FF2B5EF4-FFF2-40B4-BE49-F238E27FC236}">
                <a16:creationId xmlns:a16="http://schemas.microsoft.com/office/drawing/2014/main" id="{C7C4F325-EB64-4D9B-8F54-2F45C00B1258}"/>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Fuentes: Android Developers, arquitectura y funcionamiento sin conexión</a:t>
            </a:r>
          </a:p>
        </p:txBody>
      </p:sp>
      <p:sp>
        <p:nvSpPr>
          <p:cNvPr id="7" name="label-0">
            <a:extLst xmlns:a="http://schemas.openxmlformats.org/drawingml/2006/main">
              <a:ext uri="{FF2B5EF4-FFF2-40B4-BE49-F238E27FC236}">
                <a16:creationId xmlns:a16="http://schemas.microsoft.com/office/drawing/2014/main" id="{57E84684-5530-40AF-AEB9-9EEE4EFB34F9}"/>
              </a:ext>
            </a:extLst>
          </p:cNvPr>
          <p:cNvSpPr>
            <a:spLocks xmlns:a="http://schemas.openxmlformats.org/drawingml/2006/main" noGrp="1"/>
          </p:cNvSpPr>
          <p:nvPr/>
        </p:nvSpPr>
        <p:spPr>
          <a:xfrm xmlns:a="http://schemas.openxmlformats.org/drawingml/2006/main">
            <a:off x="838200" y="2667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Conectividad variable</a:t>
            </a:r>
          </a:p>
        </p:txBody>
      </p:sp>
      <p:sp>
        <p:nvSpPr>
          <p:cNvPr id="8" name="body-0">
            <a:extLst xmlns:a="http://schemas.openxmlformats.org/drawingml/2006/main">
              <a:ext uri="{FF2B5EF4-FFF2-40B4-BE49-F238E27FC236}">
                <a16:creationId xmlns:a16="http://schemas.microsoft.com/office/drawing/2014/main" id="{592C2189-D14A-4A49-A617-7A536CBD399F}"/>
              </a:ext>
            </a:extLst>
          </p:cNvPr>
          <p:cNvSpPr>
            <a:spLocks xmlns:a="http://schemas.openxmlformats.org/drawingml/2006/main" noGrp="1"/>
          </p:cNvSpPr>
          <p:nvPr/>
        </p:nvSpPr>
        <p:spPr>
          <a:xfrm xmlns:a="http://schemas.openxmlformats.org/drawingml/2006/main">
            <a:off x="838200" y="31242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La red puede desaparecer durante una operación. La arquitectura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debe distinguir los cambios guardados en el dispositivo de los cambios</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que el servidor ya confirmó.</a:t>
            </a:r>
          </a:p>
        </p:txBody>
      </p:sp>
      <p:sp>
        <p:nvSpPr>
          <p:cNvPr id="9" name="label-1">
            <a:extLst xmlns:a="http://schemas.openxmlformats.org/drawingml/2006/main">
              <a:ext uri="{FF2B5EF4-FFF2-40B4-BE49-F238E27FC236}">
                <a16:creationId xmlns:a16="http://schemas.microsoft.com/office/drawing/2014/main" id="{9BD6F877-9FFA-4442-A943-430917620BB1}"/>
              </a:ext>
            </a:extLst>
          </p:cNvPr>
          <p:cNvSpPr>
            <a:spLocks xmlns:a="http://schemas.openxmlformats.org/drawingml/2006/main" noGrp="1"/>
          </p:cNvSpPr>
          <p:nvPr/>
        </p:nvSpPr>
        <p:spPr>
          <a:xfrm xmlns:a="http://schemas.openxmlformats.org/drawingml/2006/main">
            <a:off x="838200" y="45910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Ciclo de vida y recursos</a:t>
            </a:r>
          </a:p>
        </p:txBody>
      </p:sp>
      <p:sp>
        <p:nvSpPr>
          <p:cNvPr id="10" name="body-1">
            <a:extLst xmlns:a="http://schemas.openxmlformats.org/drawingml/2006/main">
              <a:ext uri="{FF2B5EF4-FFF2-40B4-BE49-F238E27FC236}">
                <a16:creationId xmlns:a16="http://schemas.microsoft.com/office/drawing/2014/main" id="{3E0ECDFC-ACEC-4288-ADAB-43AE4E8A8581}"/>
              </a:ext>
            </a:extLst>
          </p:cNvPr>
          <p:cNvSpPr>
            <a:spLocks xmlns:a="http://schemas.openxmlformats.org/drawingml/2006/main" noGrp="1"/>
          </p:cNvSpPr>
          <p:nvPr/>
        </p:nvSpPr>
        <p:spPr>
          <a:xfrm xmlns:a="http://schemas.openxmlformats.org/drawingml/2006/main">
            <a:off x="838200" y="504825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El sistema puede recrear una pantalla o terminar el proceso. El diseño</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considera recuperación de estado, almacenamiento persistente y</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operaciones que eviten bloquear la interacción.</a:t>
            </a:r>
          </a:p>
        </p:txBody>
      </p:sp>
      <p:sp>
        <p:nvSpPr>
          <p:cNvPr id="11" name="label-2">
            <a:extLst xmlns:a="http://schemas.openxmlformats.org/drawingml/2006/main">
              <a:ext uri="{FF2B5EF4-FFF2-40B4-BE49-F238E27FC236}">
                <a16:creationId xmlns:a16="http://schemas.microsoft.com/office/drawing/2014/main" id="{E93DCC2B-D51C-4AE4-8F06-835CF7E0EF51}"/>
              </a:ext>
            </a:extLst>
          </p:cNvPr>
          <p:cNvSpPr>
            <a:spLocks xmlns:a="http://schemas.openxmlformats.org/drawingml/2006/main" noGrp="1"/>
          </p:cNvSpPr>
          <p:nvPr/>
        </p:nvSpPr>
        <p:spPr>
          <a:xfrm xmlns:a="http://schemas.openxmlformats.org/drawingml/2006/main">
            <a:off x="838200" y="65151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Caso breve</a:t>
            </a:r>
          </a:p>
        </p:txBody>
      </p:sp>
      <p:sp>
        <p:nvSpPr>
          <p:cNvPr id="12" name="body-2">
            <a:extLst xmlns:a="http://schemas.openxmlformats.org/drawingml/2006/main">
              <a:ext uri="{FF2B5EF4-FFF2-40B4-BE49-F238E27FC236}">
                <a16:creationId xmlns:a16="http://schemas.microsoft.com/office/drawing/2014/main" id="{5B619087-B9AC-4B57-8699-8B525764780A}"/>
              </a:ext>
            </a:extLst>
          </p:cNvPr>
          <p:cNvSpPr>
            <a:spLocks xmlns:a="http://schemas.openxmlformats.org/drawingml/2006/main" noGrp="1"/>
          </p:cNvSpPr>
          <p:nvPr/>
        </p:nvSpPr>
        <p:spPr>
          <a:xfrm xmlns:a="http://schemas.openxmlformats.org/drawingml/2006/main">
            <a:off x="838200" y="69723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Una estudiante registra una tarea mientras viaja en tren. La aplicación</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confirma el guardado local y conserva el pendiente de sincronización.</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Al recuperar conexión, intenta enviarlo según la política definida.</a:t>
            </a:r>
          </a:p>
        </p:txBody>
      </p:sp>
    </p:spTree>
    <p:extLst>
      <p:ext uri="{BB962C8B-B14F-4D97-AF65-F5344CB8AC3E}">
        <p14:creationId xmlns:p14="http://schemas.microsoft.com/office/powerpoint/2010/main" val="1489424611"/>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E275D6A-8B8E-4A8B-8E6B-42DD0DBA2F36}"/>
              </a:ext>
            </a:extLst>
          </p:cNvPr>
          <p:cNvPicPr>
            <a:picLocks xmlns:a="http://schemas.openxmlformats.org/drawingml/2006/main" noChangeAspect="1"/>
          </p:cNvPicPr>
          <p:nvPr/>
        </p:nvPicPr>
        <p:blipFill>
          <a:blip xmlns:r="http://schemas.openxmlformats.org/officeDocument/2006/relationships" xmlns:a="http://schemas.openxmlformats.org/drawingml/2006/main" r:embed="Rb4ea0a85c20e4cdb"/>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7F7A5404-0EBB-4688-85DF-102DE51B6F9B}"/>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La organización del código ayuda a localizar cada</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responsabilidad.</a:t>
            </a:r>
          </a:p>
        </p:txBody>
      </p:sp>
      <p:sp>
        <p:nvSpPr>
          <p:cNvPr id="3" name="folio">
            <a:extLst xmlns:a="http://schemas.openxmlformats.org/drawingml/2006/main">
              <a:ext uri="{FF2B5EF4-FFF2-40B4-BE49-F238E27FC236}">
                <a16:creationId xmlns:a16="http://schemas.microsoft.com/office/drawing/2014/main" id="{10AD248B-AD91-49B5-A905-353206A9484C}"/>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4</a:t>
            </a:r>
          </a:p>
        </p:txBody>
      </p:sp>
      <p:sp>
        <p:nvSpPr>
          <p:cNvPr id="4" name="unit">
            <a:extLst xmlns:a="http://schemas.openxmlformats.org/drawingml/2006/main">
              <a:ext uri="{FF2B5EF4-FFF2-40B4-BE49-F238E27FC236}">
                <a16:creationId xmlns:a16="http://schemas.microsoft.com/office/drawing/2014/main" id="{5B3C3CBC-1D9F-4F83-8D8F-538F82D6B5A7}"/>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EA760B67-3D0E-4D5A-BBC6-B4CE793019D7}"/>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Arquitectura por responsabilidades</a:t>
            </a:r>
          </a:p>
        </p:txBody>
      </p:sp>
      <p:sp>
        <p:nvSpPr>
          <p:cNvPr id="6" name="source">
            <a:extLst xmlns:a="http://schemas.openxmlformats.org/drawingml/2006/main">
              <a:ext uri="{FF2B5EF4-FFF2-40B4-BE49-F238E27FC236}">
                <a16:creationId xmlns:a16="http://schemas.microsoft.com/office/drawing/2014/main" id="{83B06B0E-A701-4D37-BC46-06365D5F9FED}"/>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Fuentes: Android Developers, guía y recomendaciones de arquitectura</a:t>
            </a:r>
          </a:p>
        </p:txBody>
      </p:sp>
      <p:sp>
        <p:nvSpPr>
          <p:cNvPr id="7" name="intro">
            <a:extLst xmlns:a="http://schemas.openxmlformats.org/drawingml/2006/main">
              <a:ext uri="{FF2B5EF4-FFF2-40B4-BE49-F238E27FC236}">
                <a16:creationId xmlns:a16="http://schemas.microsoft.com/office/drawing/2014/main" id="{B9684BDE-ADC5-4444-828A-E42D47496A3B}"/>
              </a:ext>
            </a:extLst>
          </p:cNvPr>
          <p:cNvSpPr>
            <a:spLocks xmlns:a="http://schemas.openxmlformats.org/drawingml/2006/main" noGrp="1"/>
          </p:cNvSpPr>
          <p:nvPr/>
        </p:nvSpPr>
        <p:spPr>
          <a:xfrm xmlns:a="http://schemas.openxmlformats.org/drawingml/2006/main">
            <a:off x="838200" y="26670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0">
                <a:solidFill>
                  <a:srgbClr val="294653"/>
                </a:solidFill>
                <a:latin typeface="Nimbus Sans"/>
                <a:ea typeface="Nimbus Sans"/>
                <a:cs typeface="Nimbus Sans"/>
              </a:defRPr>
            </a:defPPr>
          </a:lstStyle>
          <a:p xmlns:a="http://schemas.openxmlformats.org/drawingml/2006/main">
            <a:pPr algn="l">
              <a:defRPr sz="2400" b="0">
                <a:solidFill>
                  <a:srgbClr val="294653"/>
                </a:solidFill>
                <a:latin typeface="Nimbus Sans"/>
                <a:ea typeface="Nimbus Sans"/>
                <a:cs typeface="Nimbus Sans"/>
              </a:defRPr>
            </a:pPr>
            <a:r>
              <a:rPr sz="2400" b="0">
                <a:solidFill>
                  <a:srgbClr val="294653"/>
                </a:solidFill>
                <a:latin typeface="Nimbus Sans"/>
                <a:ea typeface="Nimbus Sans"/>
                <a:cs typeface="Nimbus Sans"/>
              </a:rPr>
              <a:t>La arquitectura separa las decisiones de presentación del acceso a los</a:t>
            </a:r>
          </a:p>
          <a:p xmlns:a="http://schemas.openxmlformats.org/drawingml/2006/main">
            <a:pPr algn="l">
              <a:defRPr sz="2400" b="0">
                <a:solidFill>
                  <a:srgbClr val="294653"/>
                </a:solidFill>
                <a:latin typeface="Nimbus Sans"/>
                <a:ea typeface="Nimbus Sans"/>
                <a:cs typeface="Nimbus Sans"/>
              </a:defRPr>
            </a:pPr>
            <a:r>
              <a:rPr sz="2400" b="0">
                <a:solidFill>
                  <a:srgbClr val="294653"/>
                </a:solidFill>
                <a:latin typeface="Nimbus Sans"/>
                <a:ea typeface="Nimbus Sans"/>
                <a:cs typeface="Nimbus Sans"/>
              </a:rPr>
              <a:t>datos. Una capa de dominio resulta útil cuando la complejidad o la</a:t>
            </a:r>
          </a:p>
          <a:p xmlns:a="http://schemas.openxmlformats.org/drawingml/2006/main">
            <a:pPr algn="l">
              <a:defRPr sz="2400" b="0">
                <a:solidFill>
                  <a:srgbClr val="294653"/>
                </a:solidFill>
                <a:latin typeface="Nimbus Sans"/>
                <a:ea typeface="Nimbus Sans"/>
                <a:cs typeface="Nimbus Sans"/>
              </a:defRPr>
            </a:pPr>
            <a:r>
              <a:rPr sz="2400" b="0">
                <a:solidFill>
                  <a:srgbClr val="294653"/>
                </a:solidFill>
                <a:latin typeface="Nimbus Sans"/>
                <a:ea typeface="Nimbus Sans"/>
                <a:cs typeface="Nimbus Sans"/>
              </a:rPr>
              <a:t>reutilización de reglas la justifican.</a:t>
            </a:r>
          </a:p>
        </p:txBody>
      </p:sp>
      <p:graphicFrame>
        <p:nvGraphicFramePr>
          <p:cNvPr id="8" name="">
            <a:extLst xmlns:a="http://schemas.openxmlformats.org/drawingml/2006/main">
              <a:ext uri="{FF2B5EF4-FFF2-40B4-BE49-F238E27FC236}">
                <a16:creationId xmlns:a16="http://schemas.microsoft.com/office/drawing/2014/main" id="{AB744396-2C0C-4F6D-898C-F7E19A140E86}"/>
              </a:ext>
            </a:extLst>
          </p:cNvPr>
          <p:cNvGraphicFramePr/>
          <p:nvPr/>
        </p:nvGraphicFramePr>
        <p:xfrm>
          <a:off xmlns:a="http://schemas.openxmlformats.org/drawingml/2006/main" x="838200" y="4076700"/>
          <a:ext xmlns:a="http://schemas.openxmlformats.org/drawingml/2006/main" cx="9906000" cy="3638550"/>
        </p:xfrm>
        <a:graphic xmlns:a="http://schemas.openxmlformats.org/drawingml/2006/main">
          <a:graphicData uri="http://schemas.openxmlformats.org/drawingml/2006/table">
            <a:tbl>
              <a:tblPr firstRow="0" bandRow="0"/>
              <a:tblGrid>
                <a:gridCol w="2571750"/>
                <a:gridCol w="4191000"/>
                <a:gridCol w="3143250"/>
              </a:tblGrid>
              <a:tr h="628650">
                <a:tc>
                  <a:txBody>
                    <a:bodyPr lIns="133350" tIns="114300" rIns="114300" bIns="95250">
                      <a:noAutofit/>
                    </a:bodyPr>
                    <a:lstStyle/>
                    <a:p>
                      <a:pPr algn="l"/>
                      <a:r>
                        <a:rPr sz="2100" b="1">
                          <a:solidFill>
                            <a:srgbClr val="FFFFFF"/>
                          </a:solidFill>
                          <a:latin typeface="Nimbus Sans"/>
                          <a:ea typeface="Nimbus Sans"/>
                          <a:cs typeface="Nimbus Sans"/>
                        </a:rPr>
                        <a:t>Componente</a:t>
                      </a:r>
                    </a:p>
                  </a:txBody>
                  <a:tcPr marL="133350" marR="114300" marT="114300" marB="95250" anchor="ctr">
                    <a:lnL w="9525">
                      <a:solidFill>
                        <a:srgbClr val="CFDAD8"/>
                      </a:solidFill>
                      <a:prstDash val="solid"/>
                    </a:lnL>
                    <a:lnR w="9525">
                      <a:solidFill>
                        <a:srgbClr val="CFDAD8"/>
                      </a:solidFill>
                      <a:prstDash val="solid"/>
                    </a:lnR>
                    <a:lnT w="9525">
                      <a:solidFill>
                        <a:srgbClr val="CFDAD8"/>
                      </a:solidFill>
                      <a:prstDash val="solid"/>
                    </a:lnT>
                    <a:lnB w="9525">
                      <a:solidFill>
                        <a:srgbClr val="CFDAD8"/>
                      </a:solidFill>
                      <a:prstDash val="solid"/>
                    </a:lnB>
                    <a:solidFill>
                      <a:srgbClr val="122F40"/>
                    </a:solidFill>
                  </a:tcPr>
                </a:tc>
                <a:tc>
                  <a:txBody>
                    <a:bodyPr lIns="133350" tIns="114300" rIns="114300" bIns="95250">
                      <a:noAutofit/>
                    </a:bodyPr>
                    <a:lstStyle/>
                    <a:p>
                      <a:pPr algn="l"/>
                      <a:r>
                        <a:rPr sz="2100" b="1">
                          <a:solidFill>
                            <a:srgbClr val="FFFFFF"/>
                          </a:solidFill>
                          <a:latin typeface="Nimbus Sans"/>
                          <a:ea typeface="Nimbus Sans"/>
                          <a:cs typeface="Nimbus Sans"/>
                        </a:rPr>
                        <a:t>Responsabilidad</a:t>
                      </a:r>
                    </a:p>
                  </a:txBody>
                  <a:tcPr marL="133350" marR="114300" marT="114300" marB="95250" anchor="ctr">
                    <a:lnR w="9525">
                      <a:solidFill>
                        <a:srgbClr val="CFDAD8"/>
                      </a:solidFill>
                      <a:prstDash val="solid"/>
                    </a:lnR>
                    <a:lnT w="9525">
                      <a:solidFill>
                        <a:srgbClr val="CFDAD8"/>
                      </a:solidFill>
                      <a:prstDash val="solid"/>
                    </a:lnT>
                    <a:lnB w="9525">
                      <a:solidFill>
                        <a:srgbClr val="CFDAD8"/>
                      </a:solidFill>
                      <a:prstDash val="solid"/>
                    </a:lnB>
                    <a:solidFill>
                      <a:srgbClr val="122F40"/>
                    </a:solidFill>
                  </a:tcPr>
                </a:tc>
                <a:tc>
                  <a:txBody>
                    <a:bodyPr lIns="133350" tIns="114300" rIns="114300" bIns="95250">
                      <a:noAutofit/>
                    </a:bodyPr>
                    <a:lstStyle/>
                    <a:p>
                      <a:pPr algn="l"/>
                      <a:r>
                        <a:rPr sz="2100" b="1">
                          <a:solidFill>
                            <a:srgbClr val="FFFFFF"/>
                          </a:solidFill>
                          <a:latin typeface="Nimbus Sans"/>
                          <a:ea typeface="Nimbus Sans"/>
                          <a:cs typeface="Nimbus Sans"/>
                        </a:rPr>
                        <a:t>Ejemplo</a:t>
                      </a:r>
                    </a:p>
                  </a:txBody>
                  <a:tcPr marL="133350" marR="114300" marT="114300" marB="95250" anchor="ctr">
                    <a:lnR w="9525">
                      <a:solidFill>
                        <a:srgbClr val="CFDAD8"/>
                      </a:solidFill>
                      <a:prstDash val="solid"/>
                    </a:lnR>
                    <a:lnT w="9525">
                      <a:solidFill>
                        <a:srgbClr val="CFDAD8"/>
                      </a:solidFill>
                      <a:prstDash val="solid"/>
                    </a:lnT>
                    <a:lnB w="9525">
                      <a:solidFill>
                        <a:srgbClr val="CFDAD8"/>
                      </a:solidFill>
                      <a:prstDash val="solid"/>
                    </a:lnB>
                    <a:solidFill>
                      <a:srgbClr val="122F40"/>
                    </a:solidFill>
                  </a:tcPr>
                </a:tc>
              </a:tr>
              <a:tr h="895350">
                <a:tc>
                  <a:txBody>
                    <a:bodyPr lIns="133350" tIns="114300" rIns="114300" bIns="95250">
                      <a:noAutofit/>
                    </a:bodyPr>
                    <a:lstStyle/>
                    <a:p>
                      <a:pPr algn="l"/>
                      <a:r>
                        <a:rPr sz="2100" b="0">
                          <a:solidFill>
                            <a:srgbClr val="294653"/>
                          </a:solidFill>
                          <a:latin typeface="Nimbus Sans"/>
                          <a:ea typeface="Nimbus Sans"/>
                          <a:cs typeface="Nimbus Sans"/>
                        </a:rPr>
                        <a:t>Presentación</a:t>
                      </a:r>
                    </a:p>
                  </a:txBody>
                  <a:tcPr marL="133350" marR="114300" marT="114300" marB="95250" anchor="ctr">
                    <a:lnL w="9525">
                      <a:solidFill>
                        <a:srgbClr val="CFDAD8"/>
                      </a:solidFill>
                      <a:prstDash val="solid"/>
                    </a:lnL>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Mostrar estado y recibir acciones</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Pantalla y ViewModel</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r>
              <a:tr h="704850">
                <a:tc>
                  <a:txBody>
                    <a:bodyPr lIns="133350" tIns="114300" rIns="114300" bIns="95250">
                      <a:noAutofit/>
                    </a:bodyPr>
                    <a:lstStyle/>
                    <a:p>
                      <a:pPr algn="l"/>
                      <a:r>
                        <a:rPr sz="2100" b="0">
                          <a:solidFill>
                            <a:srgbClr val="294653"/>
                          </a:solidFill>
                          <a:latin typeface="Nimbus Sans"/>
                          <a:ea typeface="Nimbus Sans"/>
                          <a:cs typeface="Nimbus Sans"/>
                        </a:rPr>
                        <a:t>Dominio, opcional</a:t>
                      </a:r>
                    </a:p>
                  </a:txBody>
                  <a:tcPr marL="133350" marR="114300" marT="114300" marB="95250" anchor="ctr">
                    <a:lnL w="9525">
                      <a:solidFill>
                        <a:srgbClr val="CFDAD8"/>
                      </a:solidFill>
                      <a:prstDash val="solid"/>
                    </a:lnL>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Coordinar reglas reutilizables</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Crear una tarea válida</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r>
              <a:tr h="704850">
                <a:tc>
                  <a:txBody>
                    <a:bodyPr lIns="133350" tIns="114300" rIns="114300" bIns="95250">
                      <a:noAutofit/>
                    </a:bodyPr>
                    <a:lstStyle/>
                    <a:p>
                      <a:pPr algn="l"/>
                      <a:r>
                        <a:rPr sz="2100" b="0">
                          <a:solidFill>
                            <a:srgbClr val="294653"/>
                          </a:solidFill>
                          <a:latin typeface="Nimbus Sans"/>
                          <a:ea typeface="Nimbus Sans"/>
                          <a:cs typeface="Nimbus Sans"/>
                        </a:rPr>
                        <a:t>Datos del cliente</a:t>
                      </a:r>
                    </a:p>
                  </a:txBody>
                  <a:tcPr marL="133350" marR="114300" marT="114300" marB="95250" anchor="ctr">
                    <a:lnL w="9525">
                      <a:solidFill>
                        <a:srgbClr val="CFDAD8"/>
                      </a:solidFill>
                      <a:prstDash val="solid"/>
                    </a:lnL>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Gestionar fuentes y persistencia</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Repositorio y DAO</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r>
              <a:tr h="704850">
                <a:tc>
                  <a:txBody>
                    <a:bodyPr lIns="133350" tIns="114300" rIns="114300" bIns="95250">
                      <a:noAutofit/>
                    </a:bodyPr>
                    <a:lstStyle/>
                    <a:p>
                      <a:pPr algn="l"/>
                      <a:r>
                        <a:rPr sz="2100" b="0">
                          <a:solidFill>
                            <a:srgbClr val="294653"/>
                          </a:solidFill>
                          <a:latin typeface="Nimbus Sans"/>
                          <a:ea typeface="Nimbus Sans"/>
                          <a:cs typeface="Nimbus Sans"/>
                        </a:rPr>
                        <a:t>Backend remoto</a:t>
                      </a:r>
                    </a:p>
                  </a:txBody>
                  <a:tcPr marL="133350" marR="114300" marT="114300" marB="95250" anchor="ctr">
                    <a:lnL w="9525">
                      <a:solidFill>
                        <a:srgbClr val="CFDAD8"/>
                      </a:solidFill>
                      <a:prstDash val="solid"/>
                    </a:lnL>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Validar y atender operaciones</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API y servicios</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r>
            </a:tbl>
          </a:graphicData>
        </a:graphic>
      </p:graphicFrame>
      <p:sp>
        <p:nvSpPr>
          <p:cNvPr id="9" name="after">
            <a:extLst xmlns:a="http://schemas.openxmlformats.org/drawingml/2006/main">
              <a:ext uri="{FF2B5EF4-FFF2-40B4-BE49-F238E27FC236}">
                <a16:creationId xmlns:a16="http://schemas.microsoft.com/office/drawing/2014/main" id="{F2009997-7470-4000-9231-932408ABAFBC}"/>
              </a:ext>
            </a:extLst>
          </p:cNvPr>
          <p:cNvSpPr>
            <a:spLocks xmlns:a="http://schemas.openxmlformats.org/drawingml/2006/main" noGrp="1"/>
          </p:cNvSpPr>
          <p:nvPr/>
        </p:nvSpPr>
        <p:spPr>
          <a:xfrm xmlns:a="http://schemas.openxmlformats.org/drawingml/2006/main">
            <a:off x="838200" y="7943850"/>
            <a:ext cx="9906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0">
                <a:solidFill>
                  <a:srgbClr val="294653"/>
                </a:solidFill>
                <a:latin typeface="Nimbus Sans"/>
                <a:ea typeface="Nimbus Sans"/>
                <a:cs typeface="Nimbus Sans"/>
              </a:defRPr>
            </a:defPPr>
          </a:lstStyle>
          <a:p xmlns:a="http://schemas.openxmlformats.org/drawingml/2006/main">
            <a:pPr algn="l">
              <a:defRPr sz="2325" b="0">
                <a:solidFill>
                  <a:srgbClr val="294653"/>
                </a:solidFill>
                <a:latin typeface="Nimbus Sans"/>
                <a:ea typeface="Nimbus Sans"/>
                <a:cs typeface="Nimbus Sans"/>
              </a:defRPr>
            </a:pPr>
            <a:r>
              <a:rPr sz="2325" b="0">
                <a:solidFill>
                  <a:srgbClr val="294653"/>
                </a:solidFill>
                <a:latin typeface="Nimbus Sans"/>
                <a:ea typeface="Nimbus Sans"/>
                <a:cs typeface="Nimbus Sans"/>
              </a:rPr>
              <a:t>Caso breve: cambiar la API no debería exigir reescribir la pantalla. El</a:t>
            </a:r>
          </a:p>
          <a:p xmlns:a="http://schemas.openxmlformats.org/drawingml/2006/main">
            <a:pPr algn="l">
              <a:defRPr sz="2325" b="0">
                <a:solidFill>
                  <a:srgbClr val="294653"/>
                </a:solidFill>
                <a:latin typeface="Nimbus Sans"/>
                <a:ea typeface="Nimbus Sans"/>
                <a:cs typeface="Nimbus Sans"/>
              </a:defRPr>
            </a:pPr>
            <a:r>
              <a:rPr sz="2325" b="0">
                <a:solidFill>
                  <a:srgbClr val="294653"/>
                </a:solidFill>
                <a:latin typeface="Nimbus Sans"/>
                <a:ea typeface="Nimbus Sans"/>
                <a:cs typeface="Nimbus Sans"/>
              </a:rPr>
              <a:t>repositorio y el mapeo de datos concentran ese cambio.</a:t>
            </a:r>
          </a:p>
        </p:txBody>
      </p:sp>
    </p:spTree>
    <p:extLst>
      <p:ext uri="{BB962C8B-B14F-4D97-AF65-F5344CB8AC3E}">
        <p14:creationId xmlns:p14="http://schemas.microsoft.com/office/powerpoint/2010/main" val="1871490549"/>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6816325-2BA3-480F-8A65-3DC9280CC0CE}"/>
              </a:ext>
            </a:extLst>
          </p:cNvPr>
          <p:cNvPicPr>
            <a:picLocks xmlns:a="http://schemas.openxmlformats.org/drawingml/2006/main" noChangeAspect="1"/>
          </p:cNvPicPr>
          <p:nvPr/>
        </p:nvPicPr>
        <p:blipFill>
          <a:blip xmlns:r="http://schemas.openxmlformats.org/officeDocument/2006/relationships" xmlns:a="http://schemas.openxmlformats.org/drawingml/2006/main" r:embed="Rf753c1e43ae448d4"/>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E7E65D99-3F48-4CDA-9266-78EC4782B68E}"/>
              </a:ext>
            </a:extLst>
          </p:cNvPr>
          <p:cNvSpPr>
            <a:spLocks xmlns:a="http://schemas.openxmlformats.org/drawingml/2006/main" noGrp="1"/>
          </p:cNvSpPr>
          <p:nvPr/>
        </p:nvSpPr>
        <p:spPr>
          <a:xfrm xmlns:a="http://schemas.openxmlformats.org/drawingml/2006/main">
            <a:off x="11477625" y="8972550"/>
            <a:ext cx="59721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La pantalla representa un estado que otra clase prepara.</a:t>
            </a:r>
          </a:p>
        </p:txBody>
      </p:sp>
      <p:sp>
        <p:nvSpPr>
          <p:cNvPr id="3" name="folio">
            <a:extLst xmlns:a="http://schemas.openxmlformats.org/drawingml/2006/main">
              <a:ext uri="{FF2B5EF4-FFF2-40B4-BE49-F238E27FC236}">
                <a16:creationId xmlns:a16="http://schemas.microsoft.com/office/drawing/2014/main" id="{A8231C01-F50E-4FCF-A391-9738861688EB}"/>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5</a:t>
            </a:r>
          </a:p>
        </p:txBody>
      </p:sp>
      <p:sp>
        <p:nvSpPr>
          <p:cNvPr id="4" name="unit">
            <a:extLst xmlns:a="http://schemas.openxmlformats.org/drawingml/2006/main">
              <a:ext uri="{FF2B5EF4-FFF2-40B4-BE49-F238E27FC236}">
                <a16:creationId xmlns:a16="http://schemas.microsoft.com/office/drawing/2014/main" id="{C61E8297-3445-4043-8953-527A955A98C7}"/>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33FD952F-FF18-4B8D-82A5-45AE85AF4A9D}"/>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Patrón frontend: MVVM</a:t>
            </a:r>
          </a:p>
        </p:txBody>
      </p:sp>
      <p:sp>
        <p:nvSpPr>
          <p:cNvPr id="6" name="source">
            <a:extLst xmlns:a="http://schemas.openxmlformats.org/drawingml/2006/main">
              <a:ext uri="{FF2B5EF4-FFF2-40B4-BE49-F238E27FC236}">
                <a16:creationId xmlns:a16="http://schemas.microsoft.com/office/drawing/2014/main" id="{F57275AA-ACB6-448C-8A0E-3AEB1BA93F9B}"/>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Fuentes: Microsoft Learn, MVVM, y Android Developers, ViewModel</a:t>
            </a:r>
          </a:p>
        </p:txBody>
      </p:sp>
      <p:sp>
        <p:nvSpPr>
          <p:cNvPr id="7" name="label-0">
            <a:extLst xmlns:a="http://schemas.openxmlformats.org/drawingml/2006/main">
              <a:ext uri="{FF2B5EF4-FFF2-40B4-BE49-F238E27FC236}">
                <a16:creationId xmlns:a16="http://schemas.microsoft.com/office/drawing/2014/main" id="{8A4051F9-3AAA-4257-B6D0-D4664CAF7AF0}"/>
              </a:ext>
            </a:extLst>
          </p:cNvPr>
          <p:cNvSpPr>
            <a:spLocks xmlns:a="http://schemas.openxmlformats.org/drawingml/2006/main" noGrp="1"/>
          </p:cNvSpPr>
          <p:nvPr/>
        </p:nvSpPr>
        <p:spPr>
          <a:xfrm xmlns:a="http://schemas.openxmlformats.org/drawingml/2006/main">
            <a:off x="838200" y="2667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View: representación e interacción</a:t>
            </a:r>
          </a:p>
        </p:txBody>
      </p:sp>
      <p:sp>
        <p:nvSpPr>
          <p:cNvPr id="8" name="body-0">
            <a:extLst xmlns:a="http://schemas.openxmlformats.org/drawingml/2006/main">
              <a:ext uri="{FF2B5EF4-FFF2-40B4-BE49-F238E27FC236}">
                <a16:creationId xmlns:a16="http://schemas.microsoft.com/office/drawing/2014/main" id="{3025568B-FE0E-49C6-AAFA-DFCEEE55B5E6}"/>
              </a:ext>
            </a:extLst>
          </p:cNvPr>
          <p:cNvSpPr>
            <a:spLocks xmlns:a="http://schemas.openxmlformats.org/drawingml/2006/main" noGrp="1"/>
          </p:cNvSpPr>
          <p:nvPr/>
        </p:nvSpPr>
        <p:spPr>
          <a:xfrm xmlns:a="http://schemas.openxmlformats.org/drawingml/2006/main">
            <a:off x="838200" y="31242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La vista muestra la lista de tareas y comunica acciones del usuario.</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Mantiene la lógica visual y evita ejecutar consultas SQL directamente</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desde los controles.</a:t>
            </a:r>
          </a:p>
        </p:txBody>
      </p:sp>
      <p:sp>
        <p:nvSpPr>
          <p:cNvPr id="9" name="label-1">
            <a:extLst xmlns:a="http://schemas.openxmlformats.org/drawingml/2006/main">
              <a:ext uri="{FF2B5EF4-FFF2-40B4-BE49-F238E27FC236}">
                <a16:creationId xmlns:a16="http://schemas.microsoft.com/office/drawing/2014/main" id="{AD1EC25F-CDD9-4660-86B7-97127B8488CE}"/>
              </a:ext>
            </a:extLst>
          </p:cNvPr>
          <p:cNvSpPr>
            <a:spLocks xmlns:a="http://schemas.openxmlformats.org/drawingml/2006/main" noGrp="1"/>
          </p:cNvSpPr>
          <p:nvPr/>
        </p:nvSpPr>
        <p:spPr>
          <a:xfrm xmlns:a="http://schemas.openxmlformats.org/drawingml/2006/main">
            <a:off x="838200" y="45910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ViewModel y modelo</a:t>
            </a:r>
          </a:p>
        </p:txBody>
      </p:sp>
      <p:sp>
        <p:nvSpPr>
          <p:cNvPr id="10" name="body-1">
            <a:extLst xmlns:a="http://schemas.openxmlformats.org/drawingml/2006/main">
              <a:ext uri="{FF2B5EF4-FFF2-40B4-BE49-F238E27FC236}">
                <a16:creationId xmlns:a16="http://schemas.microsoft.com/office/drawing/2014/main" id="{C66D6FB5-0B78-42C9-B24F-6788188C6114}"/>
              </a:ext>
            </a:extLst>
          </p:cNvPr>
          <p:cNvSpPr>
            <a:spLocks xmlns:a="http://schemas.openxmlformats.org/drawingml/2006/main" noGrp="1"/>
          </p:cNvSpPr>
          <p:nvPr/>
        </p:nvSpPr>
        <p:spPr>
          <a:xfrm xmlns:a="http://schemas.openxmlformats.org/drawingml/2006/main">
            <a:off x="838200" y="504825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El ViewModel prepara el estado de la pantalla y delega el trabajo al</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repositorio o a casos de uso. El modelo representa los datos y las</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reglas que sostienen la funcionalidad.</a:t>
            </a:r>
          </a:p>
        </p:txBody>
      </p:sp>
      <p:sp>
        <p:nvSpPr>
          <p:cNvPr id="11" name="label-2">
            <a:extLst xmlns:a="http://schemas.openxmlformats.org/drawingml/2006/main">
              <a:ext uri="{FF2B5EF4-FFF2-40B4-BE49-F238E27FC236}">
                <a16:creationId xmlns:a16="http://schemas.microsoft.com/office/drawing/2014/main" id="{62C0267E-4C83-484A-8493-2CF9F07AB9CC}"/>
              </a:ext>
            </a:extLst>
          </p:cNvPr>
          <p:cNvSpPr>
            <a:spLocks xmlns:a="http://schemas.openxmlformats.org/drawingml/2006/main" noGrp="1"/>
          </p:cNvSpPr>
          <p:nvPr/>
        </p:nvSpPr>
        <p:spPr>
          <a:xfrm xmlns:a="http://schemas.openxmlformats.org/drawingml/2006/main">
            <a:off x="838200" y="65151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Caso breve</a:t>
            </a:r>
          </a:p>
        </p:txBody>
      </p:sp>
      <p:sp>
        <p:nvSpPr>
          <p:cNvPr id="12" name="body-2">
            <a:extLst xmlns:a="http://schemas.openxmlformats.org/drawingml/2006/main">
              <a:ext uri="{FF2B5EF4-FFF2-40B4-BE49-F238E27FC236}">
                <a16:creationId xmlns:a16="http://schemas.microsoft.com/office/drawing/2014/main" id="{89D1D7C4-C840-4E4E-9F71-21C40CA1BB08}"/>
              </a:ext>
            </a:extLst>
          </p:cNvPr>
          <p:cNvSpPr>
            <a:spLocks xmlns:a="http://schemas.openxmlformats.org/drawingml/2006/main" noGrp="1"/>
          </p:cNvSpPr>
          <p:nvPr/>
        </p:nvSpPr>
        <p:spPr>
          <a:xfrm xmlns:a="http://schemas.openxmlformats.org/drawingml/2006/main">
            <a:off x="838200" y="6972300"/>
            <a:ext cx="990600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Cuando el estudiante selecciona un curso, el ViewModel solicita sus</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tareas y actualiza el estado. La vista representa ese resultado. Esta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separación permite verificar la lógica de pantalla con dependencias de</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prueba.</a:t>
            </a:r>
          </a:p>
        </p:txBody>
      </p:sp>
    </p:spTree>
    <p:extLst>
      <p:ext uri="{BB962C8B-B14F-4D97-AF65-F5344CB8AC3E}">
        <p14:creationId xmlns:p14="http://schemas.microsoft.com/office/powerpoint/2010/main" val="139286445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BB3C2C2-53A1-4A49-BEE5-C034B7394626}"/>
              </a:ext>
            </a:extLst>
          </p:cNvPr>
          <p:cNvPicPr>
            <a:picLocks xmlns:a="http://schemas.openxmlformats.org/drawingml/2006/main" noChangeAspect="1"/>
          </p:cNvPicPr>
          <p:nvPr/>
        </p:nvPicPr>
        <p:blipFill>
          <a:blip xmlns:r="http://schemas.openxmlformats.org/officeDocument/2006/relationships" xmlns:a="http://schemas.openxmlformats.org/drawingml/2006/main" r:embed="R1b679f9981224f0e"/>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F316512C-141A-4866-B75C-C6F26154E370}"/>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Una acción cambia los datos y la interfaz representa el</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nuevo estado.</a:t>
            </a:r>
          </a:p>
        </p:txBody>
      </p:sp>
      <p:sp>
        <p:nvSpPr>
          <p:cNvPr id="3" name="folio">
            <a:extLst xmlns:a="http://schemas.openxmlformats.org/drawingml/2006/main">
              <a:ext uri="{FF2B5EF4-FFF2-40B4-BE49-F238E27FC236}">
                <a16:creationId xmlns:a16="http://schemas.microsoft.com/office/drawing/2014/main" id="{220A4F49-D98E-4AF4-BB42-CE7A6EF10E9E}"/>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6</a:t>
            </a:r>
          </a:p>
        </p:txBody>
      </p:sp>
      <p:sp>
        <p:nvSpPr>
          <p:cNvPr id="4" name="unit">
            <a:extLst xmlns:a="http://schemas.openxmlformats.org/drawingml/2006/main">
              <a:ext uri="{FF2B5EF4-FFF2-40B4-BE49-F238E27FC236}">
                <a16:creationId xmlns:a16="http://schemas.microsoft.com/office/drawing/2014/main" id="{C21795E5-37AD-4696-8452-7E5122EC0CE3}"/>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1F7F72D3-C4F6-4876-AC83-30282653E932}"/>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Observer y flujo unidireccional</a:t>
            </a:r>
          </a:p>
        </p:txBody>
      </p:sp>
      <p:sp>
        <p:nvSpPr>
          <p:cNvPr id="6" name="source">
            <a:extLst xmlns:a="http://schemas.openxmlformats.org/drawingml/2006/main">
              <a:ext uri="{FF2B5EF4-FFF2-40B4-BE49-F238E27FC236}">
                <a16:creationId xmlns:a16="http://schemas.microsoft.com/office/drawing/2014/main" id="{FC95822C-9191-4D57-B2E2-0A8625FEA6F4}"/>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Fuente: Android Developers, capa de UI y recomendaciones</a:t>
            </a:r>
          </a:p>
        </p:txBody>
      </p:sp>
      <p:sp>
        <p:nvSpPr>
          <p:cNvPr id="7" name="label-0">
            <a:extLst xmlns:a="http://schemas.openxmlformats.org/drawingml/2006/main">
              <a:ext uri="{FF2B5EF4-FFF2-40B4-BE49-F238E27FC236}">
                <a16:creationId xmlns:a16="http://schemas.microsoft.com/office/drawing/2014/main" id="{21AB1D38-65A9-489A-8D91-CCB8A50A4F40}"/>
              </a:ext>
            </a:extLst>
          </p:cNvPr>
          <p:cNvSpPr>
            <a:spLocks xmlns:a="http://schemas.openxmlformats.org/drawingml/2006/main" noGrp="1"/>
          </p:cNvSpPr>
          <p:nvPr/>
        </p:nvSpPr>
        <p:spPr>
          <a:xfrm xmlns:a="http://schemas.openxmlformats.org/drawingml/2006/main">
            <a:off x="838200" y="2667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Acciones del usuario</a:t>
            </a:r>
          </a:p>
        </p:txBody>
      </p:sp>
      <p:sp>
        <p:nvSpPr>
          <p:cNvPr id="8" name="body-0">
            <a:extLst xmlns:a="http://schemas.openxmlformats.org/drawingml/2006/main">
              <a:ext uri="{FF2B5EF4-FFF2-40B4-BE49-F238E27FC236}">
                <a16:creationId xmlns:a16="http://schemas.microsoft.com/office/drawing/2014/main" id="{56904A55-CE60-4E29-95C7-A8CBE34BB819}"/>
              </a:ext>
            </a:extLst>
          </p:cNvPr>
          <p:cNvSpPr>
            <a:spLocks xmlns:a="http://schemas.openxmlformats.org/drawingml/2006/main" noGrp="1"/>
          </p:cNvSpPr>
          <p:nvPr/>
        </p:nvSpPr>
        <p:spPr>
          <a:xfrm xmlns:a="http://schemas.openxmlformats.org/drawingml/2006/main">
            <a:off x="838200" y="31242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La interfaz comunica una intención, por ejemplo completar una tarea.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El ViewModel procesa la acción y solicita la modificación mediante el</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repositorio.</a:t>
            </a:r>
          </a:p>
        </p:txBody>
      </p:sp>
      <p:sp>
        <p:nvSpPr>
          <p:cNvPr id="9" name="label-1">
            <a:extLst xmlns:a="http://schemas.openxmlformats.org/drawingml/2006/main">
              <a:ext uri="{FF2B5EF4-FFF2-40B4-BE49-F238E27FC236}">
                <a16:creationId xmlns:a16="http://schemas.microsoft.com/office/drawing/2014/main" id="{ED12752C-AAF1-488B-9C46-C1D52957AAE3}"/>
              </a:ext>
            </a:extLst>
          </p:cNvPr>
          <p:cNvSpPr>
            <a:spLocks xmlns:a="http://schemas.openxmlformats.org/drawingml/2006/main" noGrp="1"/>
          </p:cNvSpPr>
          <p:nvPr/>
        </p:nvSpPr>
        <p:spPr>
          <a:xfrm xmlns:a="http://schemas.openxmlformats.org/drawingml/2006/main">
            <a:off x="838200" y="45910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Estado observable</a:t>
            </a:r>
          </a:p>
        </p:txBody>
      </p:sp>
      <p:sp>
        <p:nvSpPr>
          <p:cNvPr id="10" name="body-1">
            <a:extLst xmlns:a="http://schemas.openxmlformats.org/drawingml/2006/main">
              <a:ext uri="{FF2B5EF4-FFF2-40B4-BE49-F238E27FC236}">
                <a16:creationId xmlns:a16="http://schemas.microsoft.com/office/drawing/2014/main" id="{3DEB9DB3-8F22-4E45-B1BF-35300E1B7E2D}"/>
              </a:ext>
            </a:extLst>
          </p:cNvPr>
          <p:cNvSpPr>
            <a:spLocks xmlns:a="http://schemas.openxmlformats.org/drawingml/2006/main" noGrp="1"/>
          </p:cNvSpPr>
          <p:nvPr/>
        </p:nvSpPr>
        <p:spPr>
          <a:xfrm xmlns:a="http://schemas.openxmlformats.org/drawingml/2006/main">
            <a:off x="838200" y="5048250"/>
            <a:ext cx="990600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El repositorio expone los datos y el ViewModel produce un estado de</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UI de solo lectura. La vista observa sus cambios. En Android,</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StateFlow permite representar este comportamiento con una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recolección ligada al ciclo de vida.</a:t>
            </a:r>
          </a:p>
        </p:txBody>
      </p:sp>
      <p:sp>
        <p:nvSpPr>
          <p:cNvPr id="11" name="label-2">
            <a:extLst xmlns:a="http://schemas.openxmlformats.org/drawingml/2006/main">
              <a:ext uri="{FF2B5EF4-FFF2-40B4-BE49-F238E27FC236}">
                <a16:creationId xmlns:a16="http://schemas.microsoft.com/office/drawing/2014/main" id="{D74AECD2-8295-4BEE-B965-6B27D1A0438B}"/>
              </a:ext>
            </a:extLst>
          </p:cNvPr>
          <p:cNvSpPr>
            <a:spLocks xmlns:a="http://schemas.openxmlformats.org/drawingml/2006/main" noGrp="1"/>
          </p:cNvSpPr>
          <p:nvPr/>
        </p:nvSpPr>
        <p:spPr>
          <a:xfrm xmlns:a="http://schemas.openxmlformats.org/drawingml/2006/main">
            <a:off x="838200" y="6905625"/>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Caso breve</a:t>
            </a:r>
          </a:p>
        </p:txBody>
      </p:sp>
      <p:sp>
        <p:nvSpPr>
          <p:cNvPr id="12" name="body-2">
            <a:extLst xmlns:a="http://schemas.openxmlformats.org/drawingml/2006/main">
              <a:ext uri="{FF2B5EF4-FFF2-40B4-BE49-F238E27FC236}">
                <a16:creationId xmlns:a16="http://schemas.microsoft.com/office/drawing/2014/main" id="{DF173CFD-5ABD-4551-A5C5-0396FD8750D0}"/>
              </a:ext>
            </a:extLst>
          </p:cNvPr>
          <p:cNvSpPr>
            <a:spLocks xmlns:a="http://schemas.openxmlformats.org/drawingml/2006/main" noGrp="1"/>
          </p:cNvSpPr>
          <p:nvPr/>
        </p:nvSpPr>
        <p:spPr>
          <a:xfrm xmlns:a="http://schemas.openxmlformats.org/drawingml/2006/main">
            <a:off x="838200" y="7362825"/>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La casilla aparece marcada cuando el estado confirma la actualización</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local. Si el guardado falla, el estado conserva la información necesaria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para mostrar un mensaje y permitir una recuperación.</a:t>
            </a:r>
          </a:p>
        </p:txBody>
      </p:sp>
    </p:spTree>
    <p:extLst>
      <p:ext uri="{BB962C8B-B14F-4D97-AF65-F5344CB8AC3E}">
        <p14:creationId xmlns:p14="http://schemas.microsoft.com/office/powerpoint/2010/main" val="206857313"/>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19C3327-E029-4E1A-B64B-4CC08FAD5506}"/>
              </a:ext>
            </a:extLst>
          </p:cNvPr>
          <p:cNvPicPr>
            <a:picLocks xmlns:a="http://schemas.openxmlformats.org/drawingml/2006/main" noChangeAspect="1"/>
          </p:cNvPicPr>
          <p:nvPr/>
        </p:nvPicPr>
        <p:blipFill>
          <a:blip xmlns:r="http://schemas.openxmlformats.org/officeDocument/2006/relationships" xmlns:a="http://schemas.openxmlformats.org/drawingml/2006/main" r:embed="Rddcb1d4eba6c4055"/>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EB6442DB-35AC-4031-8DBF-605AFD947C6B}"/>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La recuperación de un formulario y el guardado duradero</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tienen funciones distintas.</a:t>
            </a:r>
          </a:p>
        </p:txBody>
      </p:sp>
      <p:sp>
        <p:nvSpPr>
          <p:cNvPr id="3" name="folio">
            <a:extLst xmlns:a="http://schemas.openxmlformats.org/drawingml/2006/main">
              <a:ext uri="{FF2B5EF4-FFF2-40B4-BE49-F238E27FC236}">
                <a16:creationId xmlns:a16="http://schemas.microsoft.com/office/drawing/2014/main" id="{CD51F3F3-1996-444C-A3EF-B21777B312BE}"/>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7</a:t>
            </a:r>
          </a:p>
        </p:txBody>
      </p:sp>
      <p:sp>
        <p:nvSpPr>
          <p:cNvPr id="4" name="unit">
            <a:extLst xmlns:a="http://schemas.openxmlformats.org/drawingml/2006/main">
              <a:ext uri="{FF2B5EF4-FFF2-40B4-BE49-F238E27FC236}">
                <a16:creationId xmlns:a16="http://schemas.microsoft.com/office/drawing/2014/main" id="{2DFB8A8F-5E42-4003-A7D2-11AD873B3680}"/>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49FB9071-08B9-4B4D-8CD2-74B5929C9292}"/>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Estado de pantalla y recuperación</a:t>
            </a:r>
          </a:p>
        </p:txBody>
      </p:sp>
      <p:sp>
        <p:nvSpPr>
          <p:cNvPr id="6" name="source">
            <a:extLst xmlns:a="http://schemas.openxmlformats.org/drawingml/2006/main">
              <a:ext uri="{FF2B5EF4-FFF2-40B4-BE49-F238E27FC236}">
                <a16:creationId xmlns:a16="http://schemas.microsoft.com/office/drawing/2014/main" id="{6DD335DB-267C-4B9E-851F-E0EE086BBD46}"/>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Fuentes: Android Developers, ViewModel y conservación de estado</a:t>
            </a:r>
          </a:p>
        </p:txBody>
      </p:sp>
      <p:sp>
        <p:nvSpPr>
          <p:cNvPr id="7" name="label-0">
            <a:extLst xmlns:a="http://schemas.openxmlformats.org/drawingml/2006/main">
              <a:ext uri="{FF2B5EF4-FFF2-40B4-BE49-F238E27FC236}">
                <a16:creationId xmlns:a16="http://schemas.microsoft.com/office/drawing/2014/main" id="{F28583C4-F472-4B42-909B-15B36060C056}"/>
              </a:ext>
            </a:extLst>
          </p:cNvPr>
          <p:cNvSpPr>
            <a:spLocks xmlns:a="http://schemas.openxmlformats.org/drawingml/2006/main" noGrp="1"/>
          </p:cNvSpPr>
          <p:nvPr/>
        </p:nvSpPr>
        <p:spPr>
          <a:xfrm xmlns:a="http://schemas.openxmlformats.org/drawingml/2006/main">
            <a:off x="838200" y="2667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Estados comprensibles</a:t>
            </a:r>
          </a:p>
        </p:txBody>
      </p:sp>
      <p:sp>
        <p:nvSpPr>
          <p:cNvPr id="8" name="body-0">
            <a:extLst xmlns:a="http://schemas.openxmlformats.org/drawingml/2006/main">
              <a:ext uri="{FF2B5EF4-FFF2-40B4-BE49-F238E27FC236}">
                <a16:creationId xmlns:a16="http://schemas.microsoft.com/office/drawing/2014/main" id="{E4967A67-8CB3-4F53-A98F-3CA66551A083}"/>
              </a:ext>
            </a:extLst>
          </p:cNvPr>
          <p:cNvSpPr>
            <a:spLocks xmlns:a="http://schemas.openxmlformats.org/drawingml/2006/main" noGrp="1"/>
          </p:cNvSpPr>
          <p:nvPr/>
        </p:nvSpPr>
        <p:spPr>
          <a:xfrm xmlns:a="http://schemas.openxmlformats.org/drawingml/2006/main">
            <a:off x="838200" y="31242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La pantalla distingue carga, lista vacía, contenido y error. También</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comunica si hay cambios pendientes de sincronización, incluso</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cuando los datos locales permiten seguir trabajando.</a:t>
            </a:r>
          </a:p>
        </p:txBody>
      </p:sp>
      <p:sp>
        <p:nvSpPr>
          <p:cNvPr id="9" name="label-1">
            <a:extLst xmlns:a="http://schemas.openxmlformats.org/drawingml/2006/main">
              <a:ext uri="{FF2B5EF4-FFF2-40B4-BE49-F238E27FC236}">
                <a16:creationId xmlns:a16="http://schemas.microsoft.com/office/drawing/2014/main" id="{1D52331E-DB7B-4771-A3C2-9217B8C9B639}"/>
              </a:ext>
            </a:extLst>
          </p:cNvPr>
          <p:cNvSpPr>
            <a:spLocks xmlns:a="http://schemas.openxmlformats.org/drawingml/2006/main" noGrp="1"/>
          </p:cNvSpPr>
          <p:nvPr/>
        </p:nvSpPr>
        <p:spPr>
          <a:xfrm xmlns:a="http://schemas.openxmlformats.org/drawingml/2006/main">
            <a:off x="838200" y="45910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Memoria y persistencia</a:t>
            </a:r>
          </a:p>
        </p:txBody>
      </p:sp>
      <p:sp>
        <p:nvSpPr>
          <p:cNvPr id="10" name="body-1">
            <a:extLst xmlns:a="http://schemas.openxmlformats.org/drawingml/2006/main">
              <a:ext uri="{FF2B5EF4-FFF2-40B4-BE49-F238E27FC236}">
                <a16:creationId xmlns:a16="http://schemas.microsoft.com/office/drawing/2014/main" id="{F24D4DAB-50C1-4F3E-A7DF-3A446DF68A4D}"/>
              </a:ext>
            </a:extLst>
          </p:cNvPr>
          <p:cNvSpPr>
            <a:spLocks xmlns:a="http://schemas.openxmlformats.org/drawingml/2006/main" noGrp="1"/>
          </p:cNvSpPr>
          <p:nvPr/>
        </p:nvSpPr>
        <p:spPr>
          <a:xfrm xmlns:a="http://schemas.openxmlformats.org/drawingml/2006/main">
            <a:off x="838200" y="5048250"/>
            <a:ext cx="990600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ViewModel conserva estado ante cambios de configuración.</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SavedStateHandle ayuda a recuperar pequeños datos de UI tras una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recreación del proceso. SQLite guarda la información que debe</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persistir de forma duradera.</a:t>
            </a:r>
          </a:p>
        </p:txBody>
      </p:sp>
      <p:sp>
        <p:nvSpPr>
          <p:cNvPr id="11" name="label-2">
            <a:extLst xmlns:a="http://schemas.openxmlformats.org/drawingml/2006/main">
              <a:ext uri="{FF2B5EF4-FFF2-40B4-BE49-F238E27FC236}">
                <a16:creationId xmlns:a16="http://schemas.microsoft.com/office/drawing/2014/main" id="{58407793-08DF-4C30-868A-D98B01D99946}"/>
              </a:ext>
            </a:extLst>
          </p:cNvPr>
          <p:cNvSpPr>
            <a:spLocks xmlns:a="http://schemas.openxmlformats.org/drawingml/2006/main" noGrp="1"/>
          </p:cNvSpPr>
          <p:nvPr/>
        </p:nvSpPr>
        <p:spPr>
          <a:xfrm xmlns:a="http://schemas.openxmlformats.org/drawingml/2006/main">
            <a:off x="838200" y="6905625"/>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Caso breve</a:t>
            </a:r>
          </a:p>
        </p:txBody>
      </p:sp>
      <p:sp>
        <p:nvSpPr>
          <p:cNvPr id="12" name="body-2">
            <a:extLst xmlns:a="http://schemas.openxmlformats.org/drawingml/2006/main">
              <a:ext uri="{FF2B5EF4-FFF2-40B4-BE49-F238E27FC236}">
                <a16:creationId xmlns:a16="http://schemas.microsoft.com/office/drawing/2014/main" id="{8B134A8B-23D5-4F42-BC58-FD21AF62BA62}"/>
              </a:ext>
            </a:extLst>
          </p:cNvPr>
          <p:cNvSpPr>
            <a:spLocks xmlns:a="http://schemas.openxmlformats.org/drawingml/2006/main" noGrp="1"/>
          </p:cNvSpPr>
          <p:nvPr/>
        </p:nvSpPr>
        <p:spPr>
          <a:xfrm xmlns:a="http://schemas.openxmlformats.org/drawingml/2006/main">
            <a:off x="838200" y="7362825"/>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La estudiante gira el teléfono mientras escribe una tarea. El título</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permanece en el formulario. Cuando pulsa Guardar, la aplicación</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escribe el registro en la base local y confirma el resultado.</a:t>
            </a:r>
          </a:p>
        </p:txBody>
      </p:sp>
    </p:spTree>
    <p:extLst>
      <p:ext uri="{BB962C8B-B14F-4D97-AF65-F5344CB8AC3E}">
        <p14:creationId xmlns:p14="http://schemas.microsoft.com/office/powerpoint/2010/main" val="2039863884"/>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8D77792-8DB9-46B7-9DF7-808F646A4D5D}"/>
              </a:ext>
            </a:extLst>
          </p:cNvPr>
          <p:cNvPicPr>
            <a:picLocks xmlns:a="http://schemas.openxmlformats.org/drawingml/2006/main" noChangeAspect="1"/>
          </p:cNvPicPr>
          <p:nvPr/>
        </p:nvPicPr>
        <p:blipFill>
          <a:blip xmlns:r="http://schemas.openxmlformats.org/officeDocument/2006/relationships" xmlns:a="http://schemas.openxmlformats.org/drawingml/2006/main" r:embed="Rae1ee7f07b5b4189"/>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73F8335B-DE08-4506-92E8-8FE9CF0C107B}"/>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El repositorio coordina fuentes que pueden representar los</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datos de forma diferente.</a:t>
            </a:r>
          </a:p>
        </p:txBody>
      </p:sp>
      <p:sp>
        <p:nvSpPr>
          <p:cNvPr id="3" name="folio">
            <a:extLst xmlns:a="http://schemas.openxmlformats.org/drawingml/2006/main">
              <a:ext uri="{FF2B5EF4-FFF2-40B4-BE49-F238E27FC236}">
                <a16:creationId xmlns:a16="http://schemas.microsoft.com/office/drawing/2014/main" id="{B2E554D8-C058-466C-B781-062F7BFB738F}"/>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8</a:t>
            </a:r>
          </a:p>
        </p:txBody>
      </p:sp>
      <p:sp>
        <p:nvSpPr>
          <p:cNvPr id="4" name="unit">
            <a:extLst xmlns:a="http://schemas.openxmlformats.org/drawingml/2006/main">
              <a:ext uri="{FF2B5EF4-FFF2-40B4-BE49-F238E27FC236}">
                <a16:creationId xmlns:a16="http://schemas.microsoft.com/office/drawing/2014/main" id="{B8D5575B-D2A6-4A34-9EFD-8F4D86D0A5CC}"/>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5D65A51C-BE2F-471E-B5FD-2FD1595C8DF0}"/>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Repository y mapeo de modelos</a:t>
            </a:r>
          </a:p>
        </p:txBody>
      </p:sp>
      <p:sp>
        <p:nvSpPr>
          <p:cNvPr id="6" name="source">
            <a:extLst xmlns:a="http://schemas.openxmlformats.org/drawingml/2006/main">
              <a:ext uri="{FF2B5EF4-FFF2-40B4-BE49-F238E27FC236}">
                <a16:creationId xmlns:a16="http://schemas.microsoft.com/office/drawing/2014/main" id="{A1A2A095-80BF-4FBC-8B4D-76875374FC24}"/>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Fuente: Android Developers, capa de datos y modelos</a:t>
            </a:r>
          </a:p>
        </p:txBody>
      </p:sp>
      <p:sp>
        <p:nvSpPr>
          <p:cNvPr id="7" name="label-0">
            <a:extLst xmlns:a="http://schemas.openxmlformats.org/drawingml/2006/main">
              <a:ext uri="{FF2B5EF4-FFF2-40B4-BE49-F238E27FC236}">
                <a16:creationId xmlns:a16="http://schemas.microsoft.com/office/drawing/2014/main" id="{8FF016B4-7F96-416A-922A-8DE634AF33D4}"/>
              </a:ext>
            </a:extLst>
          </p:cNvPr>
          <p:cNvSpPr>
            <a:spLocks xmlns:a="http://schemas.openxmlformats.org/drawingml/2006/main" noGrp="1"/>
          </p:cNvSpPr>
          <p:nvPr/>
        </p:nvSpPr>
        <p:spPr>
          <a:xfrm xmlns:a="http://schemas.openxmlformats.org/drawingml/2006/main">
            <a:off x="838200" y="2667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Acceso mediante un contrato</a:t>
            </a:r>
          </a:p>
        </p:txBody>
      </p:sp>
      <p:sp>
        <p:nvSpPr>
          <p:cNvPr id="8" name="body-0">
            <a:extLst xmlns:a="http://schemas.openxmlformats.org/drawingml/2006/main">
              <a:ext uri="{FF2B5EF4-FFF2-40B4-BE49-F238E27FC236}">
                <a16:creationId xmlns:a16="http://schemas.microsoft.com/office/drawing/2014/main" id="{B96C19A6-26A7-45D9-A5ED-989F121D6738}"/>
              </a:ext>
            </a:extLst>
          </p:cNvPr>
          <p:cNvSpPr>
            <a:spLocks xmlns:a="http://schemas.openxmlformats.org/drawingml/2006/main" noGrp="1"/>
          </p:cNvSpPr>
          <p:nvPr/>
        </p:nvSpPr>
        <p:spPr>
          <a:xfrm xmlns:a="http://schemas.openxmlformats.org/drawingml/2006/main">
            <a:off x="838200" y="31242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El repositorio ofrece operaciones de la aplicación, como observar</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tareas o guardar una nueva. Concentra la coordinación entre el</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almacenamiento local y la fuente remota.</a:t>
            </a:r>
          </a:p>
        </p:txBody>
      </p:sp>
      <p:sp>
        <p:nvSpPr>
          <p:cNvPr id="9" name="label-1">
            <a:extLst xmlns:a="http://schemas.openxmlformats.org/drawingml/2006/main">
              <a:ext uri="{FF2B5EF4-FFF2-40B4-BE49-F238E27FC236}">
                <a16:creationId xmlns:a16="http://schemas.microsoft.com/office/drawing/2014/main" id="{C12424E6-1C9E-40FE-AA54-F9779A3D877D}"/>
              </a:ext>
            </a:extLst>
          </p:cNvPr>
          <p:cNvSpPr>
            <a:spLocks xmlns:a="http://schemas.openxmlformats.org/drawingml/2006/main" noGrp="1"/>
          </p:cNvSpPr>
          <p:nvPr/>
        </p:nvSpPr>
        <p:spPr>
          <a:xfrm xmlns:a="http://schemas.openxmlformats.org/drawingml/2006/main">
            <a:off x="838200" y="45910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Representaciones por frontera</a:t>
            </a:r>
          </a:p>
        </p:txBody>
      </p:sp>
      <p:sp>
        <p:nvSpPr>
          <p:cNvPr id="10" name="body-1">
            <a:extLst xmlns:a="http://schemas.openxmlformats.org/drawingml/2006/main">
              <a:ext uri="{FF2B5EF4-FFF2-40B4-BE49-F238E27FC236}">
                <a16:creationId xmlns:a16="http://schemas.microsoft.com/office/drawing/2014/main" id="{8B24A1B2-F220-4CF2-88BA-4D1332DD34F6}"/>
              </a:ext>
            </a:extLst>
          </p:cNvPr>
          <p:cNvSpPr>
            <a:spLocks xmlns:a="http://schemas.openxmlformats.org/drawingml/2006/main" noGrp="1"/>
          </p:cNvSpPr>
          <p:nvPr/>
        </p:nvSpPr>
        <p:spPr>
          <a:xfrm xmlns:a="http://schemas.openxmlformats.org/drawingml/2006/main">
            <a:off x="838200" y="504825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La respuesta de la API, la entidad de SQLite y el modelo de pantalla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pueden tener estructuras diferentes. Un mapeo explícito transforma los</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campos y evita que la UI dependa del formato de transporte.</a:t>
            </a:r>
          </a:p>
        </p:txBody>
      </p:sp>
      <p:sp>
        <p:nvSpPr>
          <p:cNvPr id="11" name="label-2">
            <a:extLst xmlns:a="http://schemas.openxmlformats.org/drawingml/2006/main">
              <a:ext uri="{FF2B5EF4-FFF2-40B4-BE49-F238E27FC236}">
                <a16:creationId xmlns:a16="http://schemas.microsoft.com/office/drawing/2014/main" id="{9B2E7A7F-F7E4-4394-9815-5EFC3BBF91F0}"/>
              </a:ext>
            </a:extLst>
          </p:cNvPr>
          <p:cNvSpPr>
            <a:spLocks xmlns:a="http://schemas.openxmlformats.org/drawingml/2006/main" noGrp="1"/>
          </p:cNvSpPr>
          <p:nvPr/>
        </p:nvSpPr>
        <p:spPr>
          <a:xfrm xmlns:a="http://schemas.openxmlformats.org/drawingml/2006/main">
            <a:off x="838200" y="65151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Caso breve</a:t>
            </a:r>
          </a:p>
        </p:txBody>
      </p:sp>
      <p:sp>
        <p:nvSpPr>
          <p:cNvPr id="12" name="body-2">
            <a:extLst xmlns:a="http://schemas.openxmlformats.org/drawingml/2006/main">
              <a:ext uri="{FF2B5EF4-FFF2-40B4-BE49-F238E27FC236}">
                <a16:creationId xmlns:a16="http://schemas.microsoft.com/office/drawing/2014/main" id="{B55D249F-2E6F-41BE-B515-ABE666E81D80}"/>
              </a:ext>
            </a:extLst>
          </p:cNvPr>
          <p:cNvSpPr>
            <a:spLocks xmlns:a="http://schemas.openxmlformats.org/drawingml/2006/main" noGrp="1"/>
          </p:cNvSpPr>
          <p:nvPr/>
        </p:nvSpPr>
        <p:spPr>
          <a:xfrm xmlns:a="http://schemas.openxmlformats.org/drawingml/2006/main">
            <a:off x="838200" y="69723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La API cambia el nombre de un campo. El equipo ajusta el DTO y su</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conversión, mientras mantiene el contrato que la pantalla utiliza para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consultar las tareas.</a:t>
            </a:r>
          </a:p>
        </p:txBody>
      </p:sp>
    </p:spTree>
    <p:extLst>
      <p:ext uri="{BB962C8B-B14F-4D97-AF65-F5344CB8AC3E}">
        <p14:creationId xmlns:p14="http://schemas.microsoft.com/office/powerpoint/2010/main" val="1252044158"/>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30726AC-EF02-4FBD-AC54-49C83DA12117}"/>
              </a:ext>
            </a:extLst>
          </p:cNvPr>
          <p:cNvPicPr>
            <a:picLocks xmlns:a="http://schemas.openxmlformats.org/drawingml/2006/main" noChangeAspect="1"/>
          </p:cNvPicPr>
          <p:nvPr/>
        </p:nvPicPr>
        <p:blipFill>
          <a:blip xmlns:r="http://schemas.openxmlformats.org/officeDocument/2006/relationships" xmlns:a="http://schemas.openxmlformats.org/drawingml/2006/main" r:embed="R2e87d2c857ad4cf9"/>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898D772F-3BB4-4EE8-9EC0-6E48C9F93A97}"/>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El servicio de aplicación coordina el trabajo que llega</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desde la API.</a:t>
            </a:r>
          </a:p>
        </p:txBody>
      </p:sp>
      <p:sp>
        <p:nvSpPr>
          <p:cNvPr id="3" name="folio">
            <a:extLst xmlns:a="http://schemas.openxmlformats.org/drawingml/2006/main">
              <a:ext uri="{FF2B5EF4-FFF2-40B4-BE49-F238E27FC236}">
                <a16:creationId xmlns:a16="http://schemas.microsoft.com/office/drawing/2014/main" id="{A77F2FE2-FB5B-4302-A96A-68B881CBFC77}"/>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9</a:t>
            </a:r>
          </a:p>
        </p:txBody>
      </p:sp>
      <p:sp>
        <p:nvSpPr>
          <p:cNvPr id="4" name="unit">
            <a:extLst xmlns:a="http://schemas.openxmlformats.org/drawingml/2006/main">
              <a:ext uri="{FF2B5EF4-FFF2-40B4-BE49-F238E27FC236}">
                <a16:creationId xmlns:a16="http://schemas.microsoft.com/office/drawing/2014/main" id="{AB586E98-8D23-41A2-BAF9-08863493EE35}"/>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CCC11B79-A473-4142-809A-9D4B988FFD4B}"/>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Patrones del backend</a:t>
            </a:r>
          </a:p>
        </p:txBody>
      </p:sp>
      <p:sp>
        <p:nvSpPr>
          <p:cNvPr id="6" name="source">
            <a:extLst xmlns:a="http://schemas.openxmlformats.org/drawingml/2006/main">
              <a:ext uri="{FF2B5EF4-FFF2-40B4-BE49-F238E27FC236}">
                <a16:creationId xmlns:a16="http://schemas.microsoft.com/office/drawing/2014/main" id="{A1173C89-FE2C-4CB9-89A6-A40BD629EC54}"/>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Fuentes: Fowler, Service Layer y Repository, y Microsoft, diseño de API</a:t>
            </a:r>
          </a:p>
        </p:txBody>
      </p:sp>
      <p:sp>
        <p:nvSpPr>
          <p:cNvPr id="7" name="intro">
            <a:extLst xmlns:a="http://schemas.openxmlformats.org/drawingml/2006/main">
              <a:ext uri="{FF2B5EF4-FFF2-40B4-BE49-F238E27FC236}">
                <a16:creationId xmlns:a16="http://schemas.microsoft.com/office/drawing/2014/main" id="{AF5D4F23-E674-4E23-9E08-D78021CEC7BD}"/>
              </a:ext>
            </a:extLst>
          </p:cNvPr>
          <p:cNvSpPr>
            <a:spLocks xmlns:a="http://schemas.openxmlformats.org/drawingml/2006/main" noGrp="1"/>
          </p:cNvSpPr>
          <p:nvPr/>
        </p:nvSpPr>
        <p:spPr>
          <a:xfrm xmlns:a="http://schemas.openxmlformats.org/drawingml/2006/main">
            <a:off x="838200" y="26670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0">
                <a:solidFill>
                  <a:srgbClr val="294653"/>
                </a:solidFill>
                <a:latin typeface="Nimbus Sans"/>
                <a:ea typeface="Nimbus Sans"/>
                <a:cs typeface="Nimbus Sans"/>
              </a:defRPr>
            </a:defPPr>
          </a:lstStyle>
          <a:p xmlns:a="http://schemas.openxmlformats.org/drawingml/2006/main">
            <a:pPr algn="l">
              <a:defRPr sz="2400" b="0">
                <a:solidFill>
                  <a:srgbClr val="294653"/>
                </a:solidFill>
                <a:latin typeface="Nimbus Sans"/>
                <a:ea typeface="Nimbus Sans"/>
                <a:cs typeface="Nimbus Sans"/>
              </a:defRPr>
            </a:pPr>
            <a:r>
              <a:rPr sz="2400" b="0">
                <a:solidFill>
                  <a:srgbClr val="294653"/>
                </a:solidFill>
                <a:latin typeface="Nimbus Sans"/>
                <a:ea typeface="Nimbus Sans"/>
                <a:cs typeface="Nimbus Sans"/>
              </a:rPr>
              <a:t>El backend atiende las operaciones remotas mediante responsabilidades</a:t>
            </a:r>
          </a:p>
          <a:p xmlns:a="http://schemas.openxmlformats.org/drawingml/2006/main">
            <a:pPr algn="l">
              <a:defRPr sz="2400" b="0">
                <a:solidFill>
                  <a:srgbClr val="294653"/>
                </a:solidFill>
                <a:latin typeface="Nimbus Sans"/>
                <a:ea typeface="Nimbus Sans"/>
                <a:cs typeface="Nimbus Sans"/>
              </a:defRPr>
            </a:pPr>
            <a:r>
              <a:rPr sz="2400" b="0">
                <a:solidFill>
                  <a:srgbClr val="294653"/>
                </a:solidFill>
                <a:latin typeface="Nimbus Sans"/>
                <a:ea typeface="Nimbus Sans"/>
                <a:cs typeface="Nimbus Sans"/>
              </a:rPr>
              <a:t>separadas. Una estructura por capas puede ser suficiente para el caso</a:t>
            </a:r>
          </a:p>
          <a:p xmlns:a="http://schemas.openxmlformats.org/drawingml/2006/main">
            <a:pPr algn="l">
              <a:defRPr sz="2400" b="0">
                <a:solidFill>
                  <a:srgbClr val="294653"/>
                </a:solidFill>
                <a:latin typeface="Nimbus Sans"/>
                <a:ea typeface="Nimbus Sans"/>
                <a:cs typeface="Nimbus Sans"/>
              </a:defRPr>
            </a:pPr>
            <a:r>
              <a:rPr sz="2400" b="0">
                <a:solidFill>
                  <a:srgbClr val="294653"/>
                </a:solidFill>
                <a:latin typeface="Nimbus Sans"/>
                <a:ea typeface="Nimbus Sans"/>
                <a:cs typeface="Nimbus Sans"/>
              </a:rPr>
              <a:t>académico.</a:t>
            </a:r>
          </a:p>
        </p:txBody>
      </p:sp>
      <p:graphicFrame>
        <p:nvGraphicFramePr>
          <p:cNvPr id="8" name="">
            <a:extLst xmlns:a="http://schemas.openxmlformats.org/drawingml/2006/main">
              <a:ext uri="{FF2B5EF4-FFF2-40B4-BE49-F238E27FC236}">
                <a16:creationId xmlns:a16="http://schemas.microsoft.com/office/drawing/2014/main" id="{DBD53FFC-23B2-4BD9-B8E3-9EB55C9EBCAB}"/>
              </a:ext>
            </a:extLst>
          </p:cNvPr>
          <p:cNvGraphicFramePr/>
          <p:nvPr/>
        </p:nvGraphicFramePr>
        <p:xfrm>
          <a:off xmlns:a="http://schemas.openxmlformats.org/drawingml/2006/main" x="838200" y="4076700"/>
          <a:ext xmlns:a="http://schemas.openxmlformats.org/drawingml/2006/main" cx="9906000" cy="3124200"/>
        </p:xfrm>
        <a:graphic xmlns:a="http://schemas.openxmlformats.org/drawingml/2006/main">
          <a:graphicData uri="http://schemas.openxmlformats.org/drawingml/2006/table">
            <a:tbl>
              <a:tblPr firstRow="0" bandRow="0"/>
              <a:tblGrid>
                <a:gridCol w="2857500"/>
                <a:gridCol w="3714750"/>
                <a:gridCol w="3333750"/>
              </a:tblGrid>
              <a:tr h="628650">
                <a:tc>
                  <a:txBody>
                    <a:bodyPr lIns="133350" tIns="114300" rIns="114300" bIns="95250">
                      <a:noAutofit/>
                    </a:bodyPr>
                    <a:lstStyle/>
                    <a:p>
                      <a:pPr algn="l"/>
                      <a:r>
                        <a:rPr sz="2100" b="1">
                          <a:solidFill>
                            <a:srgbClr val="FFFFFF"/>
                          </a:solidFill>
                          <a:latin typeface="Nimbus Sans"/>
                          <a:ea typeface="Nimbus Sans"/>
                          <a:cs typeface="Nimbus Sans"/>
                        </a:rPr>
                        <a:t>Responsable</a:t>
                      </a:r>
                    </a:p>
                  </a:txBody>
                  <a:tcPr marL="133350" marR="114300" marT="114300" marB="95250" anchor="ctr">
                    <a:lnL w="9525">
                      <a:solidFill>
                        <a:srgbClr val="CFDAD8"/>
                      </a:solidFill>
                      <a:prstDash val="solid"/>
                    </a:lnL>
                    <a:lnR w="9525">
                      <a:solidFill>
                        <a:srgbClr val="CFDAD8"/>
                      </a:solidFill>
                      <a:prstDash val="solid"/>
                    </a:lnR>
                    <a:lnT w="9525">
                      <a:solidFill>
                        <a:srgbClr val="CFDAD8"/>
                      </a:solidFill>
                      <a:prstDash val="solid"/>
                    </a:lnT>
                    <a:lnB w="9525">
                      <a:solidFill>
                        <a:srgbClr val="CFDAD8"/>
                      </a:solidFill>
                      <a:prstDash val="solid"/>
                    </a:lnB>
                    <a:solidFill>
                      <a:srgbClr val="122F40"/>
                    </a:solidFill>
                  </a:tcPr>
                </a:tc>
                <a:tc>
                  <a:txBody>
                    <a:bodyPr lIns="133350" tIns="114300" rIns="114300" bIns="95250">
                      <a:noAutofit/>
                    </a:bodyPr>
                    <a:lstStyle/>
                    <a:p>
                      <a:pPr algn="l"/>
                      <a:r>
                        <a:rPr sz="2100" b="1">
                          <a:solidFill>
                            <a:srgbClr val="FFFFFF"/>
                          </a:solidFill>
                          <a:latin typeface="Nimbus Sans"/>
                          <a:ea typeface="Nimbus Sans"/>
                          <a:cs typeface="Nimbus Sans"/>
                        </a:rPr>
                        <a:t>Función</a:t>
                      </a:r>
                    </a:p>
                  </a:txBody>
                  <a:tcPr marL="133350" marR="114300" marT="114300" marB="95250" anchor="ctr">
                    <a:lnR w="9525">
                      <a:solidFill>
                        <a:srgbClr val="CFDAD8"/>
                      </a:solidFill>
                      <a:prstDash val="solid"/>
                    </a:lnR>
                    <a:lnT w="9525">
                      <a:solidFill>
                        <a:srgbClr val="CFDAD8"/>
                      </a:solidFill>
                      <a:prstDash val="solid"/>
                    </a:lnT>
                    <a:lnB w="9525">
                      <a:solidFill>
                        <a:srgbClr val="CFDAD8"/>
                      </a:solidFill>
                      <a:prstDash val="solid"/>
                    </a:lnB>
                    <a:solidFill>
                      <a:srgbClr val="122F40"/>
                    </a:solidFill>
                  </a:tcPr>
                </a:tc>
                <a:tc>
                  <a:txBody>
                    <a:bodyPr lIns="133350" tIns="114300" rIns="114300" bIns="95250">
                      <a:noAutofit/>
                    </a:bodyPr>
                    <a:lstStyle/>
                    <a:p>
                      <a:pPr algn="l"/>
                      <a:r>
                        <a:rPr sz="2100" b="1">
                          <a:solidFill>
                            <a:srgbClr val="FFFFFF"/>
                          </a:solidFill>
                          <a:latin typeface="Nimbus Sans"/>
                          <a:ea typeface="Nimbus Sans"/>
                          <a:cs typeface="Nimbus Sans"/>
                        </a:rPr>
                        <a:t>Caso: crear tarea</a:t>
                      </a:r>
                    </a:p>
                  </a:txBody>
                  <a:tcPr marL="133350" marR="114300" marT="114300" marB="95250" anchor="ctr">
                    <a:lnR w="9525">
                      <a:solidFill>
                        <a:srgbClr val="CFDAD8"/>
                      </a:solidFill>
                      <a:prstDash val="solid"/>
                    </a:lnR>
                    <a:lnT w="9525">
                      <a:solidFill>
                        <a:srgbClr val="CFDAD8"/>
                      </a:solidFill>
                      <a:prstDash val="solid"/>
                    </a:lnT>
                    <a:lnB w="9525">
                      <a:solidFill>
                        <a:srgbClr val="CFDAD8"/>
                      </a:solidFill>
                      <a:prstDash val="solid"/>
                    </a:lnB>
                    <a:solidFill>
                      <a:srgbClr val="122F40"/>
                    </a:solidFill>
                  </a:tcPr>
                </a:tc>
              </a:tr>
              <a:tr h="895350">
                <a:tc>
                  <a:txBody>
                    <a:bodyPr lIns="133350" tIns="114300" rIns="114300" bIns="95250">
                      <a:noAutofit/>
                    </a:bodyPr>
                    <a:lstStyle/>
                    <a:p>
                      <a:pPr algn="l"/>
                      <a:r>
                        <a:rPr sz="2100" b="0">
                          <a:solidFill>
                            <a:srgbClr val="294653"/>
                          </a:solidFill>
                          <a:latin typeface="Nimbus Sans"/>
                          <a:ea typeface="Nimbus Sans"/>
                          <a:cs typeface="Nimbus Sans"/>
                        </a:rPr>
                        <a:t>Controlador HTTP</a:t>
                      </a:r>
                    </a:p>
                  </a:txBody>
                  <a:tcPr marL="133350" marR="114300" marT="114300" marB="95250" anchor="ctr">
                    <a:lnL w="9525">
                      <a:solidFill>
                        <a:srgbClr val="CFDAD8"/>
                      </a:solidFill>
                      <a:prstDash val="solid"/>
                    </a:lnL>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Interpretar solicitud y respuesta</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Recibir el DTO</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r>
              <a:tr h="895350">
                <a:tc>
                  <a:txBody>
                    <a:bodyPr lIns="133350" tIns="114300" rIns="114300" bIns="95250">
                      <a:noAutofit/>
                    </a:bodyPr>
                    <a:lstStyle/>
                    <a:p>
                      <a:pPr algn="l"/>
                      <a:r>
                        <a:rPr sz="2100" b="0">
                          <a:solidFill>
                            <a:srgbClr val="294653"/>
                          </a:solidFill>
                          <a:latin typeface="Nimbus Sans"/>
                          <a:ea typeface="Nimbus Sans"/>
                          <a:cs typeface="Nimbus Sans"/>
                        </a:rPr>
                        <a:t>Servicio de aplicación</a:t>
                      </a:r>
                    </a:p>
                  </a:txBody>
                  <a:tcPr marL="133350" marR="114300" marT="114300" marB="95250" anchor="ctr">
                    <a:lnL w="9525">
                      <a:solidFill>
                        <a:srgbClr val="CFDAD8"/>
                      </a:solidFill>
                      <a:prstDash val="solid"/>
                    </a:lnL>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Coordinar reglas y operación</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Verificar el curso</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r>
              <a:tr h="704850">
                <a:tc>
                  <a:txBody>
                    <a:bodyPr lIns="133350" tIns="114300" rIns="114300" bIns="95250">
                      <a:noAutofit/>
                    </a:bodyPr>
                    <a:lstStyle/>
                    <a:p>
                      <a:pPr algn="l"/>
                      <a:r>
                        <a:rPr sz="2100" b="0">
                          <a:solidFill>
                            <a:srgbClr val="294653"/>
                          </a:solidFill>
                          <a:latin typeface="Nimbus Sans"/>
                          <a:ea typeface="Nimbus Sans"/>
                          <a:cs typeface="Nimbus Sans"/>
                        </a:rPr>
                        <a:t>Repositorio</a:t>
                      </a:r>
                    </a:p>
                  </a:txBody>
                  <a:tcPr marL="133350" marR="114300" marT="114300" marB="95250" anchor="ctr">
                    <a:lnL w="9525">
                      <a:solidFill>
                        <a:srgbClr val="CFDAD8"/>
                      </a:solidFill>
                      <a:prstDash val="solid"/>
                    </a:lnL>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Encapsular acceso a datos</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Persistir la tarea</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r>
            </a:tbl>
          </a:graphicData>
        </a:graphic>
      </p:graphicFrame>
      <p:sp>
        <p:nvSpPr>
          <p:cNvPr id="9" name="after">
            <a:extLst xmlns:a="http://schemas.openxmlformats.org/drawingml/2006/main">
              <a:ext uri="{FF2B5EF4-FFF2-40B4-BE49-F238E27FC236}">
                <a16:creationId xmlns:a16="http://schemas.microsoft.com/office/drawing/2014/main" id="{D69860E2-E406-4BC4-B9F4-4BF4A7ADEEC8}"/>
              </a:ext>
            </a:extLst>
          </p:cNvPr>
          <p:cNvSpPr>
            <a:spLocks xmlns:a="http://schemas.openxmlformats.org/drawingml/2006/main" noGrp="1"/>
          </p:cNvSpPr>
          <p:nvPr/>
        </p:nvSpPr>
        <p:spPr>
          <a:xfrm xmlns:a="http://schemas.openxmlformats.org/drawingml/2006/main">
            <a:off x="838200" y="7429500"/>
            <a:ext cx="9906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0">
                <a:solidFill>
                  <a:srgbClr val="294653"/>
                </a:solidFill>
                <a:latin typeface="Nimbus Sans"/>
                <a:ea typeface="Nimbus Sans"/>
                <a:cs typeface="Nimbus Sans"/>
              </a:defRPr>
            </a:defPPr>
          </a:lstStyle>
          <a:p xmlns:a="http://schemas.openxmlformats.org/drawingml/2006/main">
            <a:pPr algn="l">
              <a:defRPr sz="2325" b="0">
                <a:solidFill>
                  <a:srgbClr val="294653"/>
                </a:solidFill>
                <a:latin typeface="Nimbus Sans"/>
                <a:ea typeface="Nimbus Sans"/>
                <a:cs typeface="Nimbus Sans"/>
              </a:defRPr>
            </a:pPr>
            <a:r>
              <a:rPr sz="2325" b="0">
                <a:solidFill>
                  <a:srgbClr val="294653"/>
                </a:solidFill>
                <a:latin typeface="Nimbus Sans"/>
                <a:ea typeface="Nimbus Sans"/>
                <a:cs typeface="Nimbus Sans"/>
              </a:rPr>
              <a:t>Caso breve: si el curso no admite la operación, el servicio devuelve un</a:t>
            </a:r>
          </a:p>
          <a:p xmlns:a="http://schemas.openxmlformats.org/drawingml/2006/main">
            <a:pPr algn="l">
              <a:defRPr sz="2325" b="0">
                <a:solidFill>
                  <a:srgbClr val="294653"/>
                </a:solidFill>
                <a:latin typeface="Nimbus Sans"/>
                <a:ea typeface="Nimbus Sans"/>
                <a:cs typeface="Nimbus Sans"/>
              </a:defRPr>
            </a:pPr>
            <a:r>
              <a:rPr sz="2325" b="0">
                <a:solidFill>
                  <a:srgbClr val="294653"/>
                </a:solidFill>
                <a:latin typeface="Nimbus Sans"/>
                <a:ea typeface="Nimbus Sans"/>
                <a:cs typeface="Nimbus Sans"/>
              </a:rPr>
              <a:t>resultado definido y el controlador lo traduce al contrato de la API.</a:t>
            </a:r>
          </a:p>
        </p:txBody>
      </p:sp>
    </p:spTree>
    <p:extLst>
      <p:ext uri="{BB962C8B-B14F-4D97-AF65-F5344CB8AC3E}">
        <p14:creationId xmlns:p14="http://schemas.microsoft.com/office/powerpoint/2010/main" val="576069922"/>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5387009-BB67-40F8-BE73-D7271CE829C5}"/>
              </a:ext>
            </a:extLst>
          </p:cNvPr>
          <p:cNvPicPr>
            <a:picLocks xmlns:a="http://schemas.openxmlformats.org/drawingml/2006/main" noChangeAspect="1"/>
          </p:cNvPicPr>
          <p:nvPr/>
        </p:nvPicPr>
        <p:blipFill>
          <a:blip xmlns:r="http://schemas.openxmlformats.org/officeDocument/2006/relationships" xmlns:a="http://schemas.openxmlformats.org/drawingml/2006/main" r:embed="Rf0af5c8499394f24"/>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4078D713-890B-43AD-8D48-E4B2D266C005}"/>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Una dependencia de prueba permite reproducir fallos de</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forma controlada.</a:t>
            </a:r>
          </a:p>
        </p:txBody>
      </p:sp>
      <p:sp>
        <p:nvSpPr>
          <p:cNvPr id="3" name="folio">
            <a:extLst xmlns:a="http://schemas.openxmlformats.org/drawingml/2006/main">
              <a:ext uri="{FF2B5EF4-FFF2-40B4-BE49-F238E27FC236}">
                <a16:creationId xmlns:a16="http://schemas.microsoft.com/office/drawing/2014/main" id="{866835FD-D88A-4201-9445-5C2C9859C5D6}"/>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10</a:t>
            </a:r>
          </a:p>
        </p:txBody>
      </p:sp>
      <p:sp>
        <p:nvSpPr>
          <p:cNvPr id="4" name="unit">
            <a:extLst xmlns:a="http://schemas.openxmlformats.org/drawingml/2006/main">
              <a:ext uri="{FF2B5EF4-FFF2-40B4-BE49-F238E27FC236}">
                <a16:creationId xmlns:a16="http://schemas.microsoft.com/office/drawing/2014/main" id="{6E156F87-6806-420B-AC3D-F9062C792B70}"/>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66FEF3B3-190C-44FC-A0C6-D27E251BF638}"/>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Inyección de dependencias</a:t>
            </a:r>
          </a:p>
        </p:txBody>
      </p:sp>
      <p:sp>
        <p:nvSpPr>
          <p:cNvPr id="6" name="source">
            <a:extLst xmlns:a="http://schemas.openxmlformats.org/drawingml/2006/main">
              <a:ext uri="{FF2B5EF4-FFF2-40B4-BE49-F238E27FC236}">
                <a16:creationId xmlns:a16="http://schemas.microsoft.com/office/drawing/2014/main" id="{94EE7C0C-FB5B-4AC0-BA80-34B61682CE38}"/>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Fuente: Android Developers, inyección de dependencias</a:t>
            </a:r>
          </a:p>
        </p:txBody>
      </p:sp>
      <p:sp>
        <p:nvSpPr>
          <p:cNvPr id="7" name="label-0">
            <a:extLst xmlns:a="http://schemas.openxmlformats.org/drawingml/2006/main">
              <a:ext uri="{FF2B5EF4-FFF2-40B4-BE49-F238E27FC236}">
                <a16:creationId xmlns:a16="http://schemas.microsoft.com/office/drawing/2014/main" id="{1AC83B42-29AA-45F4-B643-31C4C6B6340D}"/>
              </a:ext>
            </a:extLst>
          </p:cNvPr>
          <p:cNvSpPr>
            <a:spLocks xmlns:a="http://schemas.openxmlformats.org/drawingml/2006/main" noGrp="1"/>
          </p:cNvSpPr>
          <p:nvPr/>
        </p:nvSpPr>
        <p:spPr>
          <a:xfrm xmlns:a="http://schemas.openxmlformats.org/drawingml/2006/main">
            <a:off x="838200" y="2667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Colaboradores explícitos</a:t>
            </a:r>
          </a:p>
        </p:txBody>
      </p:sp>
      <p:sp>
        <p:nvSpPr>
          <p:cNvPr id="8" name="body-0">
            <a:extLst xmlns:a="http://schemas.openxmlformats.org/drawingml/2006/main">
              <a:ext uri="{FF2B5EF4-FFF2-40B4-BE49-F238E27FC236}">
                <a16:creationId xmlns:a16="http://schemas.microsoft.com/office/drawing/2014/main" id="{33AE09D9-4D34-4F88-B3C2-78B984D128AA}"/>
              </a:ext>
            </a:extLst>
          </p:cNvPr>
          <p:cNvSpPr>
            <a:spLocks xmlns:a="http://schemas.openxmlformats.org/drawingml/2006/main" noGrp="1"/>
          </p:cNvSpPr>
          <p:nvPr/>
        </p:nvSpPr>
        <p:spPr>
          <a:xfrm xmlns:a="http://schemas.openxmlformats.org/drawingml/2006/main">
            <a:off x="838200" y="31242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Una clase recibe por constructor los objetos que necesita, en lugar de</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crear internamente todas sus dependencias. El mismo principio sirve</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para un ViewModel o para un servicio del backend.</a:t>
            </a:r>
          </a:p>
        </p:txBody>
      </p:sp>
      <p:sp>
        <p:nvSpPr>
          <p:cNvPr id="9" name="label-1">
            <a:extLst xmlns:a="http://schemas.openxmlformats.org/drawingml/2006/main">
              <a:ext uri="{FF2B5EF4-FFF2-40B4-BE49-F238E27FC236}">
                <a16:creationId xmlns:a16="http://schemas.microsoft.com/office/drawing/2014/main" id="{1A735CF4-62C7-45FE-BE20-7AA23ED4D1EA}"/>
              </a:ext>
            </a:extLst>
          </p:cNvPr>
          <p:cNvSpPr>
            <a:spLocks xmlns:a="http://schemas.openxmlformats.org/drawingml/2006/main" noGrp="1"/>
          </p:cNvSpPr>
          <p:nvPr/>
        </p:nvSpPr>
        <p:spPr>
          <a:xfrm xmlns:a="http://schemas.openxmlformats.org/drawingml/2006/main">
            <a:off x="838200" y="45910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Pruebas y sustitución</a:t>
            </a:r>
          </a:p>
        </p:txBody>
      </p:sp>
      <p:sp>
        <p:nvSpPr>
          <p:cNvPr id="10" name="body-1">
            <a:extLst xmlns:a="http://schemas.openxmlformats.org/drawingml/2006/main">
              <a:ext uri="{FF2B5EF4-FFF2-40B4-BE49-F238E27FC236}">
                <a16:creationId xmlns:a16="http://schemas.microsoft.com/office/drawing/2014/main" id="{98ADAAFB-97BF-48C1-B70D-4F360D060515}"/>
              </a:ext>
            </a:extLst>
          </p:cNvPr>
          <p:cNvSpPr>
            <a:spLocks xmlns:a="http://schemas.openxmlformats.org/drawingml/2006/main" noGrp="1"/>
          </p:cNvSpPr>
          <p:nvPr/>
        </p:nvSpPr>
        <p:spPr>
          <a:xfrm xmlns:a="http://schemas.openxmlformats.org/drawingml/2006/main">
            <a:off x="838200" y="504825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El contrato del repositorio permite utilizar una implementación real en</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ejecución y una alternativa controlada durante las pruebas. La prueba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decide qué datos o errores devolverá esa alternativa.</a:t>
            </a:r>
          </a:p>
        </p:txBody>
      </p:sp>
      <p:sp>
        <p:nvSpPr>
          <p:cNvPr id="11" name="label-2">
            <a:extLst xmlns:a="http://schemas.openxmlformats.org/drawingml/2006/main">
              <a:ext uri="{FF2B5EF4-FFF2-40B4-BE49-F238E27FC236}">
                <a16:creationId xmlns:a16="http://schemas.microsoft.com/office/drawing/2014/main" id="{CBC92ECC-6BCD-44EE-8706-F6833E17188B}"/>
              </a:ext>
            </a:extLst>
          </p:cNvPr>
          <p:cNvSpPr>
            <a:spLocks xmlns:a="http://schemas.openxmlformats.org/drawingml/2006/main" noGrp="1"/>
          </p:cNvSpPr>
          <p:nvPr/>
        </p:nvSpPr>
        <p:spPr>
          <a:xfrm xmlns:a="http://schemas.openxmlformats.org/drawingml/2006/main">
            <a:off x="838200" y="65151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Caso breve</a:t>
            </a:r>
          </a:p>
        </p:txBody>
      </p:sp>
      <p:sp>
        <p:nvSpPr>
          <p:cNvPr id="12" name="body-2">
            <a:extLst xmlns:a="http://schemas.openxmlformats.org/drawingml/2006/main">
              <a:ext uri="{FF2B5EF4-FFF2-40B4-BE49-F238E27FC236}">
                <a16:creationId xmlns:a16="http://schemas.microsoft.com/office/drawing/2014/main" id="{5C021D65-2B8F-4C39-B53B-EFF2E72EEBE3}"/>
              </a:ext>
            </a:extLst>
          </p:cNvPr>
          <p:cNvSpPr>
            <a:spLocks xmlns:a="http://schemas.openxmlformats.org/drawingml/2006/main" noGrp="1"/>
          </p:cNvSpPr>
          <p:nvPr/>
        </p:nvSpPr>
        <p:spPr>
          <a:xfrm xmlns:a="http://schemas.openxmlformats.org/drawingml/2006/main">
            <a:off x="838200" y="69723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El equipo prueba el formulario con un repositorio que simula falta de</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espacio. Verifica el mensaje y la conservación del título sin depender</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de una caída real del dispositivo.</a:t>
            </a:r>
          </a:p>
        </p:txBody>
      </p:sp>
    </p:spTree>
    <p:extLst>
      <p:ext uri="{BB962C8B-B14F-4D97-AF65-F5344CB8AC3E}">
        <p14:creationId xmlns:p14="http://schemas.microsoft.com/office/powerpoint/2010/main" val="242536908"/>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E630FC3-0211-41CB-B3E3-D0F8F9941957}"/>
              </a:ext>
            </a:extLst>
          </p:cNvPr>
          <p:cNvPicPr>
            <a:picLocks xmlns:a="http://schemas.openxmlformats.org/drawingml/2006/main" noChangeAspect="1"/>
          </p:cNvPicPr>
          <p:nvPr/>
        </p:nvPicPr>
        <p:blipFill>
          <a:blip xmlns:r="http://schemas.openxmlformats.org/officeDocument/2006/relationships" xmlns:a="http://schemas.openxmlformats.org/drawingml/2006/main" r:embed="Ra75002b1d1ad4d62"/>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7F533C9A-B22C-4EF7-8089-46443578B105}"/>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El contrato conecta campos de la aplicación con datos de</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transporte.</a:t>
            </a:r>
          </a:p>
        </p:txBody>
      </p:sp>
      <p:sp>
        <p:nvSpPr>
          <p:cNvPr id="3" name="folio">
            <a:extLst xmlns:a="http://schemas.openxmlformats.org/drawingml/2006/main">
              <a:ext uri="{FF2B5EF4-FFF2-40B4-BE49-F238E27FC236}">
                <a16:creationId xmlns:a16="http://schemas.microsoft.com/office/drawing/2014/main" id="{E4497B80-20C9-41DF-93E5-A9FC7B7C6C99}"/>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11</a:t>
            </a:r>
          </a:p>
        </p:txBody>
      </p:sp>
      <p:sp>
        <p:nvSpPr>
          <p:cNvPr id="4" name="unit">
            <a:extLst xmlns:a="http://schemas.openxmlformats.org/drawingml/2006/main">
              <a:ext uri="{FF2B5EF4-FFF2-40B4-BE49-F238E27FC236}">
                <a16:creationId xmlns:a16="http://schemas.microsoft.com/office/drawing/2014/main" id="{A9C6F2A2-11B9-4495-9648-AAF363CEB34B}"/>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0CF326B9-2CD9-4FB5-AE04-28C059431F32}"/>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DTO y contrato de la API</a:t>
            </a:r>
          </a:p>
        </p:txBody>
      </p:sp>
      <p:sp>
        <p:nvSpPr>
          <p:cNvPr id="6" name="source">
            <a:extLst xmlns:a="http://schemas.openxmlformats.org/drawingml/2006/main">
              <a:ext uri="{FF2B5EF4-FFF2-40B4-BE49-F238E27FC236}">
                <a16:creationId xmlns:a16="http://schemas.microsoft.com/office/drawing/2014/main" id="{6C5751C5-FAC4-40E9-A31E-6F356A4CE503}"/>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Fuentes: Fowler, Data Transfer Object, y Microsoft, diseño de API</a:t>
            </a:r>
          </a:p>
        </p:txBody>
      </p:sp>
      <p:sp>
        <p:nvSpPr>
          <p:cNvPr id="7" name="label-0">
            <a:extLst xmlns:a="http://schemas.openxmlformats.org/drawingml/2006/main">
              <a:ext uri="{FF2B5EF4-FFF2-40B4-BE49-F238E27FC236}">
                <a16:creationId xmlns:a16="http://schemas.microsoft.com/office/drawing/2014/main" id="{7A710040-DADF-4D57-B830-CFEB409EA01E}"/>
              </a:ext>
            </a:extLst>
          </p:cNvPr>
          <p:cNvSpPr>
            <a:spLocks xmlns:a="http://schemas.openxmlformats.org/drawingml/2006/main" noGrp="1"/>
          </p:cNvSpPr>
          <p:nvPr/>
        </p:nvSpPr>
        <p:spPr>
          <a:xfrm xmlns:a="http://schemas.openxmlformats.org/drawingml/2006/main">
            <a:off x="838200" y="2667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Datos que atraviesan la frontera</a:t>
            </a:r>
          </a:p>
        </p:txBody>
      </p:sp>
      <p:sp>
        <p:nvSpPr>
          <p:cNvPr id="8" name="body-0">
            <a:extLst xmlns:a="http://schemas.openxmlformats.org/drawingml/2006/main">
              <a:ext uri="{FF2B5EF4-FFF2-40B4-BE49-F238E27FC236}">
                <a16:creationId xmlns:a16="http://schemas.microsoft.com/office/drawing/2014/main" id="{7EB2AC7F-68EE-40E1-A513-CD2F61BF8221}"/>
              </a:ext>
            </a:extLst>
          </p:cNvPr>
          <p:cNvSpPr>
            <a:spLocks xmlns:a="http://schemas.openxmlformats.org/drawingml/2006/main" noGrp="1"/>
          </p:cNvSpPr>
          <p:nvPr/>
        </p:nvSpPr>
        <p:spPr>
          <a:xfrm xmlns:a="http://schemas.openxmlformats.org/drawingml/2006/main">
            <a:off x="838200" y="3124200"/>
            <a:ext cx="990600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Un DTO transporta los campos que la operación necesita. El contrato</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define sus nombres, tipos, obligatoriedad y respuestas. La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representación pública puede diferir de la estructura interna de</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almacenamiento.</a:t>
            </a:r>
          </a:p>
        </p:txBody>
      </p:sp>
      <p:sp>
        <p:nvSpPr>
          <p:cNvPr id="9" name="label-1">
            <a:extLst xmlns:a="http://schemas.openxmlformats.org/drawingml/2006/main">
              <a:ext uri="{FF2B5EF4-FFF2-40B4-BE49-F238E27FC236}">
                <a16:creationId xmlns:a16="http://schemas.microsoft.com/office/drawing/2014/main" id="{7A5E689C-57D8-4E48-9D85-FC1C3603969F}"/>
              </a:ext>
            </a:extLst>
          </p:cNvPr>
          <p:cNvSpPr>
            <a:spLocks xmlns:a="http://schemas.openxmlformats.org/drawingml/2006/main" noGrp="1"/>
          </p:cNvSpPr>
          <p:nvPr/>
        </p:nvSpPr>
        <p:spPr>
          <a:xfrm xmlns:a="http://schemas.openxmlformats.org/drawingml/2006/main">
            <a:off x="838200" y="4981575"/>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Validación del servidor</a:t>
            </a:r>
          </a:p>
        </p:txBody>
      </p:sp>
      <p:sp>
        <p:nvSpPr>
          <p:cNvPr id="10" name="body-1">
            <a:extLst xmlns:a="http://schemas.openxmlformats.org/drawingml/2006/main">
              <a:ext uri="{FF2B5EF4-FFF2-40B4-BE49-F238E27FC236}">
                <a16:creationId xmlns:a16="http://schemas.microsoft.com/office/drawing/2014/main" id="{A5E77946-717F-486F-A47E-F9FBACF64F53}"/>
              </a:ext>
            </a:extLst>
          </p:cNvPr>
          <p:cNvSpPr>
            <a:spLocks xmlns:a="http://schemas.openxmlformats.org/drawingml/2006/main" noGrp="1"/>
          </p:cNvSpPr>
          <p:nvPr/>
        </p:nvSpPr>
        <p:spPr>
          <a:xfrm xmlns:a="http://schemas.openxmlformats.org/drawingml/2006/main">
            <a:off x="838200" y="5438775"/>
            <a:ext cx="990600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El backend verifica los datos y los permisos antes de modificar</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recursos. La validación del formulario ofrece ayuda inmediata,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mientras el servidor conserva la decisión sobre las operaciones</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autorizadas.</a:t>
            </a:r>
          </a:p>
        </p:txBody>
      </p:sp>
      <p:sp>
        <p:nvSpPr>
          <p:cNvPr id="11" name="label-2">
            <a:extLst xmlns:a="http://schemas.openxmlformats.org/drawingml/2006/main">
              <a:ext uri="{FF2B5EF4-FFF2-40B4-BE49-F238E27FC236}">
                <a16:creationId xmlns:a16="http://schemas.microsoft.com/office/drawing/2014/main" id="{41CA94D9-4DF0-4675-A348-3AC6783E09FA}"/>
              </a:ext>
            </a:extLst>
          </p:cNvPr>
          <p:cNvSpPr>
            <a:spLocks xmlns:a="http://schemas.openxmlformats.org/drawingml/2006/main" noGrp="1"/>
          </p:cNvSpPr>
          <p:nvPr/>
        </p:nvSpPr>
        <p:spPr>
          <a:xfrm xmlns:a="http://schemas.openxmlformats.org/drawingml/2006/main">
            <a:off x="838200" y="72961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Caso breve</a:t>
            </a:r>
          </a:p>
        </p:txBody>
      </p:sp>
      <p:sp>
        <p:nvSpPr>
          <p:cNvPr id="12" name="body-2">
            <a:extLst xmlns:a="http://schemas.openxmlformats.org/drawingml/2006/main">
              <a:ext uri="{FF2B5EF4-FFF2-40B4-BE49-F238E27FC236}">
                <a16:creationId xmlns:a16="http://schemas.microsoft.com/office/drawing/2014/main" id="{D6689E3C-F79A-4D6A-8230-6468A6544481}"/>
              </a:ext>
            </a:extLst>
          </p:cNvPr>
          <p:cNvSpPr>
            <a:spLocks xmlns:a="http://schemas.openxmlformats.org/drawingml/2006/main" noGrp="1"/>
          </p:cNvSpPr>
          <p:nvPr/>
        </p:nvSpPr>
        <p:spPr>
          <a:xfrm xmlns:a="http://schemas.openxmlformats.org/drawingml/2006/main">
            <a:off x="838200" y="775335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El móvil envía id, titulo y curso_id. El backend rechaza un título vacío y</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devuelve un error de campo que la aplicación puede asociar con el</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control correspondiente.</a:t>
            </a:r>
          </a:p>
        </p:txBody>
      </p:sp>
    </p:spTree>
    <p:extLst>
      <p:ext uri="{BB962C8B-B14F-4D97-AF65-F5344CB8AC3E}">
        <p14:creationId xmlns:p14="http://schemas.microsoft.com/office/powerpoint/2010/main" val="1447658996"/>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018A902-7D14-44CB-82DD-C3241BA47122}"/>
              </a:ext>
            </a:extLst>
          </p:cNvPr>
          <p:cNvPicPr>
            <a:picLocks xmlns:a="http://schemas.openxmlformats.org/drawingml/2006/main" noChangeAspect="1"/>
          </p:cNvPicPr>
          <p:nvPr/>
        </p:nvPicPr>
        <p:blipFill>
          <a:blip xmlns:r="http://schemas.openxmlformats.org/officeDocument/2006/relationships" xmlns:a="http://schemas.openxmlformats.org/drawingml/2006/main" r:embed="R4af6095f66c6485f"/>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16B04476-A5CD-4755-B59A-D231F10DF952}"/>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Guardar en el dispositivo y recibir confirmación del</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servidor son estados diferentes.</a:t>
            </a:r>
          </a:p>
        </p:txBody>
      </p:sp>
      <p:sp>
        <p:nvSpPr>
          <p:cNvPr id="3" name="folio">
            <a:extLst xmlns:a="http://schemas.openxmlformats.org/drawingml/2006/main">
              <a:ext uri="{FF2B5EF4-FFF2-40B4-BE49-F238E27FC236}">
                <a16:creationId xmlns:a16="http://schemas.microsoft.com/office/drawing/2014/main" id="{6AE41D74-8797-43B8-9BD7-BAB74FC21944}"/>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12</a:t>
            </a:r>
          </a:p>
        </p:txBody>
      </p:sp>
      <p:sp>
        <p:nvSpPr>
          <p:cNvPr id="4" name="unit">
            <a:extLst xmlns:a="http://schemas.openxmlformats.org/drawingml/2006/main">
              <a:ext uri="{FF2B5EF4-FFF2-40B4-BE49-F238E27FC236}">
                <a16:creationId xmlns:a16="http://schemas.microsoft.com/office/drawing/2014/main" id="{A71D51CD-DB45-4209-B1CF-282623780324}"/>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F417260D-385E-4D1B-AD5B-BF46B30A78D4}"/>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Sincronización y cambios pendientes</a:t>
            </a:r>
          </a:p>
        </p:txBody>
      </p:sp>
      <p:sp>
        <p:nvSpPr>
          <p:cNvPr id="6" name="source">
            <a:extLst xmlns:a="http://schemas.openxmlformats.org/drawingml/2006/main">
              <a:ext uri="{FF2B5EF4-FFF2-40B4-BE49-F238E27FC236}">
                <a16:creationId xmlns:a16="http://schemas.microsoft.com/office/drawing/2014/main" id="{073DAB65-3123-405A-AB6B-90084D548902}"/>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Fuentes: Android Developers, funcionamiento sin conexión, y Microsoft, API</a:t>
            </a:r>
          </a:p>
        </p:txBody>
      </p:sp>
      <p:sp>
        <p:nvSpPr>
          <p:cNvPr id="7" name="label-0">
            <a:extLst xmlns:a="http://schemas.openxmlformats.org/drawingml/2006/main">
              <a:ext uri="{FF2B5EF4-FFF2-40B4-BE49-F238E27FC236}">
                <a16:creationId xmlns:a16="http://schemas.microsoft.com/office/drawing/2014/main" id="{C0CC2BF9-159E-41C3-A932-A36D4DBFAC6C}"/>
              </a:ext>
            </a:extLst>
          </p:cNvPr>
          <p:cNvSpPr>
            <a:spLocks xmlns:a="http://schemas.openxmlformats.org/drawingml/2006/main" noGrp="1"/>
          </p:cNvSpPr>
          <p:nvPr/>
        </p:nvSpPr>
        <p:spPr>
          <a:xfrm xmlns:a="http://schemas.openxmlformats.org/drawingml/2006/main">
            <a:off x="838200" y="2667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Guardado local primero</a:t>
            </a:r>
          </a:p>
        </p:txBody>
      </p:sp>
      <p:sp>
        <p:nvSpPr>
          <p:cNvPr id="8" name="body-0">
            <a:extLst xmlns:a="http://schemas.openxmlformats.org/drawingml/2006/main">
              <a:ext uri="{FF2B5EF4-FFF2-40B4-BE49-F238E27FC236}">
                <a16:creationId xmlns:a16="http://schemas.microsoft.com/office/drawing/2014/main" id="{E6CA6FA3-B221-4666-BED4-71E4CD01E3C6}"/>
              </a:ext>
            </a:extLst>
          </p:cNvPr>
          <p:cNvSpPr>
            <a:spLocks xmlns:a="http://schemas.openxmlformats.org/drawingml/2006/main" noGrp="1"/>
          </p:cNvSpPr>
          <p:nvPr/>
        </p:nvSpPr>
        <p:spPr>
          <a:xfrm xmlns:a="http://schemas.openxmlformats.org/drawingml/2006/main">
            <a:off x="838200" y="31242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En el diseño propuesto, la aplicación guarda la tarea localmente y deja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una operación pendiente. La UI lee los datos locales y muestra su</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estado de sincronización.</a:t>
            </a:r>
          </a:p>
        </p:txBody>
      </p:sp>
      <p:sp>
        <p:nvSpPr>
          <p:cNvPr id="9" name="label-1">
            <a:extLst xmlns:a="http://schemas.openxmlformats.org/drawingml/2006/main">
              <a:ext uri="{FF2B5EF4-FFF2-40B4-BE49-F238E27FC236}">
                <a16:creationId xmlns:a16="http://schemas.microsoft.com/office/drawing/2014/main" id="{161913BF-D55E-48E6-9D7A-290BAEE280D6}"/>
              </a:ext>
            </a:extLst>
          </p:cNvPr>
          <p:cNvSpPr>
            <a:spLocks xmlns:a="http://schemas.openxmlformats.org/drawingml/2006/main" noGrp="1"/>
          </p:cNvSpPr>
          <p:nvPr/>
        </p:nvSpPr>
        <p:spPr>
          <a:xfrm xmlns:a="http://schemas.openxmlformats.org/drawingml/2006/main">
            <a:off x="838200" y="45910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Reintentos y conflictos</a:t>
            </a:r>
          </a:p>
        </p:txBody>
      </p:sp>
      <p:sp>
        <p:nvSpPr>
          <p:cNvPr id="10" name="body-1">
            <a:extLst xmlns:a="http://schemas.openxmlformats.org/drawingml/2006/main">
              <a:ext uri="{FF2B5EF4-FFF2-40B4-BE49-F238E27FC236}">
                <a16:creationId xmlns:a16="http://schemas.microsoft.com/office/drawing/2014/main" id="{01CDEFC3-7318-4B5B-B13A-D0186412D0DB}"/>
              </a:ext>
            </a:extLst>
          </p:cNvPr>
          <p:cNvSpPr>
            <a:spLocks xmlns:a="http://schemas.openxmlformats.org/drawingml/2006/main" noGrp="1"/>
          </p:cNvSpPr>
          <p:nvPr/>
        </p:nvSpPr>
        <p:spPr>
          <a:xfrm xmlns:a="http://schemas.openxmlformats.org/drawingml/2006/main">
            <a:off x="838200" y="504825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El envío utiliza un identificador estable para evitar duplicados. El</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contrato define cómo reintentar y resolver versiones concurrentes. Un</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indicador de pendiente, por sí solo, no resuelve los conflictos.</a:t>
            </a:r>
          </a:p>
        </p:txBody>
      </p:sp>
      <p:sp>
        <p:nvSpPr>
          <p:cNvPr id="11" name="label-2">
            <a:extLst xmlns:a="http://schemas.openxmlformats.org/drawingml/2006/main">
              <a:ext uri="{FF2B5EF4-FFF2-40B4-BE49-F238E27FC236}">
                <a16:creationId xmlns:a16="http://schemas.microsoft.com/office/drawing/2014/main" id="{09EC2716-E010-4D99-A50E-FCF38A4665D5}"/>
              </a:ext>
            </a:extLst>
          </p:cNvPr>
          <p:cNvSpPr>
            <a:spLocks xmlns:a="http://schemas.openxmlformats.org/drawingml/2006/main" noGrp="1"/>
          </p:cNvSpPr>
          <p:nvPr/>
        </p:nvSpPr>
        <p:spPr>
          <a:xfrm xmlns:a="http://schemas.openxmlformats.org/drawingml/2006/main">
            <a:off x="838200" y="65151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Caso breve</a:t>
            </a:r>
          </a:p>
        </p:txBody>
      </p:sp>
      <p:sp>
        <p:nvSpPr>
          <p:cNvPr id="12" name="body-2">
            <a:extLst xmlns:a="http://schemas.openxmlformats.org/drawingml/2006/main">
              <a:ext uri="{FF2B5EF4-FFF2-40B4-BE49-F238E27FC236}">
                <a16:creationId xmlns:a16="http://schemas.microsoft.com/office/drawing/2014/main" id="{616F0805-D486-4DF6-A0EF-6D62919AC848}"/>
              </a:ext>
            </a:extLst>
          </p:cNvPr>
          <p:cNvSpPr>
            <a:spLocks xmlns:a="http://schemas.openxmlformats.org/drawingml/2006/main" noGrp="1"/>
          </p:cNvSpPr>
          <p:nvPr/>
        </p:nvSpPr>
        <p:spPr>
          <a:xfrm xmlns:a="http://schemas.openxmlformats.org/drawingml/2006/main">
            <a:off x="838200" y="6972300"/>
            <a:ext cx="990600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El servidor recibe una tarea, pero su respuesta se pierde. El móvil</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repite una solicitud idempotente sobre el mismo recurso. La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implementación del servidor debe conservar una única tarea con ese</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identificador.</a:t>
            </a:r>
          </a:p>
        </p:txBody>
      </p:sp>
    </p:spTree>
    <p:extLst>
      <p:ext uri="{BB962C8B-B14F-4D97-AF65-F5344CB8AC3E}">
        <p14:creationId xmlns:p14="http://schemas.microsoft.com/office/powerpoint/2010/main" val="874131159"/>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35B1DCC-7DCB-4D5A-B934-B389BDA6CD84}"/>
              </a:ext>
            </a:extLst>
          </p:cNvPr>
          <p:cNvPicPr>
            <a:picLocks xmlns:a="http://schemas.openxmlformats.org/drawingml/2006/main" noChangeAspect="1"/>
          </p:cNvPicPr>
          <p:nvPr/>
        </p:nvPicPr>
        <p:blipFill>
          <a:blip xmlns:r="http://schemas.openxmlformats.org/officeDocument/2006/relationships" xmlns:a="http://schemas.openxmlformats.org/drawingml/2006/main" r:embed="Ra0e8a88e143e4849"/>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35FC3F1C-5627-4123-B3BF-8F7E0268EF78}"/>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SQLite permite que los datos sigan disponibles en el</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dispositivo.</a:t>
            </a:r>
          </a:p>
        </p:txBody>
      </p:sp>
      <p:sp>
        <p:nvSpPr>
          <p:cNvPr id="3" name="folio">
            <a:extLst xmlns:a="http://schemas.openxmlformats.org/drawingml/2006/main">
              <a:ext uri="{FF2B5EF4-FFF2-40B4-BE49-F238E27FC236}">
                <a16:creationId xmlns:a16="http://schemas.microsoft.com/office/drawing/2014/main" id="{C72AB896-13F8-46D1-AB90-ECDE14EAEA0B}"/>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13</a:t>
            </a:r>
          </a:p>
        </p:txBody>
      </p:sp>
      <p:sp>
        <p:nvSpPr>
          <p:cNvPr id="4" name="unit">
            <a:extLst xmlns:a="http://schemas.openxmlformats.org/drawingml/2006/main">
              <a:ext uri="{FF2B5EF4-FFF2-40B4-BE49-F238E27FC236}">
                <a16:creationId xmlns:a16="http://schemas.microsoft.com/office/drawing/2014/main" id="{DAC9057E-E722-4E9A-B093-6C2057E44F15}"/>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21FCB5B5-57E2-4959-9F5D-7D08F4E2EDB0}"/>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SQLite y su uso con Room</a:t>
            </a:r>
          </a:p>
        </p:txBody>
      </p:sp>
      <p:sp>
        <p:nvSpPr>
          <p:cNvPr id="6" name="source">
            <a:extLst xmlns:a="http://schemas.openxmlformats.org/drawingml/2006/main">
              <a:ext uri="{FF2B5EF4-FFF2-40B4-BE49-F238E27FC236}">
                <a16:creationId xmlns:a16="http://schemas.microsoft.com/office/drawing/2014/main" id="{227ECCFE-B287-4523-8B4B-B680639424CB}"/>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Fuentes: SQLite, documentación oficial, y Android Developers, Room</a:t>
            </a:r>
          </a:p>
        </p:txBody>
      </p:sp>
      <p:sp>
        <p:nvSpPr>
          <p:cNvPr id="7" name="label-0">
            <a:extLst xmlns:a="http://schemas.openxmlformats.org/drawingml/2006/main">
              <a:ext uri="{FF2B5EF4-FFF2-40B4-BE49-F238E27FC236}">
                <a16:creationId xmlns:a16="http://schemas.microsoft.com/office/drawing/2014/main" id="{453FF83A-34AC-40D0-B7BE-7CEB39F57691}"/>
              </a:ext>
            </a:extLst>
          </p:cNvPr>
          <p:cNvSpPr>
            <a:spLocks xmlns:a="http://schemas.openxmlformats.org/drawingml/2006/main" noGrp="1"/>
          </p:cNvSpPr>
          <p:nvPr/>
        </p:nvSpPr>
        <p:spPr>
          <a:xfrm xmlns:a="http://schemas.openxmlformats.org/drawingml/2006/main">
            <a:off x="838200" y="2667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Persistencia dentro de la aplicación</a:t>
            </a:r>
          </a:p>
        </p:txBody>
      </p:sp>
      <p:sp>
        <p:nvSpPr>
          <p:cNvPr id="8" name="body-0">
            <a:extLst xmlns:a="http://schemas.openxmlformats.org/drawingml/2006/main">
              <a:ext uri="{FF2B5EF4-FFF2-40B4-BE49-F238E27FC236}">
                <a16:creationId xmlns:a16="http://schemas.microsoft.com/office/drawing/2014/main" id="{9DD1AD87-B014-448C-8EDB-2AA246A26386}"/>
              </a:ext>
            </a:extLst>
          </p:cNvPr>
          <p:cNvSpPr>
            <a:spLocks xmlns:a="http://schemas.openxmlformats.org/drawingml/2006/main" noGrp="1"/>
          </p:cNvSpPr>
          <p:nvPr/>
        </p:nvSpPr>
        <p:spPr>
          <a:xfrm xmlns:a="http://schemas.openxmlformats.org/drawingml/2006/main">
            <a:off x="838200" y="31242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SQLite es un motor SQL embebido que accede a archivos del</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dispositivo sin un proceso servidor separado. Permite organizar datos</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relacionados y ejecutar transacciones.</a:t>
            </a:r>
          </a:p>
        </p:txBody>
      </p:sp>
      <p:sp>
        <p:nvSpPr>
          <p:cNvPr id="9" name="label-1">
            <a:extLst xmlns:a="http://schemas.openxmlformats.org/drawingml/2006/main">
              <a:ext uri="{FF2B5EF4-FFF2-40B4-BE49-F238E27FC236}">
                <a16:creationId xmlns:a16="http://schemas.microsoft.com/office/drawing/2014/main" id="{59AC8673-0A52-4D5C-B713-35EF8F97EBF0}"/>
              </a:ext>
            </a:extLst>
          </p:cNvPr>
          <p:cNvSpPr>
            <a:spLocks xmlns:a="http://schemas.openxmlformats.org/drawingml/2006/main" noGrp="1"/>
          </p:cNvSpPr>
          <p:nvPr/>
        </p:nvSpPr>
        <p:spPr>
          <a:xfrm xmlns:a="http://schemas.openxmlformats.org/drawingml/2006/main">
            <a:off x="838200" y="45910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Diseño de los valores</a:t>
            </a:r>
          </a:p>
        </p:txBody>
      </p:sp>
      <p:sp>
        <p:nvSpPr>
          <p:cNvPr id="10" name="body-1">
            <a:extLst xmlns:a="http://schemas.openxmlformats.org/drawingml/2006/main">
              <a:ext uri="{FF2B5EF4-FFF2-40B4-BE49-F238E27FC236}">
                <a16:creationId xmlns:a16="http://schemas.microsoft.com/office/drawing/2014/main" id="{1C80A8EB-F202-4BBF-8CB8-41CD68FCCE81}"/>
              </a:ext>
            </a:extLst>
          </p:cNvPr>
          <p:cNvSpPr>
            <a:spLocks xmlns:a="http://schemas.openxmlformats.org/drawingml/2006/main" noGrp="1"/>
          </p:cNvSpPr>
          <p:nvPr/>
        </p:nvSpPr>
        <p:spPr>
          <a:xfrm xmlns:a="http://schemas.openxmlformats.org/drawingml/2006/main">
            <a:off x="838200" y="5048250"/>
            <a:ext cx="990600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SQLite admite tipado flexible. El esquema del ejemplo utiliza TEXT</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para identificadores y títulos, e INTEGER con valores 0 y 1 para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banderas. Las restricciones expresan las reglas que la base debe</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comprobar.</a:t>
            </a:r>
          </a:p>
        </p:txBody>
      </p:sp>
      <p:sp>
        <p:nvSpPr>
          <p:cNvPr id="11" name="label-2">
            <a:extLst xmlns:a="http://schemas.openxmlformats.org/drawingml/2006/main">
              <a:ext uri="{FF2B5EF4-FFF2-40B4-BE49-F238E27FC236}">
                <a16:creationId xmlns:a16="http://schemas.microsoft.com/office/drawing/2014/main" id="{E2E2F154-F0DE-4D2E-A7D6-76A61EFE5395}"/>
              </a:ext>
            </a:extLst>
          </p:cNvPr>
          <p:cNvSpPr>
            <a:spLocks xmlns:a="http://schemas.openxmlformats.org/drawingml/2006/main" noGrp="1"/>
          </p:cNvSpPr>
          <p:nvPr/>
        </p:nvSpPr>
        <p:spPr>
          <a:xfrm xmlns:a="http://schemas.openxmlformats.org/drawingml/2006/main">
            <a:off x="838200" y="6905625"/>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Caso breve con Android</a:t>
            </a:r>
          </a:p>
        </p:txBody>
      </p:sp>
      <p:sp>
        <p:nvSpPr>
          <p:cNvPr id="12" name="body-2">
            <a:extLst xmlns:a="http://schemas.openxmlformats.org/drawingml/2006/main">
              <a:ext uri="{FF2B5EF4-FFF2-40B4-BE49-F238E27FC236}">
                <a16:creationId xmlns:a16="http://schemas.microsoft.com/office/drawing/2014/main" id="{B8332B09-3691-4CAC-86F1-2DB3A61F8647}"/>
              </a:ext>
            </a:extLst>
          </p:cNvPr>
          <p:cNvSpPr>
            <a:spLocks xmlns:a="http://schemas.openxmlformats.org/drawingml/2006/main" noGrp="1"/>
          </p:cNvSpPr>
          <p:nvPr/>
        </p:nvSpPr>
        <p:spPr>
          <a:xfrm xmlns:a="http://schemas.openxmlformats.org/drawingml/2006/main">
            <a:off x="838200" y="7362825"/>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Room añade una capa sobre SQLite y verifica consultas durante la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compilación. Las entidades representan tablas y los DAO definen</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operaciones. El repositorio utiliza esos DAO para persistir tareas.</a:t>
            </a:r>
          </a:p>
        </p:txBody>
      </p:sp>
    </p:spTree>
    <p:extLst>
      <p:ext uri="{BB962C8B-B14F-4D97-AF65-F5344CB8AC3E}">
        <p14:creationId xmlns:p14="http://schemas.microsoft.com/office/powerpoint/2010/main" val="1881540644"/>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BF8BDB2-8902-418B-82EC-5D1FDFD87515}"/>
              </a:ext>
            </a:extLst>
          </p:cNvPr>
          <p:cNvPicPr>
            <a:picLocks xmlns:a="http://schemas.openxmlformats.org/drawingml/2006/main" noChangeAspect="1"/>
          </p:cNvPicPr>
          <p:nvPr/>
        </p:nvPicPr>
        <p:blipFill>
          <a:blip xmlns:r="http://schemas.openxmlformats.org/officeDocument/2006/relationships" xmlns:a="http://schemas.openxmlformats.org/drawingml/2006/main" r:embed="R197818b1a2b3427b"/>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47A08144-FE4A-4602-A2F5-39F4EA7AC0C4}"/>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Un curso agrupa varias tareas sin repetir su nombre en</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cada registro.</a:t>
            </a:r>
          </a:p>
        </p:txBody>
      </p:sp>
      <p:sp>
        <p:nvSpPr>
          <p:cNvPr id="3" name="folio">
            <a:extLst xmlns:a="http://schemas.openxmlformats.org/drawingml/2006/main">
              <a:ext uri="{FF2B5EF4-FFF2-40B4-BE49-F238E27FC236}">
                <a16:creationId xmlns:a16="http://schemas.microsoft.com/office/drawing/2014/main" id="{B2853352-DE59-4D17-A4FD-A976A5BA5E50}"/>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14</a:t>
            </a:r>
          </a:p>
        </p:txBody>
      </p:sp>
      <p:sp>
        <p:nvSpPr>
          <p:cNvPr id="4" name="unit">
            <a:extLst xmlns:a="http://schemas.openxmlformats.org/drawingml/2006/main">
              <a:ext uri="{FF2B5EF4-FFF2-40B4-BE49-F238E27FC236}">
                <a16:creationId xmlns:a16="http://schemas.microsoft.com/office/drawing/2014/main" id="{46AABCAD-A489-4B32-9494-A60F986EC1E6}"/>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8E834B85-B859-4A43-BF41-7A77C7BC44F9}"/>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Modelo relacional: cursos y tareas</a:t>
            </a:r>
          </a:p>
        </p:txBody>
      </p:sp>
      <p:sp>
        <p:nvSpPr>
          <p:cNvPr id="6" name="source">
            <a:extLst xmlns:a="http://schemas.openxmlformats.org/drawingml/2006/main">
              <a:ext uri="{FF2B5EF4-FFF2-40B4-BE49-F238E27FC236}">
                <a16:creationId xmlns:a16="http://schemas.microsoft.com/office/drawing/2014/main" id="{29008451-3B7C-43F9-9C96-76841AF253F2}"/>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Diseño didáctico. Base: SQLite, CREATE TABLE y claves foráneas</a:t>
            </a:r>
          </a:p>
        </p:txBody>
      </p:sp>
      <p:sp>
        <p:nvSpPr>
          <p:cNvPr id="7" name="intro">
            <a:extLst xmlns:a="http://schemas.openxmlformats.org/drawingml/2006/main">
              <a:ext uri="{FF2B5EF4-FFF2-40B4-BE49-F238E27FC236}">
                <a16:creationId xmlns:a16="http://schemas.microsoft.com/office/drawing/2014/main" id="{A6FA4369-C8A0-4D4C-970A-9A2DB69E566D}"/>
              </a:ext>
            </a:extLst>
          </p:cNvPr>
          <p:cNvSpPr>
            <a:spLocks xmlns:a="http://schemas.openxmlformats.org/drawingml/2006/main" noGrp="1"/>
          </p:cNvSpPr>
          <p:nvPr/>
        </p:nvSpPr>
        <p:spPr>
          <a:xfrm xmlns:a="http://schemas.openxmlformats.org/drawingml/2006/main">
            <a:off x="838200" y="26670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0">
                <a:solidFill>
                  <a:srgbClr val="294653"/>
                </a:solidFill>
                <a:latin typeface="Nimbus Sans"/>
                <a:ea typeface="Nimbus Sans"/>
                <a:cs typeface="Nimbus Sans"/>
              </a:defRPr>
            </a:defPPr>
          </a:lstStyle>
          <a:p xmlns:a="http://schemas.openxmlformats.org/drawingml/2006/main">
            <a:pPr algn="l">
              <a:defRPr sz="2400" b="0">
                <a:solidFill>
                  <a:srgbClr val="294653"/>
                </a:solidFill>
                <a:latin typeface="Nimbus Sans"/>
                <a:ea typeface="Nimbus Sans"/>
                <a:cs typeface="Nimbus Sans"/>
              </a:defRPr>
            </a:pPr>
            <a:r>
              <a:rPr sz="2400" b="0">
                <a:solidFill>
                  <a:srgbClr val="294653"/>
                </a:solidFill>
                <a:latin typeface="Nimbus Sans"/>
                <a:ea typeface="Nimbus Sans"/>
                <a:cs typeface="Nimbus Sans"/>
              </a:rPr>
              <a:t>Cada curso puede tener muchas tareas y cada tarea pertenece a un</a:t>
            </a:r>
          </a:p>
          <a:p xmlns:a="http://schemas.openxmlformats.org/drawingml/2006/main">
            <a:pPr algn="l">
              <a:defRPr sz="2400" b="0">
                <a:solidFill>
                  <a:srgbClr val="294653"/>
                </a:solidFill>
                <a:latin typeface="Nimbus Sans"/>
                <a:ea typeface="Nimbus Sans"/>
                <a:cs typeface="Nimbus Sans"/>
              </a:defRPr>
            </a:pPr>
            <a:r>
              <a:rPr sz="2400" b="0">
                <a:solidFill>
                  <a:srgbClr val="294653"/>
                </a:solidFill>
                <a:latin typeface="Nimbus Sans"/>
                <a:ea typeface="Nimbus Sans"/>
                <a:cs typeface="Nimbus Sans"/>
              </a:rPr>
              <a:t>curso. El identificador permite enlazar registros sin repetir el nombre del</a:t>
            </a:r>
          </a:p>
          <a:p xmlns:a="http://schemas.openxmlformats.org/drawingml/2006/main">
            <a:pPr algn="l">
              <a:defRPr sz="2400" b="0">
                <a:solidFill>
                  <a:srgbClr val="294653"/>
                </a:solidFill>
                <a:latin typeface="Nimbus Sans"/>
                <a:ea typeface="Nimbus Sans"/>
                <a:cs typeface="Nimbus Sans"/>
              </a:defRPr>
            </a:pPr>
            <a:r>
              <a:rPr sz="2400" b="0">
                <a:solidFill>
                  <a:srgbClr val="294653"/>
                </a:solidFill>
                <a:latin typeface="Nimbus Sans"/>
                <a:ea typeface="Nimbus Sans"/>
                <a:cs typeface="Nimbus Sans"/>
              </a:rPr>
              <a:t>curso en cada tarea.</a:t>
            </a:r>
          </a:p>
        </p:txBody>
      </p:sp>
      <p:graphicFrame>
        <p:nvGraphicFramePr>
          <p:cNvPr id="8" name="">
            <a:extLst xmlns:a="http://schemas.openxmlformats.org/drawingml/2006/main">
              <a:ext uri="{FF2B5EF4-FFF2-40B4-BE49-F238E27FC236}">
                <a16:creationId xmlns:a16="http://schemas.microsoft.com/office/drawing/2014/main" id="{70837F2D-4E29-4A5F-9270-299B07B9FB36}"/>
              </a:ext>
            </a:extLst>
          </p:cNvPr>
          <p:cNvGraphicFramePr/>
          <p:nvPr/>
        </p:nvGraphicFramePr>
        <p:xfrm>
          <a:off xmlns:a="http://schemas.openxmlformats.org/drawingml/2006/main" x="838200" y="4076700"/>
          <a:ext xmlns:a="http://schemas.openxmlformats.org/drawingml/2006/main" cx="9906000" cy="2543175"/>
        </p:xfrm>
        <a:graphic xmlns:a="http://schemas.openxmlformats.org/drawingml/2006/main">
          <a:graphicData uri="http://schemas.openxmlformats.org/drawingml/2006/table">
            <a:tbl>
              <a:tblPr firstRow="0" bandRow="0"/>
              <a:tblGrid>
                <a:gridCol w="2381250"/>
                <a:gridCol w="4286250"/>
                <a:gridCol w="3238500"/>
              </a:tblGrid>
              <a:tr h="628650">
                <a:tc>
                  <a:txBody>
                    <a:bodyPr lIns="133350" tIns="114300" rIns="114300" bIns="95250">
                      <a:noAutofit/>
                    </a:bodyPr>
                    <a:lstStyle/>
                    <a:p>
                      <a:pPr algn="l"/>
                      <a:r>
                        <a:rPr sz="2100" b="1">
                          <a:solidFill>
                            <a:srgbClr val="FFFFFF"/>
                          </a:solidFill>
                          <a:latin typeface="Nimbus Sans"/>
                          <a:ea typeface="Nimbus Sans"/>
                          <a:cs typeface="Nimbus Sans"/>
                        </a:rPr>
                        <a:t>Tabla</a:t>
                      </a:r>
                    </a:p>
                  </a:txBody>
                  <a:tcPr marL="133350" marR="114300" marT="114300" marB="95250" anchor="ctr">
                    <a:lnL w="9525">
                      <a:solidFill>
                        <a:srgbClr val="CFDAD8"/>
                      </a:solidFill>
                      <a:prstDash val="solid"/>
                    </a:lnL>
                    <a:lnR w="9525">
                      <a:solidFill>
                        <a:srgbClr val="CFDAD8"/>
                      </a:solidFill>
                      <a:prstDash val="solid"/>
                    </a:lnR>
                    <a:lnT w="9525">
                      <a:solidFill>
                        <a:srgbClr val="CFDAD8"/>
                      </a:solidFill>
                      <a:prstDash val="solid"/>
                    </a:lnT>
                    <a:lnB w="9525">
                      <a:solidFill>
                        <a:srgbClr val="CFDAD8"/>
                      </a:solidFill>
                      <a:prstDash val="solid"/>
                    </a:lnB>
                    <a:solidFill>
                      <a:srgbClr val="122F40"/>
                    </a:solidFill>
                  </a:tcPr>
                </a:tc>
                <a:tc>
                  <a:txBody>
                    <a:bodyPr lIns="133350" tIns="114300" rIns="114300" bIns="95250">
                      <a:noAutofit/>
                    </a:bodyPr>
                    <a:lstStyle/>
                    <a:p>
                      <a:pPr algn="l"/>
                      <a:r>
                        <a:rPr sz="2100" b="1">
                          <a:solidFill>
                            <a:srgbClr val="FFFFFF"/>
                          </a:solidFill>
                          <a:latin typeface="Nimbus Sans"/>
                          <a:ea typeface="Nimbus Sans"/>
                          <a:cs typeface="Nimbus Sans"/>
                        </a:rPr>
                        <a:t>Atributos principales</a:t>
                      </a:r>
                    </a:p>
                  </a:txBody>
                  <a:tcPr marL="133350" marR="114300" marT="114300" marB="95250" anchor="ctr">
                    <a:lnR w="9525">
                      <a:solidFill>
                        <a:srgbClr val="CFDAD8"/>
                      </a:solidFill>
                      <a:prstDash val="solid"/>
                    </a:lnR>
                    <a:lnT w="9525">
                      <a:solidFill>
                        <a:srgbClr val="CFDAD8"/>
                      </a:solidFill>
                      <a:prstDash val="solid"/>
                    </a:lnT>
                    <a:lnB w="9525">
                      <a:solidFill>
                        <a:srgbClr val="CFDAD8"/>
                      </a:solidFill>
                      <a:prstDash val="solid"/>
                    </a:lnB>
                    <a:solidFill>
                      <a:srgbClr val="122F40"/>
                    </a:solidFill>
                  </a:tcPr>
                </a:tc>
                <a:tc>
                  <a:txBody>
                    <a:bodyPr lIns="133350" tIns="114300" rIns="114300" bIns="95250">
                      <a:noAutofit/>
                    </a:bodyPr>
                    <a:lstStyle/>
                    <a:p>
                      <a:pPr algn="l"/>
                      <a:r>
                        <a:rPr sz="2100" b="1">
                          <a:solidFill>
                            <a:srgbClr val="FFFFFF"/>
                          </a:solidFill>
                          <a:latin typeface="Nimbus Sans"/>
                          <a:ea typeface="Nimbus Sans"/>
                          <a:cs typeface="Nimbus Sans"/>
                        </a:rPr>
                        <a:t>Relación o restricción</a:t>
                      </a:r>
                    </a:p>
                  </a:txBody>
                  <a:tcPr marL="133350" marR="114300" marT="114300" marB="95250" anchor="ctr">
                    <a:lnR w="9525">
                      <a:solidFill>
                        <a:srgbClr val="CFDAD8"/>
                      </a:solidFill>
                      <a:prstDash val="solid"/>
                    </a:lnR>
                    <a:lnT w="9525">
                      <a:solidFill>
                        <a:srgbClr val="CFDAD8"/>
                      </a:solidFill>
                      <a:prstDash val="solid"/>
                    </a:lnT>
                    <a:lnB w="9525">
                      <a:solidFill>
                        <a:srgbClr val="CFDAD8"/>
                      </a:solidFill>
                      <a:prstDash val="solid"/>
                    </a:lnB>
                    <a:solidFill>
                      <a:srgbClr val="122F40"/>
                    </a:solidFill>
                  </a:tcPr>
                </a:tc>
              </a:tr>
              <a:tr h="704850">
                <a:tc>
                  <a:txBody>
                    <a:bodyPr lIns="133350" tIns="114300" rIns="114300" bIns="95250">
                      <a:noAutofit/>
                    </a:bodyPr>
                    <a:lstStyle/>
                    <a:p>
                      <a:pPr algn="l"/>
                      <a:r>
                        <a:rPr sz="2100" b="0">
                          <a:solidFill>
                            <a:srgbClr val="294653"/>
                          </a:solidFill>
                          <a:latin typeface="Nimbus Sans"/>
                          <a:ea typeface="Nimbus Sans"/>
                          <a:cs typeface="Nimbus Sans"/>
                        </a:rPr>
                        <a:t>curso</a:t>
                      </a:r>
                    </a:p>
                  </a:txBody>
                  <a:tcPr marL="133350" marR="114300" marT="114300" marB="95250" anchor="ctr">
                    <a:lnL w="9525">
                      <a:solidFill>
                        <a:srgbClr val="CFDAD8"/>
                      </a:solidFill>
                      <a:prstDash val="solid"/>
                    </a:lnL>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id, nombre</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id identifica el curso</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r>
              <a:tr h="1209675">
                <a:tc>
                  <a:txBody>
                    <a:bodyPr lIns="133350" tIns="114300" rIns="114300" bIns="95250">
                      <a:noAutofit/>
                    </a:bodyPr>
                    <a:lstStyle/>
                    <a:p>
                      <a:pPr algn="l"/>
                      <a:r>
                        <a:rPr sz="2100" b="0">
                          <a:solidFill>
                            <a:srgbClr val="294653"/>
                          </a:solidFill>
                          <a:latin typeface="Nimbus Sans"/>
                          <a:ea typeface="Nimbus Sans"/>
                          <a:cs typeface="Nimbus Sans"/>
                        </a:rPr>
                        <a:t>tarea</a:t>
                      </a:r>
                    </a:p>
                  </a:txBody>
                  <a:tcPr marL="133350" marR="114300" marT="114300" marB="95250" anchor="ctr">
                    <a:lnL w="9525">
                      <a:solidFill>
                        <a:srgbClr val="CFDAD8"/>
                      </a:solidFill>
                      <a:prstDash val="solid"/>
                    </a:lnL>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id, curso_id, titulo, completada, sincronizado</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c>
                  <a:txBody>
                    <a:bodyPr lIns="133350" tIns="114300" rIns="114300" bIns="95250">
                      <a:noAutofit/>
                    </a:bodyPr>
                    <a:lstStyle/>
                    <a:p>
                      <a:pPr algn="l"/>
                      <a:r>
                        <a:rPr sz="2100" b="0">
                          <a:solidFill>
                            <a:srgbClr val="294653"/>
                          </a:solidFill>
                          <a:latin typeface="Nimbus Sans"/>
                          <a:ea typeface="Nimbus Sans"/>
                          <a:cs typeface="Nimbus Sans"/>
                        </a:rPr>
                        <a:t>curso_id referencia curso.id. Banderas con valores 0 o 1.</a:t>
                      </a:r>
                    </a:p>
                  </a:txBody>
                  <a:tcPr marL="133350" marR="114300" marT="114300" marB="95250" anchor="ctr">
                    <a:lnR w="9525">
                      <a:solidFill>
                        <a:srgbClr val="CFDAD8"/>
                      </a:solidFill>
                      <a:prstDash val="solid"/>
                    </a:lnR>
                    <a:lnB w="9525">
                      <a:solidFill>
                        <a:srgbClr val="CFDAD8"/>
                      </a:solidFill>
                      <a:prstDash val="solid"/>
                    </a:lnB>
                    <a:solidFill>
                      <a:srgbClr val="F7F5EF"/>
                    </a:solidFill>
                  </a:tcPr>
                </a:tc>
              </a:tr>
            </a:tbl>
          </a:graphicData>
        </a:graphic>
      </p:graphicFrame>
      <p:sp>
        <p:nvSpPr>
          <p:cNvPr id="9" name="after">
            <a:extLst xmlns:a="http://schemas.openxmlformats.org/drawingml/2006/main">
              <a:ext uri="{FF2B5EF4-FFF2-40B4-BE49-F238E27FC236}">
                <a16:creationId xmlns:a16="http://schemas.microsoft.com/office/drawing/2014/main" id="{93EB5194-6039-4A93-9F72-6A4FD7CC91C4}"/>
              </a:ext>
            </a:extLst>
          </p:cNvPr>
          <p:cNvSpPr>
            <a:spLocks xmlns:a="http://schemas.openxmlformats.org/drawingml/2006/main" noGrp="1"/>
          </p:cNvSpPr>
          <p:nvPr/>
        </p:nvSpPr>
        <p:spPr>
          <a:xfrm xmlns:a="http://schemas.openxmlformats.org/drawingml/2006/main">
            <a:off x="838200" y="6848475"/>
            <a:ext cx="9906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0">
                <a:solidFill>
                  <a:srgbClr val="294653"/>
                </a:solidFill>
                <a:latin typeface="Nimbus Sans"/>
                <a:ea typeface="Nimbus Sans"/>
                <a:cs typeface="Nimbus Sans"/>
              </a:defRPr>
            </a:defPPr>
          </a:lstStyle>
          <a:p xmlns:a="http://schemas.openxmlformats.org/drawingml/2006/main">
            <a:pPr algn="l">
              <a:defRPr sz="2325" b="0">
                <a:solidFill>
                  <a:srgbClr val="294653"/>
                </a:solidFill>
                <a:latin typeface="Nimbus Sans"/>
                <a:ea typeface="Nimbus Sans"/>
                <a:cs typeface="Nimbus Sans"/>
              </a:defRPr>
            </a:pPr>
            <a:r>
              <a:rPr sz="2325" b="0">
                <a:solidFill>
                  <a:srgbClr val="294653"/>
                </a:solidFill>
                <a:latin typeface="Nimbus Sans"/>
                <a:ea typeface="Nimbus Sans"/>
                <a:cs typeface="Nimbus Sans"/>
              </a:rPr>
              <a:t>Caso breve: al corregir el nombre de un curso, cambia una sola fila de</a:t>
            </a:r>
          </a:p>
          <a:p xmlns:a="http://schemas.openxmlformats.org/drawingml/2006/main">
            <a:pPr algn="l">
              <a:defRPr sz="2325" b="0">
                <a:solidFill>
                  <a:srgbClr val="294653"/>
                </a:solidFill>
                <a:latin typeface="Nimbus Sans"/>
                <a:ea typeface="Nimbus Sans"/>
                <a:cs typeface="Nimbus Sans"/>
              </a:defRPr>
            </a:pPr>
            <a:r>
              <a:rPr sz="2325" b="0">
                <a:solidFill>
                  <a:srgbClr val="294653"/>
                </a:solidFill>
                <a:latin typeface="Nimbus Sans"/>
                <a:ea typeface="Nimbus Sans"/>
                <a:cs typeface="Nimbus Sans"/>
              </a:rPr>
              <a:t>curso. Las tareas conservan su referencia mediante curso_id.</a:t>
            </a:r>
          </a:p>
        </p:txBody>
      </p:sp>
    </p:spTree>
    <p:extLst>
      <p:ext uri="{BB962C8B-B14F-4D97-AF65-F5344CB8AC3E}">
        <p14:creationId xmlns:p14="http://schemas.microsoft.com/office/powerpoint/2010/main" val="267263639"/>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2C3E9B38-BD2E-47D7-8B62-6DE6734BA0CA}"/>
              </a:ext>
            </a:extLst>
          </p:cNvPr>
          <p:cNvPicPr>
            <a:picLocks xmlns:a="http://schemas.openxmlformats.org/drawingml/2006/main" noChangeAspect="1"/>
          </p:cNvPicPr>
          <p:nvPr/>
        </p:nvPicPr>
        <p:blipFill>
          <a:blip xmlns:r="http://schemas.openxmlformats.org/officeDocument/2006/relationships" xmlns:a="http://schemas.openxmlformats.org/drawingml/2006/main" r:embed="R80f604038ffd4e08"/>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BC0EE151-E36A-443E-A965-63CACAE1F3EE}"/>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Las reglas de la base complementan las validaciones de la</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aplicación.</a:t>
            </a:r>
          </a:p>
        </p:txBody>
      </p:sp>
      <p:sp>
        <p:nvSpPr>
          <p:cNvPr id="3" name="folio">
            <a:extLst xmlns:a="http://schemas.openxmlformats.org/drawingml/2006/main">
              <a:ext uri="{FF2B5EF4-FFF2-40B4-BE49-F238E27FC236}">
                <a16:creationId xmlns:a16="http://schemas.microsoft.com/office/drawing/2014/main" id="{E3E1F30C-25DF-4DF4-99E2-F7EDC03CE919}"/>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15</a:t>
            </a:r>
          </a:p>
        </p:txBody>
      </p:sp>
      <p:sp>
        <p:nvSpPr>
          <p:cNvPr id="4" name="unit">
            <a:extLst xmlns:a="http://schemas.openxmlformats.org/drawingml/2006/main">
              <a:ext uri="{FF2B5EF4-FFF2-40B4-BE49-F238E27FC236}">
                <a16:creationId xmlns:a16="http://schemas.microsoft.com/office/drawing/2014/main" id="{ECBB91E2-5C86-4562-A63B-8351802BBEC1}"/>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402CAC5B-DAAC-4649-8184-77B6FDAA6DE7}"/>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Esquema SQL con restricciones</a:t>
            </a:r>
          </a:p>
        </p:txBody>
      </p:sp>
      <p:sp>
        <p:nvSpPr>
          <p:cNvPr id="6" name="source">
            <a:extLst xmlns:a="http://schemas.openxmlformats.org/drawingml/2006/main">
              <a:ext uri="{FF2B5EF4-FFF2-40B4-BE49-F238E27FC236}">
                <a16:creationId xmlns:a16="http://schemas.microsoft.com/office/drawing/2014/main" id="{B1CE655A-4C88-4305-94BB-0387D3CDCDB9}"/>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Fuentes: SQLite, CREATE TABLE y soporte de claves foráneas</a:t>
            </a:r>
          </a:p>
        </p:txBody>
      </p:sp>
      <p:sp>
        <p:nvSpPr>
          <p:cNvPr id="7" name="intro">
            <a:extLst xmlns:a="http://schemas.openxmlformats.org/drawingml/2006/main">
              <a:ext uri="{FF2B5EF4-FFF2-40B4-BE49-F238E27FC236}">
                <a16:creationId xmlns:a16="http://schemas.microsoft.com/office/drawing/2014/main" id="{797031FC-1C4F-4017-9833-A8FC1214C30F}"/>
              </a:ext>
            </a:extLst>
          </p:cNvPr>
          <p:cNvSpPr>
            <a:spLocks xmlns:a="http://schemas.openxmlformats.org/drawingml/2006/main" noGrp="1"/>
          </p:cNvSpPr>
          <p:nvPr/>
        </p:nvSpPr>
        <p:spPr>
          <a:xfrm xmlns:a="http://schemas.openxmlformats.org/drawingml/2006/main">
            <a:off x="838200" y="2667000"/>
            <a:ext cx="9906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0">
                <a:solidFill>
                  <a:srgbClr val="294653"/>
                </a:solidFill>
                <a:latin typeface="Nimbus Sans"/>
                <a:ea typeface="Nimbus Sans"/>
                <a:cs typeface="Nimbus Sans"/>
              </a:defRPr>
            </a:defPPr>
          </a:lstStyle>
          <a:p xmlns:a="http://schemas.openxmlformats.org/drawingml/2006/main">
            <a:pPr algn="l">
              <a:defRPr sz="2325" b="0">
                <a:solidFill>
                  <a:srgbClr val="294653"/>
                </a:solidFill>
                <a:latin typeface="Nimbus Sans"/>
                <a:ea typeface="Nimbus Sans"/>
                <a:cs typeface="Nimbus Sans"/>
              </a:defRPr>
            </a:pPr>
            <a:r>
              <a:rPr sz="2325" b="0">
                <a:solidFill>
                  <a:srgbClr val="294653"/>
                </a:solidFill>
                <a:latin typeface="Nimbus Sans"/>
                <a:ea typeface="Nimbus Sans"/>
                <a:cs typeface="Nimbus Sans"/>
              </a:rPr>
              <a:t>El esquema mínimo hace explícitas la identidad de cada registro, los</a:t>
            </a:r>
          </a:p>
          <a:p xmlns:a="http://schemas.openxmlformats.org/drawingml/2006/main">
            <a:pPr algn="l">
              <a:defRPr sz="2325" b="0">
                <a:solidFill>
                  <a:srgbClr val="294653"/>
                </a:solidFill>
                <a:latin typeface="Nimbus Sans"/>
                <a:ea typeface="Nimbus Sans"/>
                <a:cs typeface="Nimbus Sans"/>
              </a:defRPr>
            </a:pPr>
            <a:r>
              <a:rPr sz="2325" b="0">
                <a:solidFill>
                  <a:srgbClr val="294653"/>
                </a:solidFill>
                <a:latin typeface="Nimbus Sans"/>
                <a:ea typeface="Nimbus Sans"/>
                <a:cs typeface="Nimbus Sans"/>
              </a:rPr>
              <a:t>campos obligatorios y la relación entre tablas.</a:t>
            </a:r>
          </a:p>
        </p:txBody>
      </p:sp>
      <p:sp>
        <p:nvSpPr>
          <p:cNvPr id="8" name="code-0">
            <a:extLst xmlns:a="http://schemas.openxmlformats.org/drawingml/2006/main">
              <a:ext uri="{FF2B5EF4-FFF2-40B4-BE49-F238E27FC236}">
                <a16:creationId xmlns:a16="http://schemas.microsoft.com/office/drawing/2014/main" id="{515713F3-1E26-4192-B9FB-2E8D3411FF48}"/>
              </a:ext>
            </a:extLst>
          </p:cNvPr>
          <p:cNvSpPr>
            <a:spLocks xmlns:a="http://schemas.openxmlformats.org/drawingml/2006/main" noGrp="1"/>
          </p:cNvSpPr>
          <p:nvPr/>
        </p:nvSpPr>
        <p:spPr>
          <a:xfrm xmlns:a="http://schemas.openxmlformats.org/drawingml/2006/main">
            <a:off x="838200" y="3667125"/>
            <a:ext cx="990600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22F40"/>
                </a:solidFill>
                <a:latin typeface="Nimbus Mono PS"/>
                <a:ea typeface="Nimbus Mono PS"/>
                <a:cs typeface="Nimbus Mono PS"/>
              </a:defRPr>
            </a:defPPr>
          </a:lstStyle>
          <a:p xmlns:a="http://schemas.openxmlformats.org/drawingml/2006/main">
            <a:pPr algn="l">
              <a:defRPr sz="1875" b="0">
                <a:solidFill>
                  <a:srgbClr val="122F40"/>
                </a:solidFill>
                <a:latin typeface="Nimbus Mono PS"/>
                <a:ea typeface="Nimbus Mono PS"/>
                <a:cs typeface="Nimbus Mono PS"/>
              </a:defRPr>
            </a:pPr>
            <a:r>
              <a:rPr sz="1875" b="0">
                <a:solidFill>
                  <a:srgbClr val="122F40"/>
                </a:solidFill>
                <a:latin typeface="Nimbus Mono PS"/>
                <a:ea typeface="Nimbus Mono PS"/>
                <a:cs typeface="Nimbus Mono PS"/>
              </a:rPr>
              <a:t>PRAGMA foreign_keys = ON;</a:t>
            </a:r>
          </a:p>
        </p:txBody>
      </p:sp>
      <p:sp>
        <p:nvSpPr>
          <p:cNvPr id="9" name="code-1">
            <a:extLst xmlns:a="http://schemas.openxmlformats.org/drawingml/2006/main">
              <a:ext uri="{FF2B5EF4-FFF2-40B4-BE49-F238E27FC236}">
                <a16:creationId xmlns:a16="http://schemas.microsoft.com/office/drawing/2014/main" id="{DB4CA235-D719-46E1-95A1-60B1F2EC1863}"/>
              </a:ext>
            </a:extLst>
          </p:cNvPr>
          <p:cNvSpPr>
            <a:spLocks xmlns:a="http://schemas.openxmlformats.org/drawingml/2006/main" noGrp="1"/>
          </p:cNvSpPr>
          <p:nvPr/>
        </p:nvSpPr>
        <p:spPr>
          <a:xfrm xmlns:a="http://schemas.openxmlformats.org/drawingml/2006/main">
            <a:off x="838200" y="3964781"/>
            <a:ext cx="990600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22F40"/>
                </a:solidFill>
                <a:latin typeface="Nimbus Mono PS"/>
                <a:ea typeface="Nimbus Mono PS"/>
                <a:cs typeface="Nimbus Mono PS"/>
              </a:defRPr>
            </a:defPPr>
          </a:lstStyle>
          <a:p xmlns:a="http://schemas.openxmlformats.org/drawingml/2006/main">
            <a:pPr algn="l">
              <a:defRPr sz="1875" b="0">
                <a:solidFill>
                  <a:srgbClr val="122F40"/>
                </a:solidFill>
                <a:latin typeface="Nimbus Mono PS"/>
                <a:ea typeface="Nimbus Mono PS"/>
                <a:cs typeface="Nimbus Mono PS"/>
              </a:defRPr>
            </a:pPr>
            <a:r>
              <a:rPr sz="1875" b="0">
                <a:solidFill>
                  <a:srgbClr val="122F40"/>
                </a:solidFill>
                <a:latin typeface="Nimbus Mono PS"/>
                <a:ea typeface="Nimbus Mono PS"/>
                <a:cs typeface="Nimbus Mono PS"/>
              </a:rPr>
              <a:t>CREATE TABLE curso (</a:t>
            </a:r>
          </a:p>
        </p:txBody>
      </p:sp>
      <p:sp>
        <p:nvSpPr>
          <p:cNvPr id="10" name="code-2">
            <a:extLst xmlns:a="http://schemas.openxmlformats.org/drawingml/2006/main">
              <a:ext uri="{FF2B5EF4-FFF2-40B4-BE49-F238E27FC236}">
                <a16:creationId xmlns:a16="http://schemas.microsoft.com/office/drawing/2014/main" id="{3A0ECB80-74CC-4067-BA47-EC3AE5FB0810}"/>
              </a:ext>
            </a:extLst>
          </p:cNvPr>
          <p:cNvSpPr>
            <a:spLocks xmlns:a="http://schemas.openxmlformats.org/drawingml/2006/main" noGrp="1"/>
          </p:cNvSpPr>
          <p:nvPr/>
        </p:nvSpPr>
        <p:spPr>
          <a:xfrm xmlns:a="http://schemas.openxmlformats.org/drawingml/2006/main">
            <a:off x="838200" y="4262438"/>
            <a:ext cx="990600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22F40"/>
                </a:solidFill>
                <a:latin typeface="Nimbus Mono PS"/>
                <a:ea typeface="Nimbus Mono PS"/>
                <a:cs typeface="Nimbus Mono PS"/>
              </a:defRPr>
            </a:defPPr>
          </a:lstStyle>
          <a:p xmlns:a="http://schemas.openxmlformats.org/drawingml/2006/main">
            <a:pPr algn="l">
              <a:defRPr sz="1875" b="0">
                <a:solidFill>
                  <a:srgbClr val="122F40"/>
                </a:solidFill>
                <a:latin typeface="Nimbus Mono PS"/>
                <a:ea typeface="Nimbus Mono PS"/>
                <a:cs typeface="Nimbus Mono PS"/>
              </a:defRPr>
            </a:pPr>
            <a:r>
              <a:rPr sz="1875" b="0">
                <a:solidFill>
                  <a:srgbClr val="122F40"/>
                </a:solidFill>
                <a:latin typeface="Nimbus Mono PS"/>
                <a:ea typeface="Nimbus Mono PS"/>
                <a:cs typeface="Nimbus Mono PS"/>
              </a:rPr>
              <a:t>  id TEXT PRIMARY KEY NOT NULL,</a:t>
            </a:r>
          </a:p>
        </p:txBody>
      </p:sp>
      <p:sp>
        <p:nvSpPr>
          <p:cNvPr id="11" name="code-3">
            <a:extLst xmlns:a="http://schemas.openxmlformats.org/drawingml/2006/main">
              <a:ext uri="{FF2B5EF4-FFF2-40B4-BE49-F238E27FC236}">
                <a16:creationId xmlns:a16="http://schemas.microsoft.com/office/drawing/2014/main" id="{58A2DAA3-3793-4D02-8378-D4EAB948757C}"/>
              </a:ext>
            </a:extLst>
          </p:cNvPr>
          <p:cNvSpPr>
            <a:spLocks xmlns:a="http://schemas.openxmlformats.org/drawingml/2006/main" noGrp="1"/>
          </p:cNvSpPr>
          <p:nvPr/>
        </p:nvSpPr>
        <p:spPr>
          <a:xfrm xmlns:a="http://schemas.openxmlformats.org/drawingml/2006/main">
            <a:off x="838200" y="4560094"/>
            <a:ext cx="990600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22F40"/>
                </a:solidFill>
                <a:latin typeface="Nimbus Mono PS"/>
                <a:ea typeface="Nimbus Mono PS"/>
                <a:cs typeface="Nimbus Mono PS"/>
              </a:defRPr>
            </a:defPPr>
          </a:lstStyle>
          <a:p xmlns:a="http://schemas.openxmlformats.org/drawingml/2006/main">
            <a:pPr algn="l">
              <a:defRPr sz="1875" b="0">
                <a:solidFill>
                  <a:srgbClr val="122F40"/>
                </a:solidFill>
                <a:latin typeface="Nimbus Mono PS"/>
                <a:ea typeface="Nimbus Mono PS"/>
                <a:cs typeface="Nimbus Mono PS"/>
              </a:defRPr>
            </a:pPr>
            <a:r>
              <a:rPr sz="1875" b="0">
                <a:solidFill>
                  <a:srgbClr val="122F40"/>
                </a:solidFill>
                <a:latin typeface="Nimbus Mono PS"/>
                <a:ea typeface="Nimbus Mono PS"/>
                <a:cs typeface="Nimbus Mono PS"/>
              </a:rPr>
              <a:t>  nombre TEXT NOT NULL</a:t>
            </a:r>
          </a:p>
        </p:txBody>
      </p:sp>
      <p:sp>
        <p:nvSpPr>
          <p:cNvPr id="12" name="code-4">
            <a:extLst xmlns:a="http://schemas.openxmlformats.org/drawingml/2006/main">
              <a:ext uri="{FF2B5EF4-FFF2-40B4-BE49-F238E27FC236}">
                <a16:creationId xmlns:a16="http://schemas.microsoft.com/office/drawing/2014/main" id="{0CEA98CB-B3A0-4588-A10D-F2C70B8AB304}"/>
              </a:ext>
            </a:extLst>
          </p:cNvPr>
          <p:cNvSpPr>
            <a:spLocks xmlns:a="http://schemas.openxmlformats.org/drawingml/2006/main" noGrp="1"/>
          </p:cNvSpPr>
          <p:nvPr/>
        </p:nvSpPr>
        <p:spPr>
          <a:xfrm xmlns:a="http://schemas.openxmlformats.org/drawingml/2006/main">
            <a:off x="838200" y="4857750"/>
            <a:ext cx="990600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22F40"/>
                </a:solidFill>
                <a:latin typeface="Nimbus Mono PS"/>
                <a:ea typeface="Nimbus Mono PS"/>
                <a:cs typeface="Nimbus Mono PS"/>
              </a:defRPr>
            </a:defPPr>
          </a:lstStyle>
          <a:p xmlns:a="http://schemas.openxmlformats.org/drawingml/2006/main">
            <a:pPr algn="l">
              <a:defRPr sz="1875" b="0">
                <a:solidFill>
                  <a:srgbClr val="122F40"/>
                </a:solidFill>
                <a:latin typeface="Nimbus Mono PS"/>
                <a:ea typeface="Nimbus Mono PS"/>
                <a:cs typeface="Nimbus Mono PS"/>
              </a:defRPr>
            </a:pPr>
            <a:r>
              <a:rPr sz="1875" b="0">
                <a:solidFill>
                  <a:srgbClr val="122F40"/>
                </a:solidFill>
                <a:latin typeface="Nimbus Mono PS"/>
                <a:ea typeface="Nimbus Mono PS"/>
                <a:cs typeface="Nimbus Mono PS"/>
              </a:rPr>
              <a:t>);</a:t>
            </a:r>
          </a:p>
        </p:txBody>
      </p:sp>
      <p:sp>
        <p:nvSpPr>
          <p:cNvPr id="13" name="code-5">
            <a:extLst xmlns:a="http://schemas.openxmlformats.org/drawingml/2006/main">
              <a:ext uri="{FF2B5EF4-FFF2-40B4-BE49-F238E27FC236}">
                <a16:creationId xmlns:a16="http://schemas.microsoft.com/office/drawing/2014/main" id="{9E9960C6-3517-4A1A-9F7C-E943DFAC6704}"/>
              </a:ext>
            </a:extLst>
          </p:cNvPr>
          <p:cNvSpPr>
            <a:spLocks xmlns:a="http://schemas.openxmlformats.org/drawingml/2006/main" noGrp="1"/>
          </p:cNvSpPr>
          <p:nvPr/>
        </p:nvSpPr>
        <p:spPr>
          <a:xfrm xmlns:a="http://schemas.openxmlformats.org/drawingml/2006/main">
            <a:off x="838200" y="5155406"/>
            <a:ext cx="990600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22F40"/>
                </a:solidFill>
                <a:latin typeface="Nimbus Mono PS"/>
                <a:ea typeface="Nimbus Mono PS"/>
                <a:cs typeface="Nimbus Mono PS"/>
              </a:defRPr>
            </a:defPPr>
          </a:lstStyle>
          <a:p xmlns:a="http://schemas.openxmlformats.org/drawingml/2006/main">
            <a:pPr algn="l">
              <a:defRPr sz="1875" b="0">
                <a:solidFill>
                  <a:srgbClr val="122F40"/>
                </a:solidFill>
                <a:latin typeface="Nimbus Mono PS"/>
                <a:ea typeface="Nimbus Mono PS"/>
                <a:cs typeface="Nimbus Mono PS"/>
              </a:defRPr>
            </a:pPr>
            <a:r>
              <a:rPr sz="1875" b="0">
                <a:solidFill>
                  <a:srgbClr val="122F40"/>
                </a:solidFill>
                <a:latin typeface="Nimbus Mono PS"/>
                <a:ea typeface="Nimbus Mono PS"/>
                <a:cs typeface="Nimbus Mono PS"/>
              </a:rPr>
              <a:t>CREATE TABLE tarea (</a:t>
            </a:r>
          </a:p>
        </p:txBody>
      </p:sp>
      <p:sp>
        <p:nvSpPr>
          <p:cNvPr id="14" name="code-6">
            <a:extLst xmlns:a="http://schemas.openxmlformats.org/drawingml/2006/main">
              <a:ext uri="{FF2B5EF4-FFF2-40B4-BE49-F238E27FC236}">
                <a16:creationId xmlns:a16="http://schemas.microsoft.com/office/drawing/2014/main" id="{4E3E8BC7-A99F-41E5-BFB4-3784BBC48C76}"/>
              </a:ext>
            </a:extLst>
          </p:cNvPr>
          <p:cNvSpPr>
            <a:spLocks xmlns:a="http://schemas.openxmlformats.org/drawingml/2006/main" noGrp="1"/>
          </p:cNvSpPr>
          <p:nvPr/>
        </p:nvSpPr>
        <p:spPr>
          <a:xfrm xmlns:a="http://schemas.openxmlformats.org/drawingml/2006/main">
            <a:off x="838200" y="5453063"/>
            <a:ext cx="990600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22F40"/>
                </a:solidFill>
                <a:latin typeface="Nimbus Mono PS"/>
                <a:ea typeface="Nimbus Mono PS"/>
                <a:cs typeface="Nimbus Mono PS"/>
              </a:defRPr>
            </a:defPPr>
          </a:lstStyle>
          <a:p xmlns:a="http://schemas.openxmlformats.org/drawingml/2006/main">
            <a:pPr algn="l">
              <a:defRPr sz="1875" b="0">
                <a:solidFill>
                  <a:srgbClr val="122F40"/>
                </a:solidFill>
                <a:latin typeface="Nimbus Mono PS"/>
                <a:ea typeface="Nimbus Mono PS"/>
                <a:cs typeface="Nimbus Mono PS"/>
              </a:defRPr>
            </a:pPr>
            <a:r>
              <a:rPr sz="1875" b="0">
                <a:solidFill>
                  <a:srgbClr val="122F40"/>
                </a:solidFill>
                <a:latin typeface="Nimbus Mono PS"/>
                <a:ea typeface="Nimbus Mono PS"/>
                <a:cs typeface="Nimbus Mono PS"/>
              </a:rPr>
              <a:t>  id TEXT PRIMARY KEY NOT NULL,</a:t>
            </a:r>
          </a:p>
        </p:txBody>
      </p:sp>
      <p:sp>
        <p:nvSpPr>
          <p:cNvPr id="15" name="code-7">
            <a:extLst xmlns:a="http://schemas.openxmlformats.org/drawingml/2006/main">
              <a:ext uri="{FF2B5EF4-FFF2-40B4-BE49-F238E27FC236}">
                <a16:creationId xmlns:a16="http://schemas.microsoft.com/office/drawing/2014/main" id="{8CA45FE0-61F6-421C-B241-7ABC5DA223E0}"/>
              </a:ext>
            </a:extLst>
          </p:cNvPr>
          <p:cNvSpPr>
            <a:spLocks xmlns:a="http://schemas.openxmlformats.org/drawingml/2006/main" noGrp="1"/>
          </p:cNvSpPr>
          <p:nvPr/>
        </p:nvSpPr>
        <p:spPr>
          <a:xfrm xmlns:a="http://schemas.openxmlformats.org/drawingml/2006/main">
            <a:off x="838200" y="5750719"/>
            <a:ext cx="990600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22F40"/>
                </a:solidFill>
                <a:latin typeface="Nimbus Mono PS"/>
                <a:ea typeface="Nimbus Mono PS"/>
                <a:cs typeface="Nimbus Mono PS"/>
              </a:defRPr>
            </a:defPPr>
          </a:lstStyle>
          <a:p xmlns:a="http://schemas.openxmlformats.org/drawingml/2006/main">
            <a:pPr algn="l">
              <a:defRPr sz="1875" b="0">
                <a:solidFill>
                  <a:srgbClr val="122F40"/>
                </a:solidFill>
                <a:latin typeface="Nimbus Mono PS"/>
                <a:ea typeface="Nimbus Mono PS"/>
                <a:cs typeface="Nimbus Mono PS"/>
              </a:defRPr>
            </a:pPr>
            <a:r>
              <a:rPr sz="1875" b="0">
                <a:solidFill>
                  <a:srgbClr val="122F40"/>
                </a:solidFill>
                <a:latin typeface="Nimbus Mono PS"/>
                <a:ea typeface="Nimbus Mono PS"/>
                <a:cs typeface="Nimbus Mono PS"/>
              </a:rPr>
              <a:t>  curso_id TEXT NOT NULL REFERENCES curso(id),</a:t>
            </a:r>
          </a:p>
        </p:txBody>
      </p:sp>
      <p:sp>
        <p:nvSpPr>
          <p:cNvPr id="16" name="code-8">
            <a:extLst xmlns:a="http://schemas.openxmlformats.org/drawingml/2006/main">
              <a:ext uri="{FF2B5EF4-FFF2-40B4-BE49-F238E27FC236}">
                <a16:creationId xmlns:a16="http://schemas.microsoft.com/office/drawing/2014/main" id="{110B3497-DB0B-4CBC-B1F9-A4D91FDBABED}"/>
              </a:ext>
            </a:extLst>
          </p:cNvPr>
          <p:cNvSpPr>
            <a:spLocks xmlns:a="http://schemas.openxmlformats.org/drawingml/2006/main" noGrp="1"/>
          </p:cNvSpPr>
          <p:nvPr/>
        </p:nvSpPr>
        <p:spPr>
          <a:xfrm xmlns:a="http://schemas.openxmlformats.org/drawingml/2006/main">
            <a:off x="838200" y="6048375"/>
            <a:ext cx="990600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22F40"/>
                </a:solidFill>
                <a:latin typeface="Nimbus Mono PS"/>
                <a:ea typeface="Nimbus Mono PS"/>
                <a:cs typeface="Nimbus Mono PS"/>
              </a:defRPr>
            </a:defPPr>
          </a:lstStyle>
          <a:p xmlns:a="http://schemas.openxmlformats.org/drawingml/2006/main">
            <a:pPr algn="l">
              <a:defRPr sz="1875" b="0">
                <a:solidFill>
                  <a:srgbClr val="122F40"/>
                </a:solidFill>
                <a:latin typeface="Nimbus Mono PS"/>
                <a:ea typeface="Nimbus Mono PS"/>
                <a:cs typeface="Nimbus Mono PS"/>
              </a:defRPr>
            </a:pPr>
            <a:r>
              <a:rPr sz="1875" b="0">
                <a:solidFill>
                  <a:srgbClr val="122F40"/>
                </a:solidFill>
                <a:latin typeface="Nimbus Mono PS"/>
                <a:ea typeface="Nimbus Mono PS"/>
                <a:cs typeface="Nimbus Mono PS"/>
              </a:rPr>
              <a:t>  titulo TEXT NOT NULL CHECK(length(trim(titulo)) &gt; 0),</a:t>
            </a:r>
          </a:p>
        </p:txBody>
      </p:sp>
      <p:sp>
        <p:nvSpPr>
          <p:cNvPr id="17" name="code-9">
            <a:extLst xmlns:a="http://schemas.openxmlformats.org/drawingml/2006/main">
              <a:ext uri="{FF2B5EF4-FFF2-40B4-BE49-F238E27FC236}">
                <a16:creationId xmlns:a16="http://schemas.microsoft.com/office/drawing/2014/main" id="{565CAD16-45A3-4F9A-90D7-331F730E42FA}"/>
              </a:ext>
            </a:extLst>
          </p:cNvPr>
          <p:cNvSpPr>
            <a:spLocks xmlns:a="http://schemas.openxmlformats.org/drawingml/2006/main" noGrp="1"/>
          </p:cNvSpPr>
          <p:nvPr/>
        </p:nvSpPr>
        <p:spPr>
          <a:xfrm xmlns:a="http://schemas.openxmlformats.org/drawingml/2006/main">
            <a:off x="838200" y="6346031"/>
            <a:ext cx="990600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22F40"/>
                </a:solidFill>
                <a:latin typeface="Nimbus Mono PS"/>
                <a:ea typeface="Nimbus Mono PS"/>
                <a:cs typeface="Nimbus Mono PS"/>
              </a:defRPr>
            </a:defPPr>
          </a:lstStyle>
          <a:p xmlns:a="http://schemas.openxmlformats.org/drawingml/2006/main">
            <a:pPr algn="l">
              <a:defRPr sz="1875" b="0">
                <a:solidFill>
                  <a:srgbClr val="122F40"/>
                </a:solidFill>
                <a:latin typeface="Nimbus Mono PS"/>
                <a:ea typeface="Nimbus Mono PS"/>
                <a:cs typeface="Nimbus Mono PS"/>
              </a:defRPr>
            </a:pPr>
            <a:r>
              <a:rPr sz="1875" b="0">
                <a:solidFill>
                  <a:srgbClr val="122F40"/>
                </a:solidFill>
                <a:latin typeface="Nimbus Mono PS"/>
                <a:ea typeface="Nimbus Mono PS"/>
                <a:cs typeface="Nimbus Mono PS"/>
              </a:rPr>
              <a:t>  completada INTEGER NOT NULL DEFAULT 0</a:t>
            </a:r>
          </a:p>
        </p:txBody>
      </p:sp>
      <p:sp>
        <p:nvSpPr>
          <p:cNvPr id="18" name="code-10">
            <a:extLst xmlns:a="http://schemas.openxmlformats.org/drawingml/2006/main">
              <a:ext uri="{FF2B5EF4-FFF2-40B4-BE49-F238E27FC236}">
                <a16:creationId xmlns:a16="http://schemas.microsoft.com/office/drawing/2014/main" id="{6DCC03D3-C0D6-4ED6-9697-219BFBDCEF9F}"/>
              </a:ext>
            </a:extLst>
          </p:cNvPr>
          <p:cNvSpPr>
            <a:spLocks xmlns:a="http://schemas.openxmlformats.org/drawingml/2006/main" noGrp="1"/>
          </p:cNvSpPr>
          <p:nvPr/>
        </p:nvSpPr>
        <p:spPr>
          <a:xfrm xmlns:a="http://schemas.openxmlformats.org/drawingml/2006/main">
            <a:off x="838200" y="6643688"/>
            <a:ext cx="990600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22F40"/>
                </a:solidFill>
                <a:latin typeface="Nimbus Mono PS"/>
                <a:ea typeface="Nimbus Mono PS"/>
                <a:cs typeface="Nimbus Mono PS"/>
              </a:defRPr>
            </a:defPPr>
          </a:lstStyle>
          <a:p xmlns:a="http://schemas.openxmlformats.org/drawingml/2006/main">
            <a:pPr algn="l">
              <a:defRPr sz="1875" b="0">
                <a:solidFill>
                  <a:srgbClr val="122F40"/>
                </a:solidFill>
                <a:latin typeface="Nimbus Mono PS"/>
                <a:ea typeface="Nimbus Mono PS"/>
                <a:cs typeface="Nimbus Mono PS"/>
              </a:defRPr>
            </a:pPr>
            <a:r>
              <a:rPr sz="1875" b="0">
                <a:solidFill>
                  <a:srgbClr val="122F40"/>
                </a:solidFill>
                <a:latin typeface="Nimbus Mono PS"/>
                <a:ea typeface="Nimbus Mono PS"/>
                <a:cs typeface="Nimbus Mono PS"/>
              </a:rPr>
              <a:t>    CHECK(completada IN (0, 1)),</a:t>
            </a:r>
          </a:p>
        </p:txBody>
      </p:sp>
      <p:sp>
        <p:nvSpPr>
          <p:cNvPr id="19" name="code-11">
            <a:extLst xmlns:a="http://schemas.openxmlformats.org/drawingml/2006/main">
              <a:ext uri="{FF2B5EF4-FFF2-40B4-BE49-F238E27FC236}">
                <a16:creationId xmlns:a16="http://schemas.microsoft.com/office/drawing/2014/main" id="{7383F747-2064-4D56-BE0C-5D36B554C800}"/>
              </a:ext>
            </a:extLst>
          </p:cNvPr>
          <p:cNvSpPr>
            <a:spLocks xmlns:a="http://schemas.openxmlformats.org/drawingml/2006/main" noGrp="1"/>
          </p:cNvSpPr>
          <p:nvPr/>
        </p:nvSpPr>
        <p:spPr>
          <a:xfrm xmlns:a="http://schemas.openxmlformats.org/drawingml/2006/main">
            <a:off x="838200" y="6941344"/>
            <a:ext cx="990600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22F40"/>
                </a:solidFill>
                <a:latin typeface="Nimbus Mono PS"/>
                <a:ea typeface="Nimbus Mono PS"/>
                <a:cs typeface="Nimbus Mono PS"/>
              </a:defRPr>
            </a:defPPr>
          </a:lstStyle>
          <a:p xmlns:a="http://schemas.openxmlformats.org/drawingml/2006/main">
            <a:pPr algn="l">
              <a:defRPr sz="1875" b="0">
                <a:solidFill>
                  <a:srgbClr val="122F40"/>
                </a:solidFill>
                <a:latin typeface="Nimbus Mono PS"/>
                <a:ea typeface="Nimbus Mono PS"/>
                <a:cs typeface="Nimbus Mono PS"/>
              </a:defRPr>
            </a:pPr>
            <a:r>
              <a:rPr sz="1875" b="0">
                <a:solidFill>
                  <a:srgbClr val="122F40"/>
                </a:solidFill>
                <a:latin typeface="Nimbus Mono PS"/>
                <a:ea typeface="Nimbus Mono PS"/>
                <a:cs typeface="Nimbus Mono PS"/>
              </a:rPr>
              <a:t>  sincronizado INTEGER NOT NULL DEFAULT 0</a:t>
            </a:r>
          </a:p>
        </p:txBody>
      </p:sp>
      <p:sp>
        <p:nvSpPr>
          <p:cNvPr id="20" name="code-12">
            <a:extLst xmlns:a="http://schemas.openxmlformats.org/drawingml/2006/main">
              <a:ext uri="{FF2B5EF4-FFF2-40B4-BE49-F238E27FC236}">
                <a16:creationId xmlns:a16="http://schemas.microsoft.com/office/drawing/2014/main" id="{78E2FDDE-677D-414C-85AE-D124685AD1F8}"/>
              </a:ext>
            </a:extLst>
          </p:cNvPr>
          <p:cNvSpPr>
            <a:spLocks xmlns:a="http://schemas.openxmlformats.org/drawingml/2006/main" noGrp="1"/>
          </p:cNvSpPr>
          <p:nvPr/>
        </p:nvSpPr>
        <p:spPr>
          <a:xfrm xmlns:a="http://schemas.openxmlformats.org/drawingml/2006/main">
            <a:off x="838200" y="7239000"/>
            <a:ext cx="990600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22F40"/>
                </a:solidFill>
                <a:latin typeface="Nimbus Mono PS"/>
                <a:ea typeface="Nimbus Mono PS"/>
                <a:cs typeface="Nimbus Mono PS"/>
              </a:defRPr>
            </a:defPPr>
          </a:lstStyle>
          <a:p xmlns:a="http://schemas.openxmlformats.org/drawingml/2006/main">
            <a:pPr algn="l">
              <a:defRPr sz="1875" b="0">
                <a:solidFill>
                  <a:srgbClr val="122F40"/>
                </a:solidFill>
                <a:latin typeface="Nimbus Mono PS"/>
                <a:ea typeface="Nimbus Mono PS"/>
                <a:cs typeface="Nimbus Mono PS"/>
              </a:defRPr>
            </a:pPr>
            <a:r>
              <a:rPr sz="1875" b="0">
                <a:solidFill>
                  <a:srgbClr val="122F40"/>
                </a:solidFill>
                <a:latin typeface="Nimbus Mono PS"/>
                <a:ea typeface="Nimbus Mono PS"/>
                <a:cs typeface="Nimbus Mono PS"/>
              </a:rPr>
              <a:t>    CHECK(sincronizado IN (0, 1))</a:t>
            </a:r>
          </a:p>
        </p:txBody>
      </p:sp>
      <p:sp>
        <p:nvSpPr>
          <p:cNvPr id="21" name="code-13">
            <a:extLst xmlns:a="http://schemas.openxmlformats.org/drawingml/2006/main">
              <a:ext uri="{FF2B5EF4-FFF2-40B4-BE49-F238E27FC236}">
                <a16:creationId xmlns:a16="http://schemas.microsoft.com/office/drawing/2014/main" id="{DEFF5C94-9D37-470C-9595-F7FE3E5913BF}"/>
              </a:ext>
            </a:extLst>
          </p:cNvPr>
          <p:cNvSpPr>
            <a:spLocks xmlns:a="http://schemas.openxmlformats.org/drawingml/2006/main" noGrp="1"/>
          </p:cNvSpPr>
          <p:nvPr/>
        </p:nvSpPr>
        <p:spPr>
          <a:xfrm xmlns:a="http://schemas.openxmlformats.org/drawingml/2006/main">
            <a:off x="838200" y="7536656"/>
            <a:ext cx="990600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22F40"/>
                </a:solidFill>
                <a:latin typeface="Nimbus Mono PS"/>
                <a:ea typeface="Nimbus Mono PS"/>
                <a:cs typeface="Nimbus Mono PS"/>
              </a:defRPr>
            </a:defPPr>
          </a:lstStyle>
          <a:p xmlns:a="http://schemas.openxmlformats.org/drawingml/2006/main">
            <a:pPr algn="l">
              <a:defRPr sz="1875" b="0">
                <a:solidFill>
                  <a:srgbClr val="122F40"/>
                </a:solidFill>
                <a:latin typeface="Nimbus Mono PS"/>
                <a:ea typeface="Nimbus Mono PS"/>
                <a:cs typeface="Nimbus Mono PS"/>
              </a:defRPr>
            </a:pPr>
            <a:r>
              <a:rPr sz="1875" b="0">
                <a:solidFill>
                  <a:srgbClr val="122F40"/>
                </a:solidFill>
                <a:latin typeface="Nimbus Mono PS"/>
                <a:ea typeface="Nimbus Mono PS"/>
                <a:cs typeface="Nimbus Mono PS"/>
              </a:rPr>
              <a:t>);</a:t>
            </a:r>
          </a:p>
        </p:txBody>
      </p:sp>
      <p:sp>
        <p:nvSpPr>
          <p:cNvPr id="22" name="case">
            <a:extLst xmlns:a="http://schemas.openxmlformats.org/drawingml/2006/main">
              <a:ext uri="{FF2B5EF4-FFF2-40B4-BE49-F238E27FC236}">
                <a16:creationId xmlns:a16="http://schemas.microsoft.com/office/drawing/2014/main" id="{A60BAFDC-F2B7-4653-A8C4-217B12E04CA5}"/>
              </a:ext>
            </a:extLst>
          </p:cNvPr>
          <p:cNvSpPr>
            <a:spLocks xmlns:a="http://schemas.openxmlformats.org/drawingml/2006/main" noGrp="1"/>
          </p:cNvSpPr>
          <p:nvPr/>
        </p:nvSpPr>
        <p:spPr>
          <a:xfrm xmlns:a="http://schemas.openxmlformats.org/drawingml/2006/main">
            <a:off x="838200" y="8062913"/>
            <a:ext cx="9906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0">
                <a:solidFill>
                  <a:srgbClr val="294653"/>
                </a:solidFill>
                <a:latin typeface="Nimbus Sans"/>
                <a:ea typeface="Nimbus Sans"/>
                <a:cs typeface="Nimbus Sans"/>
              </a:defRPr>
            </a:defPPr>
          </a:lstStyle>
          <a:p xmlns:a="http://schemas.openxmlformats.org/drawingml/2006/main">
            <a:pPr algn="l">
              <a:defRPr sz="2250" b="0">
                <a:solidFill>
                  <a:srgbClr val="294653"/>
                </a:solidFill>
                <a:latin typeface="Nimbus Sans"/>
                <a:ea typeface="Nimbus Sans"/>
                <a:cs typeface="Nimbus Sans"/>
              </a:defRPr>
            </a:pPr>
            <a:r>
              <a:rPr sz="2250" b="0">
                <a:solidFill>
                  <a:srgbClr val="294653"/>
                </a:solidFill>
                <a:latin typeface="Nimbus Sans"/>
                <a:ea typeface="Nimbus Sans"/>
                <a:cs typeface="Nimbus Sans"/>
              </a:rPr>
              <a:t>Caso breve: una tarea con curso_id inexistente produce un error de integridad</a:t>
            </a:r>
          </a:p>
          <a:p xmlns:a="http://schemas.openxmlformats.org/drawingml/2006/main">
            <a:pPr algn="l">
              <a:defRPr sz="2250" b="0">
                <a:solidFill>
                  <a:srgbClr val="294653"/>
                </a:solidFill>
                <a:latin typeface="Nimbus Sans"/>
                <a:ea typeface="Nimbus Sans"/>
                <a:cs typeface="Nimbus Sans"/>
              </a:defRPr>
            </a:pPr>
            <a:r>
              <a:rPr sz="2250" b="0">
                <a:solidFill>
                  <a:srgbClr val="294653"/>
                </a:solidFill>
                <a:latin typeface="Nimbus Sans"/>
                <a:ea typeface="Nimbus Sans"/>
                <a:cs typeface="Nimbus Sans"/>
              </a:rPr>
              <a:t>si la conexión tiene activadas las claves foráneas.</a:t>
            </a:r>
          </a:p>
        </p:txBody>
      </p:sp>
    </p:spTree>
    <p:extLst>
      <p:ext uri="{BB962C8B-B14F-4D97-AF65-F5344CB8AC3E}">
        <p14:creationId xmlns:p14="http://schemas.microsoft.com/office/powerpoint/2010/main" val="171743211"/>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9953DCA0-8897-4390-8BA1-DFC10A12745B}"/>
              </a:ext>
            </a:extLst>
          </p:cNvPr>
          <p:cNvPicPr>
            <a:picLocks xmlns:a="http://schemas.openxmlformats.org/drawingml/2006/main" noChangeAspect="1"/>
          </p:cNvPicPr>
          <p:nvPr/>
        </p:nvPicPr>
        <p:blipFill>
          <a:blip xmlns:r="http://schemas.openxmlformats.org/officeDocument/2006/relationships" xmlns:a="http://schemas.openxmlformats.org/drawingml/2006/main" r:embed="R5f7f440bb45548e4"/>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D633F28D-314C-4DB6-8880-F728F2FED4E6}"/>
              </a:ext>
            </a:extLst>
          </p:cNvPr>
          <p:cNvSpPr>
            <a:spLocks xmlns:a="http://schemas.openxmlformats.org/drawingml/2006/main" noGrp="1"/>
          </p:cNvSpPr>
          <p:nvPr/>
        </p:nvSpPr>
        <p:spPr>
          <a:xfrm xmlns:a="http://schemas.openxmlformats.org/drawingml/2006/main">
            <a:off x="11477625" y="8972550"/>
            <a:ext cx="59721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El título escrito por el usuario debe tratarse como un dato.</a:t>
            </a:r>
          </a:p>
        </p:txBody>
      </p:sp>
      <p:sp>
        <p:nvSpPr>
          <p:cNvPr id="3" name="folio">
            <a:extLst xmlns:a="http://schemas.openxmlformats.org/drawingml/2006/main">
              <a:ext uri="{FF2B5EF4-FFF2-40B4-BE49-F238E27FC236}">
                <a16:creationId xmlns:a16="http://schemas.microsoft.com/office/drawing/2014/main" id="{4E8A6F42-B2DE-4C13-A824-03CA033121CD}"/>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16</a:t>
            </a:r>
          </a:p>
        </p:txBody>
      </p:sp>
      <p:sp>
        <p:nvSpPr>
          <p:cNvPr id="4" name="unit">
            <a:extLst xmlns:a="http://schemas.openxmlformats.org/drawingml/2006/main">
              <a:ext uri="{FF2B5EF4-FFF2-40B4-BE49-F238E27FC236}">
                <a16:creationId xmlns:a16="http://schemas.microsoft.com/office/drawing/2014/main" id="{F28A80F0-6F54-48AD-B583-183526E743BA}"/>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3E7D406D-23AF-4732-B8F0-DA91E46C0B0C}"/>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CRUD y consultas parametrizadas</a:t>
            </a:r>
          </a:p>
        </p:txBody>
      </p:sp>
      <p:sp>
        <p:nvSpPr>
          <p:cNvPr id="6" name="source">
            <a:extLst xmlns:a="http://schemas.openxmlformats.org/drawingml/2006/main">
              <a:ext uri="{FF2B5EF4-FFF2-40B4-BE49-F238E27FC236}">
                <a16:creationId xmlns:a16="http://schemas.microsoft.com/office/drawing/2014/main" id="{01CEECE6-1D69-4543-A92F-CCAAB81A9072}"/>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Fuente: Android Developers, operaciones SQLite y argumentos enlazados</a:t>
            </a:r>
          </a:p>
        </p:txBody>
      </p:sp>
      <p:sp>
        <p:nvSpPr>
          <p:cNvPr id="7" name="intro">
            <a:extLst xmlns:a="http://schemas.openxmlformats.org/drawingml/2006/main">
              <a:ext uri="{FF2B5EF4-FFF2-40B4-BE49-F238E27FC236}">
                <a16:creationId xmlns:a16="http://schemas.microsoft.com/office/drawing/2014/main" id="{DEFC6812-850E-40D6-A296-FFF34A596F98}"/>
              </a:ext>
            </a:extLst>
          </p:cNvPr>
          <p:cNvSpPr>
            <a:spLocks xmlns:a="http://schemas.openxmlformats.org/drawingml/2006/main" noGrp="1"/>
          </p:cNvSpPr>
          <p:nvPr/>
        </p:nvSpPr>
        <p:spPr>
          <a:xfrm xmlns:a="http://schemas.openxmlformats.org/drawingml/2006/main">
            <a:off x="838200" y="2667000"/>
            <a:ext cx="9906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0">
                <a:solidFill>
                  <a:srgbClr val="294653"/>
                </a:solidFill>
                <a:latin typeface="Nimbus Sans"/>
                <a:ea typeface="Nimbus Sans"/>
                <a:cs typeface="Nimbus Sans"/>
              </a:defRPr>
            </a:defPPr>
          </a:lstStyle>
          <a:p xmlns:a="http://schemas.openxmlformats.org/drawingml/2006/main">
            <a:pPr algn="l">
              <a:defRPr sz="2325" b="0">
                <a:solidFill>
                  <a:srgbClr val="294653"/>
                </a:solidFill>
                <a:latin typeface="Nimbus Sans"/>
                <a:ea typeface="Nimbus Sans"/>
                <a:cs typeface="Nimbus Sans"/>
              </a:defRPr>
            </a:pPr>
            <a:r>
              <a:rPr sz="2325" b="0">
                <a:solidFill>
                  <a:srgbClr val="294653"/>
                </a:solidFill>
                <a:latin typeface="Nimbus Sans"/>
                <a:ea typeface="Nimbus Sans"/>
                <a:cs typeface="Nimbus Sans"/>
              </a:rPr>
              <a:t>CRUD reúne creación, lectura, actualización y eliminación. Los valores del</a:t>
            </a:r>
          </a:p>
          <a:p xmlns:a="http://schemas.openxmlformats.org/drawingml/2006/main">
            <a:pPr algn="l">
              <a:defRPr sz="2325" b="0">
                <a:solidFill>
                  <a:srgbClr val="294653"/>
                </a:solidFill>
                <a:latin typeface="Nimbus Sans"/>
                <a:ea typeface="Nimbus Sans"/>
                <a:cs typeface="Nimbus Sans"/>
              </a:defRPr>
            </a:pPr>
            <a:r>
              <a:rPr sz="2325" b="0">
                <a:solidFill>
                  <a:srgbClr val="294653"/>
                </a:solidFill>
                <a:latin typeface="Nimbus Sans"/>
                <a:ea typeface="Nimbus Sans"/>
                <a:cs typeface="Nimbus Sans"/>
              </a:rPr>
              <a:t>usuario se enlazan como parámetros en la API de acceso a datos.</a:t>
            </a:r>
          </a:p>
        </p:txBody>
      </p:sp>
      <p:sp>
        <p:nvSpPr>
          <p:cNvPr id="8" name="code-0">
            <a:extLst xmlns:a="http://schemas.openxmlformats.org/drawingml/2006/main">
              <a:ext uri="{FF2B5EF4-FFF2-40B4-BE49-F238E27FC236}">
                <a16:creationId xmlns:a16="http://schemas.microsoft.com/office/drawing/2014/main" id="{AC413418-FDB2-4FAF-BCF9-C0E68A9A715A}"/>
              </a:ext>
            </a:extLst>
          </p:cNvPr>
          <p:cNvSpPr>
            <a:spLocks xmlns:a="http://schemas.openxmlformats.org/drawingml/2006/main" noGrp="1"/>
          </p:cNvSpPr>
          <p:nvPr/>
        </p:nvSpPr>
        <p:spPr>
          <a:xfrm xmlns:a="http://schemas.openxmlformats.org/drawingml/2006/main">
            <a:off x="838200" y="3667125"/>
            <a:ext cx="9906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087E83"/>
                </a:solidFill>
                <a:latin typeface="Nimbus Mono PS"/>
                <a:ea typeface="Nimbus Mono PS"/>
                <a:cs typeface="Nimbus Mono PS"/>
              </a:defRPr>
            </a:defPPr>
          </a:lstStyle>
          <a:p xmlns:a="http://schemas.openxmlformats.org/drawingml/2006/main">
            <a:pPr algn="l">
              <a:defRPr sz="1950" b="0">
                <a:solidFill>
                  <a:srgbClr val="087E83"/>
                </a:solidFill>
                <a:latin typeface="Nimbus Mono PS"/>
                <a:ea typeface="Nimbus Mono PS"/>
                <a:cs typeface="Nimbus Mono PS"/>
              </a:defRPr>
            </a:pPr>
            <a:r>
              <a:rPr sz="1950" b="0">
                <a:solidFill>
                  <a:srgbClr val="087E83"/>
                </a:solidFill>
                <a:latin typeface="Nimbus Mono PS"/>
                <a:ea typeface="Nimbus Mono PS"/>
                <a:cs typeface="Nimbus Mono PS"/>
              </a:rPr>
              <a:t>-- Crear</a:t>
            </a:r>
          </a:p>
        </p:txBody>
      </p:sp>
      <p:sp>
        <p:nvSpPr>
          <p:cNvPr id="9" name="code-1">
            <a:extLst xmlns:a="http://schemas.openxmlformats.org/drawingml/2006/main">
              <a:ext uri="{FF2B5EF4-FFF2-40B4-BE49-F238E27FC236}">
                <a16:creationId xmlns:a16="http://schemas.microsoft.com/office/drawing/2014/main" id="{F8B379C1-2483-4FC2-9B7E-7420F4C47E31}"/>
              </a:ext>
            </a:extLst>
          </p:cNvPr>
          <p:cNvSpPr>
            <a:spLocks xmlns:a="http://schemas.openxmlformats.org/drawingml/2006/main" noGrp="1"/>
          </p:cNvSpPr>
          <p:nvPr/>
        </p:nvSpPr>
        <p:spPr>
          <a:xfrm xmlns:a="http://schemas.openxmlformats.org/drawingml/2006/main">
            <a:off x="838200" y="3976688"/>
            <a:ext cx="9906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22F40"/>
                </a:solidFill>
                <a:latin typeface="Nimbus Mono PS"/>
                <a:ea typeface="Nimbus Mono PS"/>
                <a:cs typeface="Nimbus Mono PS"/>
              </a:defRPr>
            </a:defPPr>
          </a:lstStyle>
          <a:p xmlns:a="http://schemas.openxmlformats.org/drawingml/2006/main">
            <a:pPr algn="l">
              <a:defRPr sz="1950" b="0">
                <a:solidFill>
                  <a:srgbClr val="122F40"/>
                </a:solidFill>
                <a:latin typeface="Nimbus Mono PS"/>
                <a:ea typeface="Nimbus Mono PS"/>
                <a:cs typeface="Nimbus Mono PS"/>
              </a:defRPr>
            </a:pPr>
            <a:r>
              <a:rPr sz="1950" b="0">
                <a:solidFill>
                  <a:srgbClr val="122F40"/>
                </a:solidFill>
                <a:latin typeface="Nimbus Mono PS"/>
                <a:ea typeface="Nimbus Mono PS"/>
                <a:cs typeface="Nimbus Mono PS"/>
              </a:rPr>
              <a:t>INSERT INTO tarea(id, curso_id, titulo)</a:t>
            </a:r>
          </a:p>
        </p:txBody>
      </p:sp>
      <p:sp>
        <p:nvSpPr>
          <p:cNvPr id="10" name="code-2">
            <a:extLst xmlns:a="http://schemas.openxmlformats.org/drawingml/2006/main">
              <a:ext uri="{FF2B5EF4-FFF2-40B4-BE49-F238E27FC236}">
                <a16:creationId xmlns:a16="http://schemas.microsoft.com/office/drawing/2014/main" id="{A4E6B3EF-0C7A-4DDB-AC74-131C66A6040C}"/>
              </a:ext>
            </a:extLst>
          </p:cNvPr>
          <p:cNvSpPr>
            <a:spLocks xmlns:a="http://schemas.openxmlformats.org/drawingml/2006/main" noGrp="1"/>
          </p:cNvSpPr>
          <p:nvPr/>
        </p:nvSpPr>
        <p:spPr>
          <a:xfrm xmlns:a="http://schemas.openxmlformats.org/drawingml/2006/main">
            <a:off x="838200" y="4286250"/>
            <a:ext cx="9906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22F40"/>
                </a:solidFill>
                <a:latin typeface="Nimbus Mono PS"/>
                <a:ea typeface="Nimbus Mono PS"/>
                <a:cs typeface="Nimbus Mono PS"/>
              </a:defRPr>
            </a:defPPr>
          </a:lstStyle>
          <a:p xmlns:a="http://schemas.openxmlformats.org/drawingml/2006/main">
            <a:pPr algn="l">
              <a:defRPr sz="1950" b="0">
                <a:solidFill>
                  <a:srgbClr val="122F40"/>
                </a:solidFill>
                <a:latin typeface="Nimbus Mono PS"/>
                <a:ea typeface="Nimbus Mono PS"/>
                <a:cs typeface="Nimbus Mono PS"/>
              </a:defRPr>
            </a:pPr>
            <a:r>
              <a:rPr sz="1950" b="0">
                <a:solidFill>
                  <a:srgbClr val="122F40"/>
                </a:solidFill>
                <a:latin typeface="Nimbus Mono PS"/>
                <a:ea typeface="Nimbus Mono PS"/>
                <a:cs typeface="Nimbus Mono PS"/>
              </a:rPr>
              <a:t>VALUES (?, ?, ?);</a:t>
            </a:r>
          </a:p>
        </p:txBody>
      </p:sp>
      <p:sp>
        <p:nvSpPr>
          <p:cNvPr id="11" name="code-3">
            <a:extLst xmlns:a="http://schemas.openxmlformats.org/drawingml/2006/main">
              <a:ext uri="{FF2B5EF4-FFF2-40B4-BE49-F238E27FC236}">
                <a16:creationId xmlns:a16="http://schemas.microsoft.com/office/drawing/2014/main" id="{60285533-51D7-465F-9B52-FECB9AD7F32B}"/>
              </a:ext>
            </a:extLst>
          </p:cNvPr>
          <p:cNvSpPr>
            <a:spLocks xmlns:a="http://schemas.openxmlformats.org/drawingml/2006/main" noGrp="1"/>
          </p:cNvSpPr>
          <p:nvPr/>
        </p:nvSpPr>
        <p:spPr>
          <a:xfrm xmlns:a="http://schemas.openxmlformats.org/drawingml/2006/main">
            <a:off x="838200" y="4595813"/>
            <a:ext cx="9906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087E83"/>
                </a:solidFill>
                <a:latin typeface="Nimbus Mono PS"/>
                <a:ea typeface="Nimbus Mono PS"/>
                <a:cs typeface="Nimbus Mono PS"/>
              </a:defRPr>
            </a:defPPr>
          </a:lstStyle>
          <a:p xmlns:a="http://schemas.openxmlformats.org/drawingml/2006/main">
            <a:pPr algn="l">
              <a:defRPr sz="1950" b="0">
                <a:solidFill>
                  <a:srgbClr val="087E83"/>
                </a:solidFill>
                <a:latin typeface="Nimbus Mono PS"/>
                <a:ea typeface="Nimbus Mono PS"/>
                <a:cs typeface="Nimbus Mono PS"/>
              </a:defRPr>
            </a:pPr>
            <a:r>
              <a:rPr sz="1950" b="0">
                <a:solidFill>
                  <a:srgbClr val="087E83"/>
                </a:solidFill>
                <a:latin typeface="Nimbus Mono PS"/>
                <a:ea typeface="Nimbus Mono PS"/>
                <a:cs typeface="Nimbus Mono PS"/>
              </a:rPr>
              <a:t>-- Leer</a:t>
            </a:r>
          </a:p>
        </p:txBody>
      </p:sp>
      <p:sp>
        <p:nvSpPr>
          <p:cNvPr id="12" name="code-4">
            <a:extLst xmlns:a="http://schemas.openxmlformats.org/drawingml/2006/main">
              <a:ext uri="{FF2B5EF4-FFF2-40B4-BE49-F238E27FC236}">
                <a16:creationId xmlns:a16="http://schemas.microsoft.com/office/drawing/2014/main" id="{08833DC1-DDCA-453A-9F28-348FD29A56B0}"/>
              </a:ext>
            </a:extLst>
          </p:cNvPr>
          <p:cNvSpPr>
            <a:spLocks xmlns:a="http://schemas.openxmlformats.org/drawingml/2006/main" noGrp="1"/>
          </p:cNvSpPr>
          <p:nvPr/>
        </p:nvSpPr>
        <p:spPr>
          <a:xfrm xmlns:a="http://schemas.openxmlformats.org/drawingml/2006/main">
            <a:off x="838200" y="4905375"/>
            <a:ext cx="9906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22F40"/>
                </a:solidFill>
                <a:latin typeface="Nimbus Mono PS"/>
                <a:ea typeface="Nimbus Mono PS"/>
                <a:cs typeface="Nimbus Mono PS"/>
              </a:defRPr>
            </a:defPPr>
          </a:lstStyle>
          <a:p xmlns:a="http://schemas.openxmlformats.org/drawingml/2006/main">
            <a:pPr algn="l">
              <a:defRPr sz="1950" b="0">
                <a:solidFill>
                  <a:srgbClr val="122F40"/>
                </a:solidFill>
                <a:latin typeface="Nimbus Mono PS"/>
                <a:ea typeface="Nimbus Mono PS"/>
                <a:cs typeface="Nimbus Mono PS"/>
              </a:defRPr>
            </a:pPr>
            <a:r>
              <a:rPr sz="1950" b="0">
                <a:solidFill>
                  <a:srgbClr val="122F40"/>
                </a:solidFill>
                <a:latin typeface="Nimbus Mono PS"/>
                <a:ea typeface="Nimbus Mono PS"/>
                <a:cs typeface="Nimbus Mono PS"/>
              </a:rPr>
              <a:t>SELECT id, titulo FROM tarea</a:t>
            </a:r>
          </a:p>
        </p:txBody>
      </p:sp>
      <p:sp>
        <p:nvSpPr>
          <p:cNvPr id="13" name="code-5">
            <a:extLst xmlns:a="http://schemas.openxmlformats.org/drawingml/2006/main">
              <a:ext uri="{FF2B5EF4-FFF2-40B4-BE49-F238E27FC236}">
                <a16:creationId xmlns:a16="http://schemas.microsoft.com/office/drawing/2014/main" id="{6DBD095A-8576-4579-9688-74344E9CB8B4}"/>
              </a:ext>
            </a:extLst>
          </p:cNvPr>
          <p:cNvSpPr>
            <a:spLocks xmlns:a="http://schemas.openxmlformats.org/drawingml/2006/main" noGrp="1"/>
          </p:cNvSpPr>
          <p:nvPr/>
        </p:nvSpPr>
        <p:spPr>
          <a:xfrm xmlns:a="http://schemas.openxmlformats.org/drawingml/2006/main">
            <a:off x="838200" y="5214938"/>
            <a:ext cx="9906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22F40"/>
                </a:solidFill>
                <a:latin typeface="Nimbus Mono PS"/>
                <a:ea typeface="Nimbus Mono PS"/>
                <a:cs typeface="Nimbus Mono PS"/>
              </a:defRPr>
            </a:defPPr>
          </a:lstStyle>
          <a:p xmlns:a="http://schemas.openxmlformats.org/drawingml/2006/main">
            <a:pPr algn="l">
              <a:defRPr sz="1950" b="0">
                <a:solidFill>
                  <a:srgbClr val="122F40"/>
                </a:solidFill>
                <a:latin typeface="Nimbus Mono PS"/>
                <a:ea typeface="Nimbus Mono PS"/>
                <a:cs typeface="Nimbus Mono PS"/>
              </a:defRPr>
            </a:pPr>
            <a:r>
              <a:rPr sz="1950" b="0">
                <a:solidFill>
                  <a:srgbClr val="122F40"/>
                </a:solidFill>
                <a:latin typeface="Nimbus Mono PS"/>
                <a:ea typeface="Nimbus Mono PS"/>
                <a:cs typeface="Nimbus Mono PS"/>
              </a:rPr>
              <a:t>WHERE curso_id = ? AND completada = 0;</a:t>
            </a:r>
          </a:p>
        </p:txBody>
      </p:sp>
      <p:sp>
        <p:nvSpPr>
          <p:cNvPr id="14" name="code-6">
            <a:extLst xmlns:a="http://schemas.openxmlformats.org/drawingml/2006/main">
              <a:ext uri="{FF2B5EF4-FFF2-40B4-BE49-F238E27FC236}">
                <a16:creationId xmlns:a16="http://schemas.microsoft.com/office/drawing/2014/main" id="{DBE36C28-D58C-46E9-A376-045D3D204A05}"/>
              </a:ext>
            </a:extLst>
          </p:cNvPr>
          <p:cNvSpPr>
            <a:spLocks xmlns:a="http://schemas.openxmlformats.org/drawingml/2006/main" noGrp="1"/>
          </p:cNvSpPr>
          <p:nvPr/>
        </p:nvSpPr>
        <p:spPr>
          <a:xfrm xmlns:a="http://schemas.openxmlformats.org/drawingml/2006/main">
            <a:off x="838200" y="5524500"/>
            <a:ext cx="9906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087E83"/>
                </a:solidFill>
                <a:latin typeface="Nimbus Mono PS"/>
                <a:ea typeface="Nimbus Mono PS"/>
                <a:cs typeface="Nimbus Mono PS"/>
              </a:defRPr>
            </a:defPPr>
          </a:lstStyle>
          <a:p xmlns:a="http://schemas.openxmlformats.org/drawingml/2006/main">
            <a:pPr algn="l">
              <a:defRPr sz="1950" b="0">
                <a:solidFill>
                  <a:srgbClr val="087E83"/>
                </a:solidFill>
                <a:latin typeface="Nimbus Mono PS"/>
                <a:ea typeface="Nimbus Mono PS"/>
                <a:cs typeface="Nimbus Mono PS"/>
              </a:defRPr>
            </a:pPr>
            <a:r>
              <a:rPr sz="1950" b="0">
                <a:solidFill>
                  <a:srgbClr val="087E83"/>
                </a:solidFill>
                <a:latin typeface="Nimbus Mono PS"/>
                <a:ea typeface="Nimbus Mono PS"/>
                <a:cs typeface="Nimbus Mono PS"/>
              </a:rPr>
              <a:t>-- Actualizar</a:t>
            </a:r>
          </a:p>
        </p:txBody>
      </p:sp>
      <p:sp>
        <p:nvSpPr>
          <p:cNvPr id="15" name="code-7">
            <a:extLst xmlns:a="http://schemas.openxmlformats.org/drawingml/2006/main">
              <a:ext uri="{FF2B5EF4-FFF2-40B4-BE49-F238E27FC236}">
                <a16:creationId xmlns:a16="http://schemas.microsoft.com/office/drawing/2014/main" id="{BA343B0E-D59C-43C4-856F-398A8CA09E91}"/>
              </a:ext>
            </a:extLst>
          </p:cNvPr>
          <p:cNvSpPr>
            <a:spLocks xmlns:a="http://schemas.openxmlformats.org/drawingml/2006/main" noGrp="1"/>
          </p:cNvSpPr>
          <p:nvPr/>
        </p:nvSpPr>
        <p:spPr>
          <a:xfrm xmlns:a="http://schemas.openxmlformats.org/drawingml/2006/main">
            <a:off x="838200" y="5834063"/>
            <a:ext cx="9906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22F40"/>
                </a:solidFill>
                <a:latin typeface="Nimbus Mono PS"/>
                <a:ea typeface="Nimbus Mono PS"/>
                <a:cs typeface="Nimbus Mono PS"/>
              </a:defRPr>
            </a:defPPr>
          </a:lstStyle>
          <a:p xmlns:a="http://schemas.openxmlformats.org/drawingml/2006/main">
            <a:pPr algn="l">
              <a:defRPr sz="1950" b="0">
                <a:solidFill>
                  <a:srgbClr val="122F40"/>
                </a:solidFill>
                <a:latin typeface="Nimbus Mono PS"/>
                <a:ea typeface="Nimbus Mono PS"/>
                <a:cs typeface="Nimbus Mono PS"/>
              </a:defRPr>
            </a:pPr>
            <a:r>
              <a:rPr sz="1950" b="0">
                <a:solidFill>
                  <a:srgbClr val="122F40"/>
                </a:solidFill>
                <a:latin typeface="Nimbus Mono PS"/>
                <a:ea typeface="Nimbus Mono PS"/>
                <a:cs typeface="Nimbus Mono PS"/>
              </a:rPr>
              <a:t>UPDATE tarea</a:t>
            </a:r>
          </a:p>
        </p:txBody>
      </p:sp>
      <p:sp>
        <p:nvSpPr>
          <p:cNvPr id="16" name="code-8">
            <a:extLst xmlns:a="http://schemas.openxmlformats.org/drawingml/2006/main">
              <a:ext uri="{FF2B5EF4-FFF2-40B4-BE49-F238E27FC236}">
                <a16:creationId xmlns:a16="http://schemas.microsoft.com/office/drawing/2014/main" id="{FD243ABC-6224-4095-9F91-A0639CB5CDF0}"/>
              </a:ext>
            </a:extLst>
          </p:cNvPr>
          <p:cNvSpPr>
            <a:spLocks xmlns:a="http://schemas.openxmlformats.org/drawingml/2006/main" noGrp="1"/>
          </p:cNvSpPr>
          <p:nvPr/>
        </p:nvSpPr>
        <p:spPr>
          <a:xfrm xmlns:a="http://schemas.openxmlformats.org/drawingml/2006/main">
            <a:off x="838200" y="6143625"/>
            <a:ext cx="9906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22F40"/>
                </a:solidFill>
                <a:latin typeface="Nimbus Mono PS"/>
                <a:ea typeface="Nimbus Mono PS"/>
                <a:cs typeface="Nimbus Mono PS"/>
              </a:defRPr>
            </a:defPPr>
          </a:lstStyle>
          <a:p xmlns:a="http://schemas.openxmlformats.org/drawingml/2006/main">
            <a:pPr algn="l">
              <a:defRPr sz="1950" b="0">
                <a:solidFill>
                  <a:srgbClr val="122F40"/>
                </a:solidFill>
                <a:latin typeface="Nimbus Mono PS"/>
                <a:ea typeface="Nimbus Mono PS"/>
                <a:cs typeface="Nimbus Mono PS"/>
              </a:defRPr>
            </a:pPr>
            <a:r>
              <a:rPr sz="1950" b="0">
                <a:solidFill>
                  <a:srgbClr val="122F40"/>
                </a:solidFill>
                <a:latin typeface="Nimbus Mono PS"/>
                <a:ea typeface="Nimbus Mono PS"/>
                <a:cs typeface="Nimbus Mono PS"/>
              </a:rPr>
              <a:t>SET completada = 1, sincronizado = 0</a:t>
            </a:r>
          </a:p>
        </p:txBody>
      </p:sp>
      <p:sp>
        <p:nvSpPr>
          <p:cNvPr id="17" name="code-9">
            <a:extLst xmlns:a="http://schemas.openxmlformats.org/drawingml/2006/main">
              <a:ext uri="{FF2B5EF4-FFF2-40B4-BE49-F238E27FC236}">
                <a16:creationId xmlns:a16="http://schemas.microsoft.com/office/drawing/2014/main" id="{2CF57F38-8838-4870-9A42-E35140C51A0C}"/>
              </a:ext>
            </a:extLst>
          </p:cNvPr>
          <p:cNvSpPr>
            <a:spLocks xmlns:a="http://schemas.openxmlformats.org/drawingml/2006/main" noGrp="1"/>
          </p:cNvSpPr>
          <p:nvPr/>
        </p:nvSpPr>
        <p:spPr>
          <a:xfrm xmlns:a="http://schemas.openxmlformats.org/drawingml/2006/main">
            <a:off x="838200" y="6453188"/>
            <a:ext cx="9906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22F40"/>
                </a:solidFill>
                <a:latin typeface="Nimbus Mono PS"/>
                <a:ea typeface="Nimbus Mono PS"/>
                <a:cs typeface="Nimbus Mono PS"/>
              </a:defRPr>
            </a:defPPr>
          </a:lstStyle>
          <a:p xmlns:a="http://schemas.openxmlformats.org/drawingml/2006/main">
            <a:pPr algn="l">
              <a:defRPr sz="1950" b="0">
                <a:solidFill>
                  <a:srgbClr val="122F40"/>
                </a:solidFill>
                <a:latin typeface="Nimbus Mono PS"/>
                <a:ea typeface="Nimbus Mono PS"/>
                <a:cs typeface="Nimbus Mono PS"/>
              </a:defRPr>
            </a:pPr>
            <a:r>
              <a:rPr sz="1950" b="0">
                <a:solidFill>
                  <a:srgbClr val="122F40"/>
                </a:solidFill>
                <a:latin typeface="Nimbus Mono PS"/>
                <a:ea typeface="Nimbus Mono PS"/>
                <a:cs typeface="Nimbus Mono PS"/>
              </a:rPr>
              <a:t>WHERE id = ?;</a:t>
            </a:r>
          </a:p>
        </p:txBody>
      </p:sp>
      <p:sp>
        <p:nvSpPr>
          <p:cNvPr id="18" name="code-10">
            <a:extLst xmlns:a="http://schemas.openxmlformats.org/drawingml/2006/main">
              <a:ext uri="{FF2B5EF4-FFF2-40B4-BE49-F238E27FC236}">
                <a16:creationId xmlns:a16="http://schemas.microsoft.com/office/drawing/2014/main" id="{3204B616-A5B6-4BCF-95C9-2FEC3466C712}"/>
              </a:ext>
            </a:extLst>
          </p:cNvPr>
          <p:cNvSpPr>
            <a:spLocks xmlns:a="http://schemas.openxmlformats.org/drawingml/2006/main" noGrp="1"/>
          </p:cNvSpPr>
          <p:nvPr/>
        </p:nvSpPr>
        <p:spPr>
          <a:xfrm xmlns:a="http://schemas.openxmlformats.org/drawingml/2006/main">
            <a:off x="838200" y="6762750"/>
            <a:ext cx="9906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087E83"/>
                </a:solidFill>
                <a:latin typeface="Nimbus Mono PS"/>
                <a:ea typeface="Nimbus Mono PS"/>
                <a:cs typeface="Nimbus Mono PS"/>
              </a:defRPr>
            </a:defPPr>
          </a:lstStyle>
          <a:p xmlns:a="http://schemas.openxmlformats.org/drawingml/2006/main">
            <a:pPr algn="l">
              <a:defRPr sz="1950" b="0">
                <a:solidFill>
                  <a:srgbClr val="087E83"/>
                </a:solidFill>
                <a:latin typeface="Nimbus Mono PS"/>
                <a:ea typeface="Nimbus Mono PS"/>
                <a:cs typeface="Nimbus Mono PS"/>
              </a:defRPr>
            </a:pPr>
            <a:r>
              <a:rPr sz="1950" b="0">
                <a:solidFill>
                  <a:srgbClr val="087E83"/>
                </a:solidFill>
                <a:latin typeface="Nimbus Mono PS"/>
                <a:ea typeface="Nimbus Mono PS"/>
                <a:cs typeface="Nimbus Mono PS"/>
              </a:rPr>
              <a:t>-- Eliminar en una agenda solo local</a:t>
            </a:r>
          </a:p>
        </p:txBody>
      </p:sp>
      <p:sp>
        <p:nvSpPr>
          <p:cNvPr id="19" name="code-11">
            <a:extLst xmlns:a="http://schemas.openxmlformats.org/drawingml/2006/main">
              <a:ext uri="{FF2B5EF4-FFF2-40B4-BE49-F238E27FC236}">
                <a16:creationId xmlns:a16="http://schemas.microsoft.com/office/drawing/2014/main" id="{863A2623-5144-4237-8736-D6F67F7C88B7}"/>
              </a:ext>
            </a:extLst>
          </p:cNvPr>
          <p:cNvSpPr>
            <a:spLocks xmlns:a="http://schemas.openxmlformats.org/drawingml/2006/main" noGrp="1"/>
          </p:cNvSpPr>
          <p:nvPr/>
        </p:nvSpPr>
        <p:spPr>
          <a:xfrm xmlns:a="http://schemas.openxmlformats.org/drawingml/2006/main">
            <a:off x="838200" y="7072313"/>
            <a:ext cx="9906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22F40"/>
                </a:solidFill>
                <a:latin typeface="Nimbus Mono PS"/>
                <a:ea typeface="Nimbus Mono PS"/>
                <a:cs typeface="Nimbus Mono PS"/>
              </a:defRPr>
            </a:defPPr>
          </a:lstStyle>
          <a:p xmlns:a="http://schemas.openxmlformats.org/drawingml/2006/main">
            <a:pPr algn="l">
              <a:defRPr sz="1950" b="0">
                <a:solidFill>
                  <a:srgbClr val="122F40"/>
                </a:solidFill>
                <a:latin typeface="Nimbus Mono PS"/>
                <a:ea typeface="Nimbus Mono PS"/>
                <a:cs typeface="Nimbus Mono PS"/>
              </a:defRPr>
            </a:pPr>
            <a:r>
              <a:rPr sz="1950" b="0">
                <a:solidFill>
                  <a:srgbClr val="122F40"/>
                </a:solidFill>
                <a:latin typeface="Nimbus Mono PS"/>
                <a:ea typeface="Nimbus Mono PS"/>
                <a:cs typeface="Nimbus Mono PS"/>
              </a:rPr>
              <a:t>DELETE FROM tarea WHERE id = ?;</a:t>
            </a:r>
          </a:p>
        </p:txBody>
      </p:sp>
      <p:sp>
        <p:nvSpPr>
          <p:cNvPr id="20" name="case">
            <a:extLst xmlns:a="http://schemas.openxmlformats.org/drawingml/2006/main">
              <a:ext uri="{FF2B5EF4-FFF2-40B4-BE49-F238E27FC236}">
                <a16:creationId xmlns:a16="http://schemas.microsoft.com/office/drawing/2014/main" id="{51283D4F-B0B1-4845-AB63-13C31B316574}"/>
              </a:ext>
            </a:extLst>
          </p:cNvPr>
          <p:cNvSpPr>
            <a:spLocks xmlns:a="http://schemas.openxmlformats.org/drawingml/2006/main" noGrp="1"/>
          </p:cNvSpPr>
          <p:nvPr/>
        </p:nvSpPr>
        <p:spPr>
          <a:xfrm xmlns:a="http://schemas.openxmlformats.org/drawingml/2006/main">
            <a:off x="838200" y="7610475"/>
            <a:ext cx="9906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0">
                <a:solidFill>
                  <a:srgbClr val="294653"/>
                </a:solidFill>
                <a:latin typeface="Nimbus Sans"/>
                <a:ea typeface="Nimbus Sans"/>
                <a:cs typeface="Nimbus Sans"/>
              </a:defRPr>
            </a:defPPr>
          </a:lstStyle>
          <a:p xmlns:a="http://schemas.openxmlformats.org/drawingml/2006/main">
            <a:pPr algn="l">
              <a:defRPr sz="2250" b="0">
                <a:solidFill>
                  <a:srgbClr val="294653"/>
                </a:solidFill>
                <a:latin typeface="Nimbus Sans"/>
                <a:ea typeface="Nimbus Sans"/>
                <a:cs typeface="Nimbus Sans"/>
              </a:defRPr>
            </a:pPr>
            <a:r>
              <a:rPr sz="2250" b="0">
                <a:solidFill>
                  <a:srgbClr val="294653"/>
                </a:solidFill>
                <a:latin typeface="Nimbus Sans"/>
                <a:ea typeface="Nimbus Sans"/>
                <a:cs typeface="Nimbus Sans"/>
              </a:rPr>
              <a:t>Caso breve: «Informe de O'Brien» se envía como un valor enlazado. La</a:t>
            </a:r>
          </a:p>
          <a:p xmlns:a="http://schemas.openxmlformats.org/drawingml/2006/main">
            <a:pPr algn="l">
              <a:defRPr sz="2250" b="0">
                <a:solidFill>
                  <a:srgbClr val="294653"/>
                </a:solidFill>
                <a:latin typeface="Nimbus Sans"/>
                <a:ea typeface="Nimbus Sans"/>
                <a:cs typeface="Nimbus Sans"/>
              </a:defRPr>
            </a:pPr>
            <a:r>
              <a:rPr sz="2250" b="0">
                <a:solidFill>
                  <a:srgbClr val="294653"/>
                </a:solidFill>
                <a:latin typeface="Nimbus Sans"/>
                <a:ea typeface="Nimbus Sans"/>
                <a:cs typeface="Nimbus Sans"/>
              </a:rPr>
              <a:t>aplicación conserva el apóstrofo sin construir SQL por concatenación.</a:t>
            </a:r>
          </a:p>
        </p:txBody>
      </p:sp>
    </p:spTree>
    <p:extLst>
      <p:ext uri="{BB962C8B-B14F-4D97-AF65-F5344CB8AC3E}">
        <p14:creationId xmlns:p14="http://schemas.microsoft.com/office/powerpoint/2010/main" val="686596192"/>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4EB118C-A711-42A3-A5E2-5D94B5F5FE4E}"/>
              </a:ext>
            </a:extLst>
          </p:cNvPr>
          <p:cNvPicPr>
            <a:picLocks xmlns:a="http://schemas.openxmlformats.org/drawingml/2006/main" noChangeAspect="1"/>
          </p:cNvPicPr>
          <p:nvPr/>
        </p:nvPicPr>
        <p:blipFill>
          <a:blip xmlns:r="http://schemas.openxmlformats.org/officeDocument/2006/relationships" xmlns:a="http://schemas.openxmlformats.org/drawingml/2006/main" r:embed="R0a882e92d69a412d"/>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D3E02634-0221-469D-9CB4-1EED8AEB1491}"/>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Los cambios relacionados pueden confirmarse como una</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unidad.</a:t>
            </a:r>
          </a:p>
        </p:txBody>
      </p:sp>
      <p:sp>
        <p:nvSpPr>
          <p:cNvPr id="3" name="folio">
            <a:extLst xmlns:a="http://schemas.openxmlformats.org/drawingml/2006/main">
              <a:ext uri="{FF2B5EF4-FFF2-40B4-BE49-F238E27FC236}">
                <a16:creationId xmlns:a16="http://schemas.microsoft.com/office/drawing/2014/main" id="{21D29893-3847-4F60-B135-EA958F68BAEF}"/>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17</a:t>
            </a:r>
          </a:p>
        </p:txBody>
      </p:sp>
      <p:sp>
        <p:nvSpPr>
          <p:cNvPr id="4" name="unit">
            <a:extLst xmlns:a="http://schemas.openxmlformats.org/drawingml/2006/main">
              <a:ext uri="{FF2B5EF4-FFF2-40B4-BE49-F238E27FC236}">
                <a16:creationId xmlns:a16="http://schemas.microsoft.com/office/drawing/2014/main" id="{F3724C54-87AF-4C10-AE0B-9B504F7CF3C3}"/>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8A3E46AE-5A5E-432A-8184-241B6EEDE36B}"/>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Transacciones e integridad</a:t>
            </a:r>
          </a:p>
        </p:txBody>
      </p:sp>
      <p:sp>
        <p:nvSpPr>
          <p:cNvPr id="6" name="source">
            <a:extLst xmlns:a="http://schemas.openxmlformats.org/drawingml/2006/main">
              <a:ext uri="{FF2B5EF4-FFF2-40B4-BE49-F238E27FC236}">
                <a16:creationId xmlns:a16="http://schemas.microsoft.com/office/drawing/2014/main" id="{7F3B0A1D-88A3-43CB-AE36-0BB72C155D53}"/>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Fuentes: SQLite, transacciones y claves foráneas</a:t>
            </a:r>
          </a:p>
        </p:txBody>
      </p:sp>
      <p:sp>
        <p:nvSpPr>
          <p:cNvPr id="7" name="label-0">
            <a:extLst xmlns:a="http://schemas.openxmlformats.org/drawingml/2006/main">
              <a:ext uri="{FF2B5EF4-FFF2-40B4-BE49-F238E27FC236}">
                <a16:creationId xmlns:a16="http://schemas.microsoft.com/office/drawing/2014/main" id="{B7506B2A-B058-4B4A-A905-A1A3DC5F7596}"/>
              </a:ext>
            </a:extLst>
          </p:cNvPr>
          <p:cNvSpPr>
            <a:spLocks xmlns:a="http://schemas.openxmlformats.org/drawingml/2006/main" noGrp="1"/>
          </p:cNvSpPr>
          <p:nvPr/>
        </p:nvSpPr>
        <p:spPr>
          <a:xfrm xmlns:a="http://schemas.openxmlformats.org/drawingml/2006/main">
            <a:off x="838200" y="2667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Unidad de trabajo</a:t>
            </a:r>
          </a:p>
        </p:txBody>
      </p:sp>
      <p:sp>
        <p:nvSpPr>
          <p:cNvPr id="8" name="body-0">
            <a:extLst xmlns:a="http://schemas.openxmlformats.org/drawingml/2006/main">
              <a:ext uri="{FF2B5EF4-FFF2-40B4-BE49-F238E27FC236}">
                <a16:creationId xmlns:a16="http://schemas.microsoft.com/office/drawing/2014/main" id="{BDDBE085-C9FB-4986-B8C2-3259ACE38686}"/>
              </a:ext>
            </a:extLst>
          </p:cNvPr>
          <p:cNvSpPr>
            <a:spLocks xmlns:a="http://schemas.openxmlformats.org/drawingml/2006/main" noGrp="1"/>
          </p:cNvSpPr>
          <p:nvPr/>
        </p:nvSpPr>
        <p:spPr>
          <a:xfrm xmlns:a="http://schemas.openxmlformats.org/drawingml/2006/main">
            <a:off x="838200" y="31242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Una transacción permite confirmar varios cambios relacionados</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mediante COMMIT o revertirlos con ROLLBACK. La aplicación maneja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los errores y decide cuándo deshacer la unidad completa.</a:t>
            </a:r>
          </a:p>
        </p:txBody>
      </p:sp>
      <p:sp>
        <p:nvSpPr>
          <p:cNvPr id="9" name="label-1">
            <a:extLst xmlns:a="http://schemas.openxmlformats.org/drawingml/2006/main">
              <a:ext uri="{FF2B5EF4-FFF2-40B4-BE49-F238E27FC236}">
                <a16:creationId xmlns:a16="http://schemas.microsoft.com/office/drawing/2014/main" id="{09CD4D18-5B8B-4AEB-AB6D-4AA4B3275F85}"/>
              </a:ext>
            </a:extLst>
          </p:cNvPr>
          <p:cNvSpPr>
            <a:spLocks xmlns:a="http://schemas.openxmlformats.org/drawingml/2006/main" noGrp="1"/>
          </p:cNvSpPr>
          <p:nvPr/>
        </p:nvSpPr>
        <p:spPr>
          <a:xfrm xmlns:a="http://schemas.openxmlformats.org/drawingml/2006/main">
            <a:off x="838200" y="45910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Relaciones consistentes</a:t>
            </a:r>
          </a:p>
        </p:txBody>
      </p:sp>
      <p:sp>
        <p:nvSpPr>
          <p:cNvPr id="10" name="body-1">
            <a:extLst xmlns:a="http://schemas.openxmlformats.org/drawingml/2006/main">
              <a:ext uri="{FF2B5EF4-FFF2-40B4-BE49-F238E27FC236}">
                <a16:creationId xmlns:a16="http://schemas.microsoft.com/office/drawing/2014/main" id="{DAE8F420-470E-4072-8843-9D60C6AE441B}"/>
              </a:ext>
            </a:extLst>
          </p:cNvPr>
          <p:cNvSpPr>
            <a:spLocks xmlns:a="http://schemas.openxmlformats.org/drawingml/2006/main" noGrp="1"/>
          </p:cNvSpPr>
          <p:nvPr/>
        </p:nvSpPr>
        <p:spPr>
          <a:xfrm xmlns:a="http://schemas.openxmlformats.org/drawingml/2006/main">
            <a:off x="838200" y="5048250"/>
            <a:ext cx="990600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Las claves foráneas impiden referencias inválidas cuando la conexión</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las aplica. SQLite admite varias lecturas simultáneas, pero una sola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transacción de escritura a la vez. Conviene mantener breves las</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escrituras.</a:t>
            </a:r>
          </a:p>
        </p:txBody>
      </p:sp>
      <p:sp>
        <p:nvSpPr>
          <p:cNvPr id="11" name="label-2">
            <a:extLst xmlns:a="http://schemas.openxmlformats.org/drawingml/2006/main">
              <a:ext uri="{FF2B5EF4-FFF2-40B4-BE49-F238E27FC236}">
                <a16:creationId xmlns:a16="http://schemas.microsoft.com/office/drawing/2014/main" id="{D34B5E7C-BC2A-4512-A28C-57569E224F1B}"/>
              </a:ext>
            </a:extLst>
          </p:cNvPr>
          <p:cNvSpPr>
            <a:spLocks xmlns:a="http://schemas.openxmlformats.org/drawingml/2006/main" noGrp="1"/>
          </p:cNvSpPr>
          <p:nvPr/>
        </p:nvSpPr>
        <p:spPr>
          <a:xfrm xmlns:a="http://schemas.openxmlformats.org/drawingml/2006/main">
            <a:off x="838200" y="6905625"/>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Caso breve</a:t>
            </a:r>
          </a:p>
        </p:txBody>
      </p:sp>
      <p:sp>
        <p:nvSpPr>
          <p:cNvPr id="12" name="body-2">
            <a:extLst xmlns:a="http://schemas.openxmlformats.org/drawingml/2006/main">
              <a:ext uri="{FF2B5EF4-FFF2-40B4-BE49-F238E27FC236}">
                <a16:creationId xmlns:a16="http://schemas.microsoft.com/office/drawing/2014/main" id="{31D117D7-3E1C-44DF-9460-11A89DE552B3}"/>
              </a:ext>
            </a:extLst>
          </p:cNvPr>
          <p:cNvSpPr>
            <a:spLocks xmlns:a="http://schemas.openxmlformats.org/drawingml/2006/main" noGrp="1"/>
          </p:cNvSpPr>
          <p:nvPr/>
        </p:nvSpPr>
        <p:spPr>
          <a:xfrm xmlns:a="http://schemas.openxmlformats.org/drawingml/2006/main">
            <a:off x="838200" y="7362825"/>
            <a:ext cx="990600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La aplicación crea un curso y su primera tarea dentro de una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transacción. Si la tarea incumple una restricción, el código ejecuta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ROLLBACK y evita conservar un curso creado por una operación</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incompleta.</a:t>
            </a:r>
          </a:p>
        </p:txBody>
      </p:sp>
    </p:spTree>
    <p:extLst>
      <p:ext uri="{BB962C8B-B14F-4D97-AF65-F5344CB8AC3E}">
        <p14:creationId xmlns:p14="http://schemas.microsoft.com/office/powerpoint/2010/main" val="1759583363"/>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9CF80D3-0393-42B2-A55B-1CDAB1ECFA38}"/>
              </a:ext>
            </a:extLst>
          </p:cNvPr>
          <p:cNvPicPr>
            <a:picLocks xmlns:a="http://schemas.openxmlformats.org/drawingml/2006/main" noChangeAspect="1"/>
          </p:cNvPicPr>
          <p:nvPr/>
        </p:nvPicPr>
        <p:blipFill>
          <a:blip xmlns:r="http://schemas.openxmlformats.org/officeDocument/2006/relationships" xmlns:a="http://schemas.openxmlformats.org/drawingml/2006/main" r:embed="R9db31bf16af445b9"/>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8F2878EB-79DD-40F2-B53E-147C25AB0FC2}"/>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La nueva versión debe conservar los datos que el usuario</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ya registró.</a:t>
            </a:r>
          </a:p>
        </p:txBody>
      </p:sp>
      <p:sp>
        <p:nvSpPr>
          <p:cNvPr id="3" name="folio">
            <a:extLst xmlns:a="http://schemas.openxmlformats.org/drawingml/2006/main">
              <a:ext uri="{FF2B5EF4-FFF2-40B4-BE49-F238E27FC236}">
                <a16:creationId xmlns:a16="http://schemas.microsoft.com/office/drawing/2014/main" id="{F723F30B-631F-4384-83AC-45C107AC834E}"/>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18</a:t>
            </a:r>
          </a:p>
        </p:txBody>
      </p:sp>
      <p:sp>
        <p:nvSpPr>
          <p:cNvPr id="4" name="unit">
            <a:extLst xmlns:a="http://schemas.openxmlformats.org/drawingml/2006/main">
              <a:ext uri="{FF2B5EF4-FFF2-40B4-BE49-F238E27FC236}">
                <a16:creationId xmlns:a16="http://schemas.microsoft.com/office/drawing/2014/main" id="{EBC7820C-B68B-4B5B-8773-26B821A3DB1E}"/>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D1B0246D-59F9-4C83-A8D4-0F6DBB48AE20}"/>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Índices y evolución del esquema</a:t>
            </a:r>
          </a:p>
        </p:txBody>
      </p:sp>
      <p:sp>
        <p:nvSpPr>
          <p:cNvPr id="6" name="source">
            <a:extLst xmlns:a="http://schemas.openxmlformats.org/drawingml/2006/main">
              <a:ext uri="{FF2B5EF4-FFF2-40B4-BE49-F238E27FC236}">
                <a16:creationId xmlns:a16="http://schemas.microsoft.com/office/drawing/2014/main" id="{0F067FFD-EF91-45EA-94E5-5CDFD4F60B7F}"/>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Fuentes: SQLite, planificación de consultas, y Android Developers, migraciones</a:t>
            </a:r>
          </a:p>
        </p:txBody>
      </p:sp>
      <p:sp>
        <p:nvSpPr>
          <p:cNvPr id="7" name="label-0">
            <a:extLst xmlns:a="http://schemas.openxmlformats.org/drawingml/2006/main">
              <a:ext uri="{FF2B5EF4-FFF2-40B4-BE49-F238E27FC236}">
                <a16:creationId xmlns:a16="http://schemas.microsoft.com/office/drawing/2014/main" id="{792AE659-F7AB-412C-B6F9-8B08C5A98507}"/>
              </a:ext>
            </a:extLst>
          </p:cNvPr>
          <p:cNvSpPr>
            <a:spLocks xmlns:a="http://schemas.openxmlformats.org/drawingml/2006/main" noGrp="1"/>
          </p:cNvSpPr>
          <p:nvPr/>
        </p:nvSpPr>
        <p:spPr>
          <a:xfrm xmlns:a="http://schemas.openxmlformats.org/drawingml/2006/main">
            <a:off x="838200" y="2667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Índices según las consultas</a:t>
            </a:r>
          </a:p>
        </p:txBody>
      </p:sp>
      <p:sp>
        <p:nvSpPr>
          <p:cNvPr id="8" name="body-0">
            <a:extLst xmlns:a="http://schemas.openxmlformats.org/drawingml/2006/main">
              <a:ext uri="{FF2B5EF4-FFF2-40B4-BE49-F238E27FC236}">
                <a16:creationId xmlns:a16="http://schemas.microsoft.com/office/drawing/2014/main" id="{59528E9A-22AE-443E-9C4D-F3A6EFD62E74}"/>
              </a:ext>
            </a:extLst>
          </p:cNvPr>
          <p:cNvSpPr>
            <a:spLocks xmlns:a="http://schemas.openxmlformats.org/drawingml/2006/main" noGrp="1"/>
          </p:cNvSpPr>
          <p:nvPr/>
        </p:nvSpPr>
        <p:spPr>
          <a:xfrm xmlns:a="http://schemas.openxmlformats.org/drawingml/2006/main">
            <a:off x="838200" y="31242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Un índice sobre curso_id y completada puede ayudar a buscar tareas</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pendientes de un curso. El equipo revisa el plan de consulta y mide</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con un volumen representativo antes de atribuir una mejora.</a:t>
            </a:r>
          </a:p>
        </p:txBody>
      </p:sp>
      <p:sp>
        <p:nvSpPr>
          <p:cNvPr id="9" name="label-1">
            <a:extLst xmlns:a="http://schemas.openxmlformats.org/drawingml/2006/main">
              <a:ext uri="{FF2B5EF4-FFF2-40B4-BE49-F238E27FC236}">
                <a16:creationId xmlns:a16="http://schemas.microsoft.com/office/drawing/2014/main" id="{5D7D2ED6-412C-42CC-AE55-0142E7FDA437}"/>
              </a:ext>
            </a:extLst>
          </p:cNvPr>
          <p:cNvSpPr>
            <a:spLocks xmlns:a="http://schemas.openxmlformats.org/drawingml/2006/main" noGrp="1"/>
          </p:cNvSpPr>
          <p:nvPr/>
        </p:nvSpPr>
        <p:spPr>
          <a:xfrm xmlns:a="http://schemas.openxmlformats.org/drawingml/2006/main">
            <a:off x="838200" y="45910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Migraciones que conservan datos</a:t>
            </a:r>
          </a:p>
        </p:txBody>
      </p:sp>
      <p:sp>
        <p:nvSpPr>
          <p:cNvPr id="10" name="body-1">
            <a:extLst xmlns:a="http://schemas.openxmlformats.org/drawingml/2006/main">
              <a:ext uri="{FF2B5EF4-FFF2-40B4-BE49-F238E27FC236}">
                <a16:creationId xmlns:a16="http://schemas.microsoft.com/office/drawing/2014/main" id="{392CAD6A-0926-4269-976A-EA300E913FCB}"/>
              </a:ext>
            </a:extLst>
          </p:cNvPr>
          <p:cNvSpPr>
            <a:spLocks xmlns:a="http://schemas.openxmlformats.org/drawingml/2006/main" noGrp="1"/>
          </p:cNvSpPr>
          <p:nvPr/>
        </p:nvSpPr>
        <p:spPr>
          <a:xfrm xmlns:a="http://schemas.openxmlformats.org/drawingml/2006/main">
            <a:off x="838200" y="504825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Cada cambio del esquema requiere una ruta entre versiones. En</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Room, las migraciones pueden ser automáticas o manuales según el</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cambio. La verificación incluye registros existentes y restricciones.</a:t>
            </a:r>
          </a:p>
        </p:txBody>
      </p:sp>
      <p:sp>
        <p:nvSpPr>
          <p:cNvPr id="11" name="label-2">
            <a:extLst xmlns:a="http://schemas.openxmlformats.org/drawingml/2006/main">
              <a:ext uri="{FF2B5EF4-FFF2-40B4-BE49-F238E27FC236}">
                <a16:creationId xmlns:a16="http://schemas.microsoft.com/office/drawing/2014/main" id="{EB612C63-DF3F-4543-9026-5D81851280D5}"/>
              </a:ext>
            </a:extLst>
          </p:cNvPr>
          <p:cNvSpPr>
            <a:spLocks xmlns:a="http://schemas.openxmlformats.org/drawingml/2006/main" noGrp="1"/>
          </p:cNvSpPr>
          <p:nvPr/>
        </p:nvSpPr>
        <p:spPr>
          <a:xfrm xmlns:a="http://schemas.openxmlformats.org/drawingml/2006/main">
            <a:off x="838200" y="65151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Caso breve</a:t>
            </a:r>
          </a:p>
        </p:txBody>
      </p:sp>
      <p:sp>
        <p:nvSpPr>
          <p:cNvPr id="12" name="body-2">
            <a:extLst xmlns:a="http://schemas.openxmlformats.org/drawingml/2006/main">
              <a:ext uri="{FF2B5EF4-FFF2-40B4-BE49-F238E27FC236}">
                <a16:creationId xmlns:a16="http://schemas.microsoft.com/office/drawing/2014/main" id="{29646620-C823-4611-915E-3205ADBDD420}"/>
              </a:ext>
            </a:extLst>
          </p:cNvPr>
          <p:cNvSpPr>
            <a:spLocks xmlns:a="http://schemas.openxmlformats.org/drawingml/2006/main" noGrp="1"/>
          </p:cNvSpPr>
          <p:nvPr/>
        </p:nvSpPr>
        <p:spPr>
          <a:xfrm xmlns:a="http://schemas.openxmlformats.org/drawingml/2006/main">
            <a:off x="838200" y="697230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La versión 2 añade prioridad con un valor predeterminado. El equipo</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comprueba que las tareas antiguas sigan disponibles y que las nuevas</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reciban un valor válido.</a:t>
            </a:r>
          </a:p>
        </p:txBody>
      </p:sp>
    </p:spTree>
    <p:extLst>
      <p:ext uri="{BB962C8B-B14F-4D97-AF65-F5344CB8AC3E}">
        <p14:creationId xmlns:p14="http://schemas.microsoft.com/office/powerpoint/2010/main" val="141211536"/>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1679F01-C8B4-416A-A69C-098ED841B8CA}"/>
              </a:ext>
            </a:extLst>
          </p:cNvPr>
          <p:cNvPicPr>
            <a:picLocks xmlns:a="http://schemas.openxmlformats.org/drawingml/2006/main" noChangeAspect="1"/>
          </p:cNvPicPr>
          <p:nvPr/>
        </p:nvPicPr>
        <p:blipFill>
          <a:blip xmlns:r="http://schemas.openxmlformats.org/officeDocument/2006/relationships" xmlns:a="http://schemas.openxmlformats.org/drawingml/2006/main" r:embed="R64f01be825ca46c7"/>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EA1CC017-3D16-4F85-BBBA-8A688E75BB50}"/>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Una misma tarea permite revisar arquitectura, patrones y</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persistencia.</a:t>
            </a:r>
          </a:p>
        </p:txBody>
      </p:sp>
      <p:sp>
        <p:nvSpPr>
          <p:cNvPr id="3" name="folio">
            <a:extLst xmlns:a="http://schemas.openxmlformats.org/drawingml/2006/main">
              <a:ext uri="{FF2B5EF4-FFF2-40B4-BE49-F238E27FC236}">
                <a16:creationId xmlns:a16="http://schemas.microsoft.com/office/drawing/2014/main" id="{7F13DD33-DF47-45DA-ABC6-E8709C1F7BE4}"/>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19</a:t>
            </a:r>
          </a:p>
        </p:txBody>
      </p:sp>
      <p:sp>
        <p:nvSpPr>
          <p:cNvPr id="4" name="unit">
            <a:extLst xmlns:a="http://schemas.openxmlformats.org/drawingml/2006/main">
              <a:ext uri="{FF2B5EF4-FFF2-40B4-BE49-F238E27FC236}">
                <a16:creationId xmlns:a16="http://schemas.microsoft.com/office/drawing/2014/main" id="{AFA82EC4-9D08-4932-8A24-2168274A12EB}"/>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FEE358B2-59EE-4BEA-870D-C39A816E1557}"/>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Caso integrador y actividad de aplicación</a:t>
            </a:r>
          </a:p>
        </p:txBody>
      </p:sp>
      <p:sp>
        <p:nvSpPr>
          <p:cNvPr id="6" name="source">
            <a:extLst xmlns:a="http://schemas.openxmlformats.org/drawingml/2006/main">
              <a:ext uri="{FF2B5EF4-FFF2-40B4-BE49-F238E27FC236}">
                <a16:creationId xmlns:a16="http://schemas.microsoft.com/office/drawing/2014/main" id="{29D84D24-301B-46E5-B3C4-571A999C58D5}"/>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Actividad y caso ficticios basados en los conceptos de la sesión</a:t>
            </a:r>
          </a:p>
        </p:txBody>
      </p:sp>
      <p:sp>
        <p:nvSpPr>
          <p:cNvPr id="7" name="label-0">
            <a:extLst xmlns:a="http://schemas.openxmlformats.org/drawingml/2006/main">
              <a:ext uri="{FF2B5EF4-FFF2-40B4-BE49-F238E27FC236}">
                <a16:creationId xmlns:a16="http://schemas.microsoft.com/office/drawing/2014/main" id="{615B4E15-2BF5-463C-A29B-EFE0EED2087B}"/>
              </a:ext>
            </a:extLst>
          </p:cNvPr>
          <p:cNvSpPr>
            <a:spLocks xmlns:a="http://schemas.openxmlformats.org/drawingml/2006/main" noGrp="1"/>
          </p:cNvSpPr>
          <p:nvPr/>
        </p:nvSpPr>
        <p:spPr>
          <a:xfrm xmlns:a="http://schemas.openxmlformats.org/drawingml/2006/main">
            <a:off x="838200" y="2667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Situación del caso</a:t>
            </a:r>
          </a:p>
        </p:txBody>
      </p:sp>
      <p:sp>
        <p:nvSpPr>
          <p:cNvPr id="8" name="body-0">
            <a:extLst xmlns:a="http://schemas.openxmlformats.org/drawingml/2006/main">
              <a:ext uri="{FF2B5EF4-FFF2-40B4-BE49-F238E27FC236}">
                <a16:creationId xmlns:a16="http://schemas.microsoft.com/office/drawing/2014/main" id="{AAAF7FB1-0C6E-4AB1-8F20-85F9E3A80D83}"/>
              </a:ext>
            </a:extLst>
          </p:cNvPr>
          <p:cNvSpPr>
            <a:spLocks xmlns:a="http://schemas.openxmlformats.org/drawingml/2006/main" noGrp="1"/>
          </p:cNvSpPr>
          <p:nvPr/>
        </p:nvSpPr>
        <p:spPr>
          <a:xfrm xmlns:a="http://schemas.openxmlformats.org/drawingml/2006/main">
            <a:off x="838200" y="3124200"/>
            <a:ext cx="990600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Una estudiante crea «Prototipo móvil» sin conexión, cierra la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aplicación y vuelve a abrirla. Más tarde recupera internet. La tarea</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debe seguir disponible y comunicar si el servidor confirmó su</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sincronización.</a:t>
            </a:r>
          </a:p>
        </p:txBody>
      </p:sp>
      <p:sp>
        <p:nvSpPr>
          <p:cNvPr id="9" name="label-1">
            <a:extLst xmlns:a="http://schemas.openxmlformats.org/drawingml/2006/main">
              <a:ext uri="{FF2B5EF4-FFF2-40B4-BE49-F238E27FC236}">
                <a16:creationId xmlns:a16="http://schemas.microsoft.com/office/drawing/2014/main" id="{1160D21B-73DB-447B-BE17-50988A444D52}"/>
              </a:ext>
            </a:extLst>
          </p:cNvPr>
          <p:cNvSpPr>
            <a:spLocks xmlns:a="http://schemas.openxmlformats.org/drawingml/2006/main" noGrp="1"/>
          </p:cNvSpPr>
          <p:nvPr/>
        </p:nvSpPr>
        <p:spPr>
          <a:xfrm xmlns:a="http://schemas.openxmlformats.org/drawingml/2006/main">
            <a:off x="838200" y="4981575"/>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Diseño que sustenta el equipo</a:t>
            </a:r>
          </a:p>
        </p:txBody>
      </p:sp>
      <p:sp>
        <p:nvSpPr>
          <p:cNvPr id="10" name="body-1">
            <a:extLst xmlns:a="http://schemas.openxmlformats.org/drawingml/2006/main">
              <a:ext uri="{FF2B5EF4-FFF2-40B4-BE49-F238E27FC236}">
                <a16:creationId xmlns:a16="http://schemas.microsoft.com/office/drawing/2014/main" id="{8570B91C-A145-493B-8BC8-F80399598527}"/>
              </a:ext>
            </a:extLst>
          </p:cNvPr>
          <p:cNvSpPr>
            <a:spLocks xmlns:a="http://schemas.openxmlformats.org/drawingml/2006/main" noGrp="1"/>
          </p:cNvSpPr>
          <p:nvPr/>
        </p:nvSpPr>
        <p:spPr>
          <a:xfrm xmlns:a="http://schemas.openxmlformats.org/drawingml/2006/main">
            <a:off x="838200" y="5438775"/>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La vista envía la acción al ViewModel. El repositorio guarda mediante</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el DAO y expone los datos locales. Un proceso de sincronización</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atiende pendientes según el contrato del backend.</a:t>
            </a:r>
          </a:p>
        </p:txBody>
      </p:sp>
      <p:sp>
        <p:nvSpPr>
          <p:cNvPr id="11" name="label-2">
            <a:extLst xmlns:a="http://schemas.openxmlformats.org/drawingml/2006/main">
              <a:ext uri="{FF2B5EF4-FFF2-40B4-BE49-F238E27FC236}">
                <a16:creationId xmlns:a16="http://schemas.microsoft.com/office/drawing/2014/main" id="{7E174E05-8A84-4931-AAD3-3180788465F0}"/>
              </a:ext>
            </a:extLst>
          </p:cNvPr>
          <p:cNvSpPr>
            <a:spLocks xmlns:a="http://schemas.openxmlformats.org/drawingml/2006/main" noGrp="1"/>
          </p:cNvSpPr>
          <p:nvPr/>
        </p:nvSpPr>
        <p:spPr>
          <a:xfrm xmlns:a="http://schemas.openxmlformats.org/drawingml/2006/main">
            <a:off x="838200" y="6905625"/>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rPr>
              <a:t>Evidencia para la sustentación</a:t>
            </a:r>
          </a:p>
        </p:txBody>
      </p:sp>
      <p:sp>
        <p:nvSpPr>
          <p:cNvPr id="12" name="body-2">
            <a:extLst xmlns:a="http://schemas.openxmlformats.org/drawingml/2006/main">
              <a:ext uri="{FF2B5EF4-FFF2-40B4-BE49-F238E27FC236}">
                <a16:creationId xmlns:a16="http://schemas.microsoft.com/office/drawing/2014/main" id="{9A6FE11F-4752-455B-962C-75AE109754F0}"/>
              </a:ext>
            </a:extLst>
          </p:cNvPr>
          <p:cNvSpPr>
            <a:spLocks xmlns:a="http://schemas.openxmlformats.org/drawingml/2006/main" noGrp="1"/>
          </p:cNvSpPr>
          <p:nvPr/>
        </p:nvSpPr>
        <p:spPr>
          <a:xfrm xmlns:a="http://schemas.openxmlformats.org/drawingml/2006/main">
            <a:off x="838200" y="7362825"/>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0">
                <a:solidFill>
                  <a:srgbClr val="294653"/>
                </a:solidFill>
                <a:latin typeface="Nimbus Sans"/>
                <a:ea typeface="Nimbus Sans"/>
                <a:cs typeface="Nimbus Sans"/>
              </a:defRPr>
            </a:defPPr>
          </a:lstStyle>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El equipo presenta sus responsabilidades, el esquema SQLite y</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consultas parametrizadas. Demuestra recuperación de datos, rechazo</a:t>
            </a:r>
          </a:p>
          <a:p xmlns:a="http://schemas.openxmlformats.org/drawingml/2006/main">
            <a:pPr algn="l">
              <a:defRPr sz="2475" b="0">
                <a:solidFill>
                  <a:srgbClr val="294653"/>
                </a:solidFill>
                <a:latin typeface="Nimbus Sans"/>
                <a:ea typeface="Nimbus Sans"/>
                <a:cs typeface="Nimbus Sans"/>
              </a:defRPr>
            </a:pPr>
            <a:r>
              <a:rPr sz="2475" b="0">
                <a:solidFill>
                  <a:srgbClr val="294653"/>
                </a:solidFill>
                <a:latin typeface="Nimbus Sans"/>
                <a:ea typeface="Nimbus Sans"/>
                <a:cs typeface="Nimbus Sans"/>
              </a:rPr>
              <a:t>de un curso inválido y reintento sin duplicar una tarea.</a:t>
            </a:r>
          </a:p>
        </p:txBody>
      </p:sp>
    </p:spTree>
    <p:extLst>
      <p:ext uri="{BB962C8B-B14F-4D97-AF65-F5344CB8AC3E}">
        <p14:creationId xmlns:p14="http://schemas.microsoft.com/office/powerpoint/2010/main" val="996135351"/>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A905516F-732E-4E69-A15F-4E274690DF71}"/>
              </a:ext>
            </a:extLst>
          </p:cNvPr>
          <p:cNvPicPr>
            <a:picLocks xmlns:a="http://schemas.openxmlformats.org/drawingml/2006/main" noChangeAspect="1"/>
          </p:cNvPicPr>
          <p:nvPr/>
        </p:nvPicPr>
        <p:blipFill>
          <a:blip xmlns:r="http://schemas.openxmlformats.org/officeDocument/2006/relationships" xmlns:a="http://schemas.openxmlformats.org/drawingml/2006/main" r:embed="Rd9d27b7fece74743"/>
          <a:stretch xmlns:a="http://schemas.openxmlformats.org/drawingml/2006/main"/>
        </p:blipFill>
        <p:spPr>
          <a:xfrm xmlns:a="http://schemas.openxmlformats.org/drawingml/2006/main">
            <a:off x="11871989" y="2305050"/>
            <a:ext cx="5183448" cy="6477000"/>
          </a:xfrm>
          <a:prstGeom xmlns:a="http://schemas.openxmlformats.org/drawingml/2006/main" prst="rect">
            <a:avLst/>
          </a:prstGeom>
        </p:spPr>
      </p:pic>
      <p:sp>
        <p:nvSpPr>
          <p:cNvPr id="2" name="image-caption">
            <a:extLst xmlns:a="http://schemas.openxmlformats.org/drawingml/2006/main">
              <a:ext uri="{FF2B5EF4-FFF2-40B4-BE49-F238E27FC236}">
                <a16:creationId xmlns:a16="http://schemas.microsoft.com/office/drawing/2014/main" id="{781E42EE-7108-4FB8-AEC5-81D229D8B911}"/>
              </a:ext>
            </a:extLst>
          </p:cNvPr>
          <p:cNvSpPr>
            <a:spLocks xmlns:a="http://schemas.openxmlformats.org/drawingml/2006/main" noGrp="1"/>
          </p:cNvSpPr>
          <p:nvPr/>
        </p:nvSpPr>
        <p:spPr>
          <a:xfrm xmlns:a="http://schemas.openxmlformats.org/drawingml/2006/main">
            <a:off x="11477625" y="8972550"/>
            <a:ext cx="597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F737B"/>
                </a:solidFill>
                <a:latin typeface="Nimbus Sans"/>
                <a:ea typeface="Nimbus Sans"/>
                <a:cs typeface="Nimbus Sans"/>
              </a:defRPr>
            </a:defPPr>
          </a:lstStyle>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La documentación oficial permite contrastar decisiones de</a:t>
            </a:r>
          </a:p>
          <a:p xmlns:a="http://schemas.openxmlformats.org/drawingml/2006/main">
            <a:pPr algn="l">
              <a:defRPr sz="1800" b="0">
                <a:solidFill>
                  <a:srgbClr val="5F737B"/>
                </a:solidFill>
                <a:latin typeface="Nimbus Sans"/>
                <a:ea typeface="Nimbus Sans"/>
                <a:cs typeface="Nimbus Sans"/>
              </a:defRPr>
            </a:pPr>
            <a:r>
              <a:rPr sz="1800" b="0">
                <a:solidFill>
                  <a:srgbClr val="5F737B"/>
                </a:solidFill>
                <a:latin typeface="Nimbus Sans"/>
                <a:ea typeface="Nimbus Sans"/>
                <a:cs typeface="Nimbus Sans"/>
              </a:rPr>
              <a:t>implementación.</a:t>
            </a:r>
          </a:p>
        </p:txBody>
      </p:sp>
      <p:sp>
        <p:nvSpPr>
          <p:cNvPr id="3" name="folio">
            <a:extLst xmlns:a="http://schemas.openxmlformats.org/drawingml/2006/main">
              <a:ext uri="{FF2B5EF4-FFF2-40B4-BE49-F238E27FC236}">
                <a16:creationId xmlns:a16="http://schemas.microsoft.com/office/drawing/2014/main" id="{9BD32542-5100-4910-9433-AC15910C60BD}"/>
              </a:ext>
            </a:extLst>
          </p:cNvPr>
          <p:cNvSpPr>
            <a:spLocks xmlns:a="http://schemas.openxmlformats.org/drawingml/2006/main" noGrp="1"/>
          </p:cNvSpPr>
          <p:nvPr/>
        </p:nvSpPr>
        <p:spPr>
          <a:xfrm xmlns:a="http://schemas.openxmlformats.org/drawingml/2006/main">
            <a:off x="17287875" y="97917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5F737B"/>
                </a:solidFill>
                <a:latin typeface="Nimbus Sans"/>
                <a:ea typeface="Nimbus Sans"/>
                <a:cs typeface="Nimbus Sans"/>
              </a:defRPr>
            </a:defPPr>
          </a:lstStyle>
          <a:p xmlns:a="http://schemas.openxmlformats.org/drawingml/2006/main">
            <a:pPr algn="l">
              <a:defRPr sz="1875" b="1">
                <a:solidFill>
                  <a:srgbClr val="5F737B"/>
                </a:solidFill>
                <a:latin typeface="Nimbus Sans"/>
                <a:ea typeface="Nimbus Sans"/>
                <a:cs typeface="Nimbus Sans"/>
              </a:defRPr>
            </a:pPr>
            <a:r>
              <a:rPr sz="1875" b="1">
                <a:solidFill>
                  <a:srgbClr val="5F737B"/>
                </a:solidFill>
                <a:latin typeface="Nimbus Sans"/>
                <a:ea typeface="Nimbus Sans"/>
                <a:cs typeface="Nimbus Sans"/>
              </a:rPr>
              <a:t>20</a:t>
            </a:r>
          </a:p>
        </p:txBody>
      </p:sp>
      <p:sp>
        <p:nvSpPr>
          <p:cNvPr id="4" name="unit">
            <a:extLst xmlns:a="http://schemas.openxmlformats.org/drawingml/2006/main">
              <a:ext uri="{FF2B5EF4-FFF2-40B4-BE49-F238E27FC236}">
                <a16:creationId xmlns:a16="http://schemas.microsoft.com/office/drawing/2014/main" id="{A0C97626-1D26-40A3-860E-ADF73482CE60}"/>
              </a:ext>
            </a:extLst>
          </p:cNvPr>
          <p:cNvSpPr>
            <a:spLocks xmlns:a="http://schemas.openxmlformats.org/drawingml/2006/main" noGrp="1"/>
          </p:cNvSpPr>
          <p:nvPr/>
        </p:nvSpPr>
        <p:spPr>
          <a:xfrm xmlns:a="http://schemas.openxmlformats.org/drawingml/2006/main">
            <a:off x="838200" y="523875"/>
            <a:ext cx="1638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087E83"/>
                </a:solidFill>
                <a:latin typeface="Nimbus Sans"/>
                <a:ea typeface="Nimbus Sans"/>
                <a:cs typeface="Nimbus Sans"/>
              </a:defRPr>
            </a:defPPr>
          </a:lstStyle>
          <a:p xmlns:a="http://schemas.openxmlformats.org/drawingml/2006/main">
            <a:pPr algn="l">
              <a:defRPr sz="1875" b="1">
                <a:solidFill>
                  <a:srgbClr val="087E83"/>
                </a:solidFill>
                <a:latin typeface="Nimbus Sans"/>
                <a:ea typeface="Nimbus Sans"/>
                <a:cs typeface="Nimbus Sans"/>
              </a:defRPr>
            </a:pPr>
            <a:r>
              <a:rPr sz="1875" b="1">
                <a:solidFill>
                  <a:srgbClr val="087E83"/>
                </a:solidFill>
                <a:latin typeface="Nimbus Sans"/>
                <a:ea typeface="Nimbus Sans"/>
                <a:cs typeface="Nimbus Sans"/>
              </a:rPr>
              <a:t>DISEÑO DE SOFTWARE MÓVIL I</a:t>
            </a:r>
          </a:p>
        </p:txBody>
      </p:sp>
      <p:sp>
        <p:nvSpPr>
          <p:cNvPr id="5" name="slide-title">
            <a:extLst xmlns:a="http://schemas.openxmlformats.org/drawingml/2006/main">
              <a:ext uri="{FF2B5EF4-FFF2-40B4-BE49-F238E27FC236}">
                <a16:creationId xmlns:a16="http://schemas.microsoft.com/office/drawing/2014/main" id="{2D37B3ED-A861-458D-95B5-001D7C689F55}"/>
              </a:ext>
            </a:extLst>
          </p:cNvPr>
          <p:cNvSpPr>
            <a:spLocks xmlns:a="http://schemas.openxmlformats.org/drawingml/2006/main" noGrp="1"/>
          </p:cNvSpPr>
          <p:nvPr/>
        </p:nvSpPr>
        <p:spPr>
          <a:xfrm xmlns:a="http://schemas.openxmlformats.org/drawingml/2006/main">
            <a:off x="838200" y="1123950"/>
            <a:ext cx="16611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122F40"/>
                </a:solidFill>
                <a:latin typeface="Nimbus Sans"/>
                <a:ea typeface="Nimbus Sans"/>
                <a:cs typeface="Nimbus Sans"/>
              </a:defRPr>
            </a:defPPr>
          </a:lstStyle>
          <a:p xmlns:a="http://schemas.openxmlformats.org/drawingml/2006/main">
            <a:pPr algn="l">
              <a:defRPr sz="4800" b="1">
                <a:solidFill>
                  <a:srgbClr val="122F40"/>
                </a:solidFill>
                <a:latin typeface="Nimbus Sans"/>
                <a:ea typeface="Nimbus Sans"/>
                <a:cs typeface="Nimbus Sans"/>
              </a:defRPr>
            </a:pPr>
            <a:r>
              <a:rPr sz="4800" b="1">
                <a:solidFill>
                  <a:srgbClr val="122F40"/>
                </a:solidFill>
                <a:latin typeface="Nimbus Sans"/>
                <a:ea typeface="Nimbus Sans"/>
                <a:cs typeface="Nimbus Sans"/>
              </a:rPr>
              <a:t>Fuentes y lecturas de apoyo</a:t>
            </a:r>
          </a:p>
        </p:txBody>
      </p:sp>
      <p:sp>
        <p:nvSpPr>
          <p:cNvPr id="6" name="source">
            <a:extLst xmlns:a="http://schemas.openxmlformats.org/drawingml/2006/main">
              <a:ext uri="{FF2B5EF4-FFF2-40B4-BE49-F238E27FC236}">
                <a16:creationId xmlns:a16="http://schemas.microsoft.com/office/drawing/2014/main" id="{288E7A7C-ADF5-46A8-939B-348D0AC4CA16}"/>
              </a:ext>
            </a:extLst>
          </p:cNvPr>
          <p:cNvSpPr>
            <a:spLocks xmlns:a="http://schemas.openxmlformats.org/drawingml/2006/main" noGrp="1"/>
          </p:cNvSpPr>
          <p:nvPr/>
        </p:nvSpPr>
        <p:spPr>
          <a:xfrm xmlns:a="http://schemas.openxmlformats.org/drawingml/2006/main">
            <a:off x="838200" y="9791700"/>
            <a:ext cx="1590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F737B"/>
                </a:solidFill>
                <a:latin typeface="Nimbus Sans"/>
                <a:ea typeface="Nimbus Sans"/>
                <a:cs typeface="Nimbus Sans"/>
              </a:defRPr>
            </a:defPPr>
          </a:lstStyle>
          <a:p xmlns:a="http://schemas.openxmlformats.org/drawingml/2006/main">
            <a:pPr algn="l">
              <a:defRPr sz="1725" b="0">
                <a:solidFill>
                  <a:srgbClr val="5F737B"/>
                </a:solidFill>
                <a:latin typeface="Nimbus Sans"/>
                <a:ea typeface="Nimbus Sans"/>
                <a:cs typeface="Nimbus Sans"/>
              </a:defRPr>
            </a:pPr>
            <a:r>
              <a:rPr sz="1725" b="0">
                <a:solidFill>
                  <a:srgbClr val="5F737B"/>
                </a:solidFill>
                <a:latin typeface="Nimbus Sans"/>
                <a:ea typeface="Nimbus Sans"/>
                <a:cs typeface="Nimbus Sans"/>
              </a:rPr>
              <a:t>Enlaces completos por tema en las notas de cada diapositiva</a:t>
            </a:r>
          </a:p>
        </p:txBody>
      </p:sp>
      <p:sp>
        <p:nvSpPr>
          <p:cNvPr id="7" name="ref-author-0">
            <a:extLst xmlns:a="http://schemas.openxmlformats.org/drawingml/2006/main">
              <a:ext uri="{FF2B5EF4-FFF2-40B4-BE49-F238E27FC236}">
                <a16:creationId xmlns:a16="http://schemas.microsoft.com/office/drawing/2014/main" id="{406DDA52-9B02-40C5-AF69-BFEEFCA7E6BE}"/>
              </a:ext>
            </a:extLst>
          </p:cNvPr>
          <p:cNvSpPr>
            <a:spLocks xmlns:a="http://schemas.openxmlformats.org/drawingml/2006/main" noGrp="1"/>
          </p:cNvSpPr>
          <p:nvPr/>
        </p:nvSpPr>
        <p:spPr>
          <a:xfrm xmlns:a="http://schemas.openxmlformats.org/drawingml/2006/main">
            <a:off x="838200" y="266700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hlinkClick xmlns:r="http://schemas.openxmlformats.org/officeDocument/2006/relationships" r:id="R272a516e435f49eb"/>
              </a:rPr>
              <a:t>Android Developers</a:t>
            </a:r>
          </a:p>
        </p:txBody>
      </p:sp>
      <p:sp>
        <p:nvSpPr>
          <p:cNvPr id="8" name="ref-description-0">
            <a:extLst xmlns:a="http://schemas.openxmlformats.org/drawingml/2006/main">
              <a:ext uri="{FF2B5EF4-FFF2-40B4-BE49-F238E27FC236}">
                <a16:creationId xmlns:a16="http://schemas.microsoft.com/office/drawing/2014/main" id="{6B250724-0F2D-4179-8B35-FE2EF76357C5}"/>
              </a:ext>
            </a:extLst>
          </p:cNvPr>
          <p:cNvSpPr>
            <a:spLocks xmlns:a="http://schemas.openxmlformats.org/drawingml/2006/main" noGrp="1"/>
          </p:cNvSpPr>
          <p:nvPr/>
        </p:nvSpPr>
        <p:spPr>
          <a:xfrm xmlns:a="http://schemas.openxmlformats.org/drawingml/2006/main">
            <a:off x="838200" y="3067050"/>
            <a:ext cx="9906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294653"/>
                </a:solidFill>
                <a:latin typeface="Nimbus Sans"/>
                <a:ea typeface="Nimbus Sans"/>
                <a:cs typeface="Nimbus Sans"/>
              </a:defRPr>
            </a:defPPr>
          </a:lstStyle>
          <a:p xmlns:a="http://schemas.openxmlformats.org/drawingml/2006/main">
            <a:pPr algn="l">
              <a:defRPr sz="2100" b="0">
                <a:solidFill>
                  <a:srgbClr val="294653"/>
                </a:solidFill>
                <a:latin typeface="Nimbus Sans"/>
                <a:ea typeface="Nimbus Sans"/>
                <a:cs typeface="Nimbus Sans"/>
              </a:defRPr>
            </a:pPr>
            <a:r>
              <a:rPr sz="2100" b="0">
                <a:solidFill>
                  <a:srgbClr val="294653"/>
                </a:solidFill>
                <a:latin typeface="Nimbus Sans"/>
                <a:ea typeface="Nimbus Sans"/>
                <a:cs typeface="Nimbus Sans"/>
              </a:rPr>
              <a:t>Guía de arquitectura, UI, datos y ViewModel.</a:t>
            </a:r>
          </a:p>
        </p:txBody>
      </p:sp>
      <p:sp>
        <p:nvSpPr>
          <p:cNvPr id="9" name="ref-author-1">
            <a:extLst xmlns:a="http://schemas.openxmlformats.org/drawingml/2006/main">
              <a:ext uri="{FF2B5EF4-FFF2-40B4-BE49-F238E27FC236}">
                <a16:creationId xmlns:a16="http://schemas.microsoft.com/office/drawing/2014/main" id="{5A263507-B50B-4375-BD5D-5946BDB80B74}"/>
              </a:ext>
            </a:extLst>
          </p:cNvPr>
          <p:cNvSpPr>
            <a:spLocks xmlns:a="http://schemas.openxmlformats.org/drawingml/2006/main" noGrp="1"/>
          </p:cNvSpPr>
          <p:nvPr/>
        </p:nvSpPr>
        <p:spPr>
          <a:xfrm xmlns:a="http://schemas.openxmlformats.org/drawingml/2006/main">
            <a:off x="838200" y="3724275"/>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hlinkClick xmlns:r="http://schemas.openxmlformats.org/officeDocument/2006/relationships" r:id="R192df5d0845b4820"/>
              </a:rPr>
              <a:t>Android Developers</a:t>
            </a:r>
          </a:p>
        </p:txBody>
      </p:sp>
      <p:sp>
        <p:nvSpPr>
          <p:cNvPr id="10" name="ref-description-1">
            <a:extLst xmlns:a="http://schemas.openxmlformats.org/drawingml/2006/main">
              <a:ext uri="{FF2B5EF4-FFF2-40B4-BE49-F238E27FC236}">
                <a16:creationId xmlns:a16="http://schemas.microsoft.com/office/drawing/2014/main" id="{42A208A4-772C-4B97-9DD9-8E3EA89E0F1C}"/>
              </a:ext>
            </a:extLst>
          </p:cNvPr>
          <p:cNvSpPr>
            <a:spLocks xmlns:a="http://schemas.openxmlformats.org/drawingml/2006/main" noGrp="1"/>
          </p:cNvSpPr>
          <p:nvPr/>
        </p:nvSpPr>
        <p:spPr>
          <a:xfrm xmlns:a="http://schemas.openxmlformats.org/drawingml/2006/main">
            <a:off x="838200" y="4124325"/>
            <a:ext cx="9906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294653"/>
                </a:solidFill>
                <a:latin typeface="Nimbus Sans"/>
                <a:ea typeface="Nimbus Sans"/>
                <a:cs typeface="Nimbus Sans"/>
              </a:defRPr>
            </a:defPPr>
          </a:lstStyle>
          <a:p xmlns:a="http://schemas.openxmlformats.org/drawingml/2006/main">
            <a:pPr algn="l">
              <a:defRPr sz="2100" b="0">
                <a:solidFill>
                  <a:srgbClr val="294653"/>
                </a:solidFill>
                <a:latin typeface="Nimbus Sans"/>
                <a:ea typeface="Nimbus Sans"/>
                <a:cs typeface="Nimbus Sans"/>
              </a:defRPr>
            </a:pPr>
            <a:r>
              <a:rPr sz="2100" b="0">
                <a:solidFill>
                  <a:srgbClr val="294653"/>
                </a:solidFill>
                <a:latin typeface="Nimbus Sans"/>
                <a:ea typeface="Nimbus Sans"/>
                <a:cs typeface="Nimbus Sans"/>
              </a:rPr>
              <a:t>Inyección de dependencias y trabajo sin conexión.</a:t>
            </a:r>
          </a:p>
        </p:txBody>
      </p:sp>
      <p:sp>
        <p:nvSpPr>
          <p:cNvPr id="11" name="ref-author-2">
            <a:extLst xmlns:a="http://schemas.openxmlformats.org/drawingml/2006/main">
              <a:ext uri="{FF2B5EF4-FFF2-40B4-BE49-F238E27FC236}">
                <a16:creationId xmlns:a16="http://schemas.microsoft.com/office/drawing/2014/main" id="{443B6676-1584-4A39-93AB-30203213AC20}"/>
              </a:ext>
            </a:extLst>
          </p:cNvPr>
          <p:cNvSpPr>
            <a:spLocks xmlns:a="http://schemas.openxmlformats.org/drawingml/2006/main" noGrp="1"/>
          </p:cNvSpPr>
          <p:nvPr/>
        </p:nvSpPr>
        <p:spPr>
          <a:xfrm xmlns:a="http://schemas.openxmlformats.org/drawingml/2006/main">
            <a:off x="838200" y="47815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hlinkClick xmlns:r="http://schemas.openxmlformats.org/officeDocument/2006/relationships" r:id="Rc9c4c62b2f064477"/>
              </a:rPr>
              <a:t>Microsoft Learn</a:t>
            </a:r>
          </a:p>
        </p:txBody>
      </p:sp>
      <p:sp>
        <p:nvSpPr>
          <p:cNvPr id="12" name="ref-description-2">
            <a:extLst xmlns:a="http://schemas.openxmlformats.org/drawingml/2006/main">
              <a:ext uri="{FF2B5EF4-FFF2-40B4-BE49-F238E27FC236}">
                <a16:creationId xmlns:a16="http://schemas.microsoft.com/office/drawing/2014/main" id="{EA3C9077-C9E4-464B-9784-ECFA7F8C65D0}"/>
              </a:ext>
            </a:extLst>
          </p:cNvPr>
          <p:cNvSpPr>
            <a:spLocks xmlns:a="http://schemas.openxmlformats.org/drawingml/2006/main" noGrp="1"/>
          </p:cNvSpPr>
          <p:nvPr/>
        </p:nvSpPr>
        <p:spPr>
          <a:xfrm xmlns:a="http://schemas.openxmlformats.org/drawingml/2006/main">
            <a:off x="838200" y="5181600"/>
            <a:ext cx="9906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294653"/>
                </a:solidFill>
                <a:latin typeface="Nimbus Sans"/>
                <a:ea typeface="Nimbus Sans"/>
                <a:cs typeface="Nimbus Sans"/>
              </a:defRPr>
            </a:defPPr>
          </a:lstStyle>
          <a:p xmlns:a="http://schemas.openxmlformats.org/drawingml/2006/main">
            <a:pPr algn="l">
              <a:defRPr sz="2100" b="0">
                <a:solidFill>
                  <a:srgbClr val="294653"/>
                </a:solidFill>
                <a:latin typeface="Nimbus Sans"/>
                <a:ea typeface="Nimbus Sans"/>
                <a:cs typeface="Nimbus Sans"/>
              </a:defRPr>
            </a:pPr>
            <a:r>
              <a:rPr sz="2100" b="0">
                <a:solidFill>
                  <a:srgbClr val="294653"/>
                </a:solidFill>
                <a:latin typeface="Nimbus Sans"/>
                <a:ea typeface="Nimbus Sans"/>
                <a:cs typeface="Nimbus Sans"/>
              </a:rPr>
              <a:t>MVVM y diseño de contratos de API.</a:t>
            </a:r>
          </a:p>
        </p:txBody>
      </p:sp>
      <p:sp>
        <p:nvSpPr>
          <p:cNvPr id="13" name="ref-author-3">
            <a:extLst xmlns:a="http://schemas.openxmlformats.org/drawingml/2006/main">
              <a:ext uri="{FF2B5EF4-FFF2-40B4-BE49-F238E27FC236}">
                <a16:creationId xmlns:a16="http://schemas.microsoft.com/office/drawing/2014/main" id="{02B6D7AD-49E5-47E3-96A2-BB0076C92A66}"/>
              </a:ext>
            </a:extLst>
          </p:cNvPr>
          <p:cNvSpPr>
            <a:spLocks xmlns:a="http://schemas.openxmlformats.org/drawingml/2006/main" noGrp="1"/>
          </p:cNvSpPr>
          <p:nvPr/>
        </p:nvSpPr>
        <p:spPr>
          <a:xfrm xmlns:a="http://schemas.openxmlformats.org/drawingml/2006/main">
            <a:off x="838200" y="5838825"/>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hlinkClick xmlns:r="http://schemas.openxmlformats.org/officeDocument/2006/relationships" r:id="R7d355f477a9244e9"/>
              </a:rPr>
              <a:t>Fowler: patrones empresariales</a:t>
            </a:r>
          </a:p>
        </p:txBody>
      </p:sp>
      <p:sp>
        <p:nvSpPr>
          <p:cNvPr id="14" name="ref-description-3">
            <a:extLst xmlns:a="http://schemas.openxmlformats.org/drawingml/2006/main">
              <a:ext uri="{FF2B5EF4-FFF2-40B4-BE49-F238E27FC236}">
                <a16:creationId xmlns:a16="http://schemas.microsoft.com/office/drawing/2014/main" id="{269D8BB9-ED1D-4969-8113-5AEF580BED77}"/>
              </a:ext>
            </a:extLst>
          </p:cNvPr>
          <p:cNvSpPr>
            <a:spLocks xmlns:a="http://schemas.openxmlformats.org/drawingml/2006/main" noGrp="1"/>
          </p:cNvSpPr>
          <p:nvPr/>
        </p:nvSpPr>
        <p:spPr>
          <a:xfrm xmlns:a="http://schemas.openxmlformats.org/drawingml/2006/main">
            <a:off x="838200" y="6238875"/>
            <a:ext cx="9906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294653"/>
                </a:solidFill>
                <a:latin typeface="Nimbus Sans"/>
                <a:ea typeface="Nimbus Sans"/>
                <a:cs typeface="Nimbus Sans"/>
              </a:defRPr>
            </a:defPPr>
          </a:lstStyle>
          <a:p xmlns:a="http://schemas.openxmlformats.org/drawingml/2006/main">
            <a:pPr algn="l">
              <a:defRPr sz="2100" b="0">
                <a:solidFill>
                  <a:srgbClr val="294653"/>
                </a:solidFill>
                <a:latin typeface="Nimbus Sans"/>
                <a:ea typeface="Nimbus Sans"/>
                <a:cs typeface="Nimbus Sans"/>
              </a:defRPr>
            </a:pPr>
            <a:r>
              <a:rPr sz="2100" b="0">
                <a:solidFill>
                  <a:srgbClr val="294653"/>
                </a:solidFill>
                <a:latin typeface="Nimbus Sans"/>
                <a:ea typeface="Nimbus Sans"/>
                <a:cs typeface="Nimbus Sans"/>
              </a:rPr>
              <a:t>Service Layer, Repository y Data Transfer Object.</a:t>
            </a:r>
          </a:p>
        </p:txBody>
      </p:sp>
      <p:sp>
        <p:nvSpPr>
          <p:cNvPr id="15" name="ref-author-4">
            <a:extLst xmlns:a="http://schemas.openxmlformats.org/drawingml/2006/main">
              <a:ext uri="{FF2B5EF4-FFF2-40B4-BE49-F238E27FC236}">
                <a16:creationId xmlns:a16="http://schemas.microsoft.com/office/drawing/2014/main" id="{73EB99BA-1863-4727-BFB7-635C5FFA0182}"/>
              </a:ext>
            </a:extLst>
          </p:cNvPr>
          <p:cNvSpPr>
            <a:spLocks xmlns:a="http://schemas.openxmlformats.org/drawingml/2006/main" noGrp="1"/>
          </p:cNvSpPr>
          <p:nvPr/>
        </p:nvSpPr>
        <p:spPr>
          <a:xfrm xmlns:a="http://schemas.openxmlformats.org/drawingml/2006/main">
            <a:off x="838200" y="689610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hlinkClick xmlns:r="http://schemas.openxmlformats.org/officeDocument/2006/relationships" r:id="Rf68e1749ccd1498e"/>
              </a:rPr>
              <a:t>SQLite: documentación oficial</a:t>
            </a:r>
          </a:p>
        </p:txBody>
      </p:sp>
      <p:sp>
        <p:nvSpPr>
          <p:cNvPr id="16" name="ref-description-4">
            <a:extLst xmlns:a="http://schemas.openxmlformats.org/drawingml/2006/main">
              <a:ext uri="{FF2B5EF4-FFF2-40B4-BE49-F238E27FC236}">
                <a16:creationId xmlns:a16="http://schemas.microsoft.com/office/drawing/2014/main" id="{159D07DC-921D-463B-BD62-B8C9B84D7465}"/>
              </a:ext>
            </a:extLst>
          </p:cNvPr>
          <p:cNvSpPr>
            <a:spLocks xmlns:a="http://schemas.openxmlformats.org/drawingml/2006/main" noGrp="1"/>
          </p:cNvSpPr>
          <p:nvPr/>
        </p:nvSpPr>
        <p:spPr>
          <a:xfrm xmlns:a="http://schemas.openxmlformats.org/drawingml/2006/main">
            <a:off x="838200" y="7296150"/>
            <a:ext cx="9906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294653"/>
                </a:solidFill>
                <a:latin typeface="Nimbus Sans"/>
                <a:ea typeface="Nimbus Sans"/>
                <a:cs typeface="Nimbus Sans"/>
              </a:defRPr>
            </a:defPPr>
          </a:lstStyle>
          <a:p xmlns:a="http://schemas.openxmlformats.org/drawingml/2006/main">
            <a:pPr algn="l">
              <a:defRPr sz="2100" b="0">
                <a:solidFill>
                  <a:srgbClr val="294653"/>
                </a:solidFill>
                <a:latin typeface="Nimbus Sans"/>
                <a:ea typeface="Nimbus Sans"/>
                <a:cs typeface="Nimbus Sans"/>
              </a:defRPr>
            </a:pPr>
            <a:r>
              <a:rPr sz="2100" b="0">
                <a:solidFill>
                  <a:srgbClr val="294653"/>
                </a:solidFill>
                <a:latin typeface="Nimbus Sans"/>
                <a:ea typeface="Nimbus Sans"/>
                <a:cs typeface="Nimbus Sans"/>
              </a:rPr>
              <a:t>Tipos, CREATE TABLE, claves foráneas y transacciones.</a:t>
            </a:r>
          </a:p>
        </p:txBody>
      </p:sp>
      <p:sp>
        <p:nvSpPr>
          <p:cNvPr id="17" name="ref-author-5">
            <a:extLst xmlns:a="http://schemas.openxmlformats.org/drawingml/2006/main">
              <a:ext uri="{FF2B5EF4-FFF2-40B4-BE49-F238E27FC236}">
                <a16:creationId xmlns:a16="http://schemas.microsoft.com/office/drawing/2014/main" id="{F4E87693-2757-47A9-9436-50394BF43BEC}"/>
              </a:ext>
            </a:extLst>
          </p:cNvPr>
          <p:cNvSpPr>
            <a:spLocks xmlns:a="http://schemas.openxmlformats.org/drawingml/2006/main" noGrp="1"/>
          </p:cNvSpPr>
          <p:nvPr/>
        </p:nvSpPr>
        <p:spPr>
          <a:xfrm xmlns:a="http://schemas.openxmlformats.org/drawingml/2006/main">
            <a:off x="838200" y="7953375"/>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87E83"/>
                </a:solidFill>
                <a:latin typeface="Nimbus Sans"/>
                <a:ea typeface="Nimbus Sans"/>
                <a:cs typeface="Nimbus Sans"/>
              </a:defRPr>
            </a:defPPr>
          </a:lstStyle>
          <a:p xmlns:a="http://schemas.openxmlformats.org/drawingml/2006/main">
            <a:pPr algn="l">
              <a:defRPr sz="2250" b="1">
                <a:solidFill>
                  <a:srgbClr val="087E83"/>
                </a:solidFill>
                <a:latin typeface="Nimbus Sans"/>
                <a:ea typeface="Nimbus Sans"/>
                <a:cs typeface="Nimbus Sans"/>
              </a:defRPr>
            </a:pPr>
            <a:r>
              <a:rPr sz="2250" b="1">
                <a:solidFill>
                  <a:srgbClr val="087E83"/>
                </a:solidFill>
                <a:latin typeface="Nimbus Sans"/>
                <a:ea typeface="Nimbus Sans"/>
                <a:cs typeface="Nimbus Sans"/>
                <a:hlinkClick xmlns:r="http://schemas.openxmlformats.org/officeDocument/2006/relationships" r:id="Rb11cdf20d1e843d7"/>
              </a:rPr>
              <a:t>Android Developers: Room</a:t>
            </a:r>
          </a:p>
        </p:txBody>
      </p:sp>
      <p:sp>
        <p:nvSpPr>
          <p:cNvPr id="18" name="ref-description-5">
            <a:extLst xmlns:a="http://schemas.openxmlformats.org/drawingml/2006/main">
              <a:ext uri="{FF2B5EF4-FFF2-40B4-BE49-F238E27FC236}">
                <a16:creationId xmlns:a16="http://schemas.microsoft.com/office/drawing/2014/main" id="{5F043BEA-876F-4789-B84F-4E869AD33372}"/>
              </a:ext>
            </a:extLst>
          </p:cNvPr>
          <p:cNvSpPr>
            <a:spLocks xmlns:a="http://schemas.openxmlformats.org/drawingml/2006/main" noGrp="1"/>
          </p:cNvSpPr>
          <p:nvPr/>
        </p:nvSpPr>
        <p:spPr>
          <a:xfrm xmlns:a="http://schemas.openxmlformats.org/drawingml/2006/main">
            <a:off x="838200" y="8353425"/>
            <a:ext cx="9906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294653"/>
                </a:solidFill>
                <a:latin typeface="Nimbus Sans"/>
                <a:ea typeface="Nimbus Sans"/>
                <a:cs typeface="Nimbus Sans"/>
              </a:defRPr>
            </a:defPPr>
          </a:lstStyle>
          <a:p xmlns:a="http://schemas.openxmlformats.org/drawingml/2006/main">
            <a:pPr algn="l">
              <a:defRPr sz="2100" b="0">
                <a:solidFill>
                  <a:srgbClr val="294653"/>
                </a:solidFill>
                <a:latin typeface="Nimbus Sans"/>
                <a:ea typeface="Nimbus Sans"/>
                <a:cs typeface="Nimbus Sans"/>
              </a:defRPr>
            </a:pPr>
            <a:r>
              <a:rPr sz="2100" b="0">
                <a:solidFill>
                  <a:srgbClr val="294653"/>
                </a:solidFill>
                <a:latin typeface="Nimbus Sans"/>
                <a:ea typeface="Nimbus Sans"/>
                <a:cs typeface="Nimbus Sans"/>
              </a:rPr>
              <a:t>Persistencia local y migraciones de la base.</a:t>
            </a:r>
          </a:p>
        </p:txBody>
      </p:sp>
    </p:spTree>
    <p:extLst>
      <p:ext uri="{BB962C8B-B14F-4D97-AF65-F5344CB8AC3E}">
        <p14:creationId xmlns:p14="http://schemas.microsoft.com/office/powerpoint/2010/main" val="14454478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2026-10-17T01:43:30.4530000Z</dcterms:created>
  <dcterms:modified xsi:type="dcterms:W3CDTF">2026-10-17T01:43:30.4530000Z</dcterms:modified>
</coreProperties>
</file>